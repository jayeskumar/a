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b7033b8-231a-9d79-6efb-71857981b5a4}">
          <p14:sldIdLst>
            <p14:sldId id="256"/>
          </p14:sldIdLst>
        </p14:section>
        <p14:section name="Problem &amp; solution" id="{a8522c85-ed8d-aee5-876a-462c15cac9f6}">
          <p14:sldIdLst>
            <p14:sldId id="257"/>
            <p14:sldId id="258"/>
          </p14:sldIdLst>
        </p14:section>
        <p14:section name="Product" id="{52b894d2-bbd9-09eb-5eba-fd562d48e20a}">
          <p14:sldIdLst>
            <p14:sldId id="259"/>
            <p14:sldId id="260"/>
            <p14:sldId id="261"/>
          </p14:sldIdLst>
        </p14:section>
        <p14:section name="Why us" id="{21b59ca4-c850-a8bc-a944-abd12559a56a}">
          <p14:sldIdLst>
            <p14:sldId id="262"/>
            <p14:sldId id="263"/>
          </p14:sldIdLst>
        </p14:section>
        <p14:section name="Demo" id="{64a03408-b83b-ee52-5192-8e404cd9ce02}">
          <p14:sldIdLst>
            <p14:sldId id="264"/>
          </p14:sldIdLst>
        </p14:section>
        <p14:section name="Roadmap" id="{9680d90f-b0cf-efab-ef53-d026aae68d87}">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Placement analytics that tells every student what to fix next. Introduce the team,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Placement cells track hundreds of students in spreadsheets They learn who got placed only after the drive is over Students don't know which skill gap matters most Departments can't see weak trends early enough to act Key numbers: 10 lakh+ engineering seats a year in India (AICTE intake, approx.); ~50% graduate employability in industry surveys (approx.,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Upload the placement sheet (or load demo) and get instant auto-EDA Explainable model predicts each student's placement chance Optimiser finds the least-effort plan that lifts them above 70% At-risk call list, personas and a fairness audit for the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What to fix next: Exact minimum-effort counterfactual plan per student, ranked by effort. Why this prediction: Coefficient x standardised value bars that add up to the score. What-if simulator: 12 sliders with a live probability gauge and re-planning. At-risk list: Threshold slider, top gap per student, one-click CSV export. Student personas: k-means++ clusters such as Coding stars and Toppers lacking projects. Fairness check: Per-department FPR, FNR and calibration gap on out-of-fold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top to bottom: Browser UI -&gt; vanilla JS, hand-drawn SVG charts, live simulator. app.py -&gt; stdlib ThreadingHTTPServer, JSON API, input validation. data.py -&gt; latent-model cohort generator + CSV row validation. models.py / metrics.py -&gt; LogReg GD+L2, ridge, AUC, ROC, F1, R2. explain.py -&gt; contributions + dynamic-programming planner. cluster.py / engine.py -&gt; k-means++ personas, fairness, dashboards. Stack: Python 3 stdlib only, Vanilla HTML/CSS/JS, Inline SVG charts, No CDN, fully offline, unittest (46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Logistic regression (gradient descent, L2) - placement probability. Ridge linear regression (normal equations) - expected package. Bounded knapsack DP - minimum-effort counterfactual plan. k-means++ - student personas. Rank-based ROC-AUC, Pearson correlation - evaluation and EDA. Stress that nothing is a black box: every decision can be explained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Prescribes the cheapest realistic fix, not just a probability Glass-box: chart, simulator and plan use one exact model Effort costs and caps are editable named assumptions Department excluded from the model, then audited for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0.935 ROC-AUC on 150 held-out students; 86.0% hold-out accuracy (baseline 58.0%); 0.588 package R2, MAE 1.17 LPA; 2.7 s cold start: data + 9 models, pure Python. Impact: Students get a ranked to-do list, not 'improve your profile' ~200 at-risk students found before drives, not after Personas turn into targeted workshops per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1. Overview: KPIs, MECH lagging, who to call first 2. Student coach: Tarun M at 40% and why 3. What to fix next: +10 aptitude, +3 hackathons -&gt; 71% 4. Simulator: drag backlogs, watch the gauge move 5. At-risk list: set threshold, export the call sheet 6. Model &amp; fairness: AUC 0.935, MECH over-predicted 8 pts 7. Upload a file with errors: 8 bad rows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Free open-source edition for single colleges Paid multi-campus edition with history and role logins Opt-in readiness-verified talent pipeline for hiring firms Implementation workshops for placement officers Next: Semester-long progress tracking per student Company-specific models and package bands Effort costs learned from students who improved WhatsApp/email weekly next-fix nudges Tamil/English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impact line, invite questions. Keep the demo tab open in case judges want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QUANTIX 2K26 · PlaceIQ</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main"/>
          <p:cNvSpPr txBox="1"/>
          <p:nvPr/>
        </p:nvSpPr>
        <p:spPr>
          <a:xfrm>
            <a:off x="548640" y="1097280"/>
            <a:ext cx="5669280" cy="365760"/>
          </a:xfrm>
          <a:prstGeom prst="rect">
            <a:avLst/>
          </a:prstGeom>
          <a:noFill/>
          <a:ln/>
        </p:spPr>
        <p:txBody>
          <a:bodyPr wrap="square" lIns="0" tIns="0" rIns="0" bIns="0" rtlCol="0" anchor="ctr"/>
          <a:lstStyle/>
          <a:p>
            <a:pPr indent="0" marL="0">
              <a:buNone/>
            </a:pPr>
            <a:r>
              <a:rPr lang="en-US" sz="1200" b="1" spc="200" kern="0" dirty="0">
                <a:solidFill>
                  <a:schemeClr val="accent6"/>
                </a:solidFill>
              </a:rPr>
              <a:t>DATA SCIENCE &amp; ANALYTICS</a:t>
            </a:r>
            <a:endParaRPr lang="en-US" sz="1200" dirty="0"/>
          </a:p>
        </p:txBody>
      </p:sp>
      <p:sp>
        <p:nvSpPr>
          <p:cNvPr id="3" name="Product name"/>
          <p:cNvSpPr txBox="1"/>
          <p:nvPr/>
        </p:nvSpPr>
        <p:spPr>
          <a:xfrm>
            <a:off x="548640" y="1554480"/>
            <a:ext cx="5852160" cy="1188720"/>
          </a:xfrm>
          <a:prstGeom prst="rect">
            <a:avLst/>
          </a:prstGeom>
          <a:noFill/>
          <a:ln/>
        </p:spPr>
        <p:txBody>
          <a:bodyPr wrap="square" lIns="0" tIns="0" rIns="0" bIns="0" rtlCol="0" anchor="ctr"/>
          <a:lstStyle/>
          <a:p>
            <a:pPr indent="0" marL="0">
              <a:buNone/>
            </a:pPr>
            <a:r>
              <a:rPr lang="en-US" sz="6000" b="1" dirty="0">
                <a:solidFill>
                  <a:schemeClr val="bg1"/>
                </a:solidFill>
                <a:latin typeface="Calibri" pitchFamily="34" charset="0"/>
                <a:ea typeface="Calibri" pitchFamily="34" charset="-122"/>
                <a:cs typeface="Calibri" pitchFamily="34" charset="-120"/>
              </a:rPr>
              <a:t>PlaceIQ</a:t>
            </a:r>
            <a:endParaRPr lang="en-US" sz="6000" dirty="0"/>
          </a:p>
        </p:txBody>
      </p:sp>
      <p:sp>
        <p:nvSpPr>
          <p:cNvPr id="4" name="Tagline"/>
          <p:cNvSpPr txBox="1"/>
          <p:nvPr/>
        </p:nvSpPr>
        <p:spPr>
          <a:xfrm>
            <a:off x="548640" y="2788920"/>
            <a:ext cx="5486400" cy="1005840"/>
          </a:xfrm>
          <a:prstGeom prst="rect">
            <a:avLst/>
          </a:prstGeom>
          <a:noFill/>
          <a:ln/>
        </p:spPr>
        <p:txBody>
          <a:bodyPr wrap="square" lIns="0" tIns="0" rIns="0" bIns="0" rtlCol="0" anchor="t"/>
          <a:lstStyle/>
          <a:p>
            <a:pPr indent="0" marL="0">
              <a:buNone/>
            </a:pPr>
            <a:r>
              <a:rPr lang="en-US" sz="2200" dirty="0">
                <a:solidFill>
                  <a:schemeClr val="bg1"/>
                </a:solidFill>
              </a:rPr>
              <a:t>Placement analytics that tells every student what to fix next</a:t>
            </a:r>
            <a:endParaRPr lang="en-US" sz="2200" dirty="0"/>
          </a:p>
        </p:txBody>
      </p:sp>
      <p:sp>
        <p:nvSpPr>
          <p:cNvPr id="5" name="Team"/>
          <p:cNvSpPr txBox="1"/>
          <p:nvPr/>
        </p:nvSpPr>
        <p:spPr>
          <a:xfrm>
            <a:off x="548640" y="5120640"/>
            <a:ext cx="5669280" cy="731520"/>
          </a:xfrm>
          <a:prstGeom prst="rect">
            <a:avLst/>
          </a:prstGeom>
          <a:noFill/>
          <a:ln/>
        </p:spPr>
        <p:txBody>
          <a:bodyPr wrap="square" lIns="0" tIns="0" rIns="0" bIns="0" rtlCol="0" anchor="b"/>
          <a:lstStyle/>
          <a:p>
            <a:pPr indent="0" marL="0">
              <a:buNone/>
            </a:pPr>
            <a:r>
              <a:rPr lang="en-US" sz="1400" b="1" dirty="0">
                <a:solidFill>
                  <a:schemeClr val="accent6"/>
                </a:solidFill>
              </a:rPr>
              <a:t>Your Team Name</a:t>
            </a:r>
            <a:endParaRPr lang="en-US" sz="1400" dirty="0"/>
          </a:p>
          <a:p>
            <a:pPr indent="0" marL="0">
              <a:buNone/>
            </a:pPr>
            <a:r>
              <a:rPr lang="en-US" sz="1400" dirty="0">
                <a:solidFill>
                  <a:schemeClr val="accent6"/>
                </a:solidFill>
              </a:rPr>
              <a:t>QUANTIX 2K26 · 24-hour hackathon · K.S.R. College of Engineering</a:t>
            </a:r>
            <a:endParaRPr lang="en-US" sz="1400" dirty="0"/>
          </a:p>
        </p:txBody>
      </p:sp>
      <p:sp>
        <p:nvSpPr>
          <p:cNvPr id="6" name="Hero screenshot frame"/>
          <p:cNvSpPr/>
          <p:nvPr/>
        </p:nvSpPr>
        <p:spPr>
          <a:xfrm>
            <a:off x="6620256" y="1682496"/>
            <a:ext cx="5047488" cy="3195828"/>
          </a:xfrm>
          <a:prstGeom prst="roundRect">
            <a:avLst>
              <a:gd name="adj" fmla="val 228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Hero screenshot" descr="PlaceIQ screenshot">    </p:cNvPr>
          <p:cNvPicPr>
            <a:picLocks noChangeAspect="1"/>
          </p:cNvPicPr>
          <p:nvPr/>
        </p:nvPicPr>
        <p:blipFill>
          <a:blip r:embed="rId1"/>
          <a:stretch>
            <a:fillRect/>
          </a:stretch>
        </p:blipFill>
        <p:spPr>
          <a:xfrm>
            <a:off x="6675120" y="1737360"/>
            <a:ext cx="4937760"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problem</a:t>
            </a:r>
            <a:endParaRPr lang="en-US" sz="3600" dirty="0"/>
          </a:p>
        </p:txBody>
      </p:sp>
      <p:sp>
        <p:nvSpPr>
          <p:cNvPr id="3" name="Problem circle"/>
          <p:cNvSpPr/>
          <p:nvPr/>
        </p:nvSpPr>
        <p:spPr>
          <a:xfrm>
            <a:off x="548640" y="3246120"/>
            <a:ext cx="548640" cy="548640"/>
          </a:xfrm>
          <a:prstGeom prst="ellipse">
            <a:avLst/>
          </a:prstGeom>
          <a:solidFill>
            <a:schemeClr val="accent1"/>
          </a:solidFill>
          <a:ln/>
        </p:spPr>
      </p:sp>
      <p:pic>
        <p:nvPicPr>
          <p:cNvPr id="4" name="Problem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Problem bullets"/>
          <p:cNvSpPr txBox="1"/>
          <p:nvPr/>
        </p:nvSpPr>
        <p:spPr>
          <a:xfrm>
            <a:off x="1325880" y="1325880"/>
            <a:ext cx="585216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Placement cells track hundreds of students in spreadsheets</a:t>
            </a:r>
            <a:endParaRPr lang="en-US" sz="2000" dirty="0"/>
          </a:p>
          <a:p>
            <a:pPr marL="228600" indent="-228600">
              <a:spcAft>
                <a:spcPts val="1000"/>
              </a:spcAft>
              <a:buSzPct val="100000"/>
              <a:buChar char="•"/>
            </a:pPr>
            <a:r>
              <a:rPr lang="en-US" sz="2000" dirty="0">
                <a:solidFill>
                  <a:schemeClr val="tx1"/>
                </a:solidFill>
              </a:rPr>
              <a:t>They learn who got placed only after the drive is over</a:t>
            </a:r>
            <a:endParaRPr lang="en-US" sz="2000" dirty="0"/>
          </a:p>
          <a:p>
            <a:pPr marL="228600" indent="-228600">
              <a:spcAft>
                <a:spcPts val="1000"/>
              </a:spcAft>
              <a:buSzPct val="100000"/>
              <a:buChar char="•"/>
            </a:pPr>
            <a:r>
              <a:rPr lang="en-US" sz="2000" dirty="0">
                <a:solidFill>
                  <a:schemeClr val="tx1"/>
                </a:solidFill>
              </a:rPr>
              <a:t>Students don't know which skill gap matters most</a:t>
            </a:r>
            <a:endParaRPr lang="en-US" sz="2000" dirty="0"/>
          </a:p>
          <a:p>
            <a:pPr marL="228600" indent="-228600">
              <a:spcAft>
                <a:spcPts val="1000"/>
              </a:spcAft>
              <a:buSzPct val="100000"/>
              <a:buChar char="•"/>
            </a:pPr>
            <a:r>
              <a:rPr lang="en-US" sz="2000" dirty="0">
                <a:solidFill>
                  <a:schemeClr val="tx1"/>
                </a:solidFill>
              </a:rPr>
              <a:t>Departments can't see weak trends early enough to act</a:t>
            </a:r>
            <a:endParaRPr lang="en-US" sz="2000" dirty="0"/>
          </a:p>
        </p:txBody>
      </p:sp>
      <p:sp>
        <p:nvSpPr>
          <p:cNvPr id="6" name="Stat 1 card"/>
          <p:cNvSpPr/>
          <p:nvPr/>
        </p:nvSpPr>
        <p:spPr>
          <a:xfrm>
            <a:off x="7589520" y="1965960"/>
            <a:ext cx="4023360" cy="1417320"/>
          </a:xfrm>
          <a:prstGeom prst="roundRect">
            <a:avLst>
              <a:gd name="adj" fmla="val 7742"/>
            </a:avLst>
          </a:prstGeom>
          <a:solidFill>
            <a:schemeClr val="accent2"/>
          </a:solidFill>
          <a:ln/>
        </p:spPr>
      </p:sp>
      <p:sp>
        <p:nvSpPr>
          <p:cNvPr id="7" name="Stat 1 value"/>
          <p:cNvSpPr txBox="1"/>
          <p:nvPr/>
        </p:nvSpPr>
        <p:spPr>
          <a:xfrm>
            <a:off x="7818120" y="207568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10 lakh+</a:t>
            </a:r>
            <a:endParaRPr lang="en-US" sz="4000" dirty="0"/>
          </a:p>
        </p:txBody>
      </p:sp>
      <p:sp>
        <p:nvSpPr>
          <p:cNvPr id="8" name="Stat 1 label"/>
          <p:cNvSpPr txBox="1"/>
          <p:nvPr/>
        </p:nvSpPr>
        <p:spPr>
          <a:xfrm>
            <a:off x="7818120" y="2807208"/>
            <a:ext cx="3566160" cy="502920"/>
          </a:xfrm>
          <a:prstGeom prst="rect">
            <a:avLst/>
          </a:prstGeom>
          <a:noFill/>
          <a:ln/>
        </p:spPr>
        <p:txBody>
          <a:bodyPr wrap="square" lIns="0" tIns="0" rIns="0" bIns="0" rtlCol="0" anchor="t"/>
          <a:lstStyle/>
          <a:p>
            <a:pPr indent="0" marL="0">
              <a:buNone/>
            </a:pPr>
            <a:r>
              <a:rPr lang="en-US" sz="1300" dirty="0">
                <a:solidFill>
                  <a:schemeClr val="tx1"/>
                </a:solidFill>
              </a:rPr>
              <a:t>engineering seats a year in India (AICTE intake, approx.)</a:t>
            </a:r>
            <a:endParaRPr lang="en-US" sz="1300" dirty="0"/>
          </a:p>
        </p:txBody>
      </p:sp>
      <p:sp>
        <p:nvSpPr>
          <p:cNvPr id="9" name="Stat 2 card"/>
          <p:cNvSpPr/>
          <p:nvPr/>
        </p:nvSpPr>
        <p:spPr>
          <a:xfrm>
            <a:off x="7589520" y="3657600"/>
            <a:ext cx="4023360" cy="1417320"/>
          </a:xfrm>
          <a:prstGeom prst="roundRect">
            <a:avLst>
              <a:gd name="adj" fmla="val 7742"/>
            </a:avLst>
          </a:prstGeom>
          <a:solidFill>
            <a:schemeClr val="accent2"/>
          </a:solidFill>
          <a:ln/>
        </p:spPr>
      </p:sp>
      <p:sp>
        <p:nvSpPr>
          <p:cNvPr id="10" name="Stat 2 value"/>
          <p:cNvSpPr txBox="1"/>
          <p:nvPr/>
        </p:nvSpPr>
        <p:spPr>
          <a:xfrm>
            <a:off x="7818120" y="376732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~50%</a:t>
            </a:r>
            <a:endParaRPr lang="en-US" sz="4000" dirty="0"/>
          </a:p>
        </p:txBody>
      </p:sp>
      <p:sp>
        <p:nvSpPr>
          <p:cNvPr id="11" name="Stat 2 label"/>
          <p:cNvSpPr txBox="1"/>
          <p:nvPr/>
        </p:nvSpPr>
        <p:spPr>
          <a:xfrm>
            <a:off x="7818120" y="4498848"/>
            <a:ext cx="3566160" cy="502920"/>
          </a:xfrm>
          <a:prstGeom prst="rect">
            <a:avLst/>
          </a:prstGeom>
          <a:noFill/>
          <a:ln/>
        </p:spPr>
        <p:txBody>
          <a:bodyPr wrap="square" lIns="0" tIns="0" rIns="0" bIns="0" rtlCol="0" anchor="t"/>
          <a:lstStyle/>
          <a:p>
            <a:pPr indent="0" marL="0">
              <a:buNone/>
            </a:pPr>
            <a:r>
              <a:rPr lang="en-US" sz="1300" dirty="0">
                <a:solidFill>
                  <a:schemeClr val="tx1"/>
                </a:solidFill>
              </a:rPr>
              <a:t>graduate employability in industry surveys (approx., varies)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Our solution: PlaceIQ</a:t>
            </a:r>
            <a:endParaRPr lang="en-US" sz="3600" dirty="0"/>
          </a:p>
        </p:txBody>
      </p:sp>
      <p:sp>
        <p:nvSpPr>
          <p:cNvPr id="3" name="Solution circle"/>
          <p:cNvSpPr/>
          <p:nvPr/>
        </p:nvSpPr>
        <p:spPr>
          <a:xfrm>
            <a:off x="548640" y="3246120"/>
            <a:ext cx="548640" cy="548640"/>
          </a:xfrm>
          <a:prstGeom prst="ellipse">
            <a:avLst/>
          </a:prstGeom>
          <a:solidFill>
            <a:schemeClr val="accent1"/>
          </a:solidFill>
          <a:ln/>
        </p:spPr>
      </p:sp>
      <p:pic>
        <p:nvPicPr>
          <p:cNvPr id="4" name="Solution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Solution bullets"/>
          <p:cNvSpPr txBox="1"/>
          <p:nvPr/>
        </p:nvSpPr>
        <p:spPr>
          <a:xfrm>
            <a:off x="1325880" y="1325880"/>
            <a:ext cx="475488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Upload the placement sheet (or load demo) and get instant auto-EDA</a:t>
            </a:r>
            <a:endParaRPr lang="en-US" sz="2000" dirty="0"/>
          </a:p>
          <a:p>
            <a:pPr marL="228600" indent="-228600">
              <a:spcAft>
                <a:spcPts val="1000"/>
              </a:spcAft>
              <a:buSzPct val="100000"/>
              <a:buChar char="•"/>
            </a:pPr>
            <a:r>
              <a:rPr lang="en-US" sz="2000" dirty="0">
                <a:solidFill>
                  <a:schemeClr val="tx1"/>
                </a:solidFill>
              </a:rPr>
              <a:t>Explainable model predicts each student's placement chance</a:t>
            </a:r>
            <a:endParaRPr lang="en-US" sz="2000" dirty="0"/>
          </a:p>
          <a:p>
            <a:pPr marL="228600" indent="-228600">
              <a:spcAft>
                <a:spcPts val="1000"/>
              </a:spcAft>
              <a:buSzPct val="100000"/>
              <a:buChar char="•"/>
            </a:pPr>
            <a:r>
              <a:rPr lang="en-US" sz="2000" dirty="0">
                <a:solidFill>
                  <a:schemeClr val="tx1"/>
                </a:solidFill>
              </a:rPr>
              <a:t>Optimiser finds the least-effort plan that lifts them above 70%</a:t>
            </a:r>
            <a:endParaRPr lang="en-US" sz="2000" dirty="0"/>
          </a:p>
          <a:p>
            <a:pPr marL="228600" indent="-228600">
              <a:spcAft>
                <a:spcPts val="1000"/>
              </a:spcAft>
              <a:buSzPct val="100000"/>
              <a:buChar char="•"/>
            </a:pPr>
            <a:r>
              <a:rPr lang="en-US" sz="2000" dirty="0">
                <a:solidFill>
                  <a:schemeClr val="tx1"/>
                </a:solidFill>
              </a:rPr>
              <a:t>At-risk call list, personas and a fairness audit for the cell</a:t>
            </a:r>
            <a:endParaRPr lang="en-US" sz="2000" dirty="0"/>
          </a:p>
        </p:txBody>
      </p:sp>
      <p:sp>
        <p:nvSpPr>
          <p:cNvPr id="6" name="Solution screenshot frame"/>
          <p:cNvSpPr/>
          <p:nvPr/>
        </p:nvSpPr>
        <p:spPr>
          <a:xfrm>
            <a:off x="6391656" y="1545336"/>
            <a:ext cx="5276088" cy="3338703"/>
          </a:xfrm>
          <a:prstGeom prst="roundRect">
            <a:avLst>
              <a:gd name="adj" fmla="val 2191"/>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Solution screenshot" descr="PlaceIQ screenshot">    </p:cNvPr>
          <p:cNvPicPr>
            <a:picLocks noChangeAspect="1"/>
          </p:cNvPicPr>
          <p:nvPr/>
        </p:nvPicPr>
        <p:blipFill>
          <a:blip r:embed="rId2"/>
          <a:stretch>
            <a:fillRect/>
          </a:stretch>
        </p:blipFill>
        <p:spPr>
          <a:xfrm>
            <a:off x="6446520" y="1600200"/>
            <a:ext cx="5166360" cy="322897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Key features</a:t>
            </a:r>
            <a:endParaRPr lang="en-US" sz="3600" dirty="0"/>
          </a:p>
        </p:txBody>
      </p:sp>
      <p:sp>
        <p:nvSpPr>
          <p:cNvPr id="3" name="Feature 1 card"/>
          <p:cNvSpPr/>
          <p:nvPr/>
        </p:nvSpPr>
        <p:spPr>
          <a:xfrm>
            <a:off x="548640" y="1371600"/>
            <a:ext cx="3515258" cy="2194560"/>
          </a:xfrm>
          <a:prstGeom prst="roundRect">
            <a:avLst>
              <a:gd name="adj" fmla="val 5000"/>
            </a:avLst>
          </a:prstGeom>
          <a:solidFill>
            <a:schemeClr val="bg2"/>
          </a:solidFill>
          <a:ln/>
        </p:spPr>
      </p:sp>
      <p:sp>
        <p:nvSpPr>
          <p:cNvPr id="4" name="Feature 1 circle"/>
          <p:cNvSpPr/>
          <p:nvPr/>
        </p:nvSpPr>
        <p:spPr>
          <a:xfrm>
            <a:off x="822960" y="1645920"/>
            <a:ext cx="548640" cy="548640"/>
          </a:xfrm>
          <a:prstGeom prst="ellipse">
            <a:avLst/>
          </a:prstGeom>
          <a:solidFill>
            <a:schemeClr val="accent1"/>
          </a:solidFill>
          <a:ln/>
        </p:spPr>
      </p:sp>
      <p:pic>
        <p:nvPicPr>
          <p:cNvPr id="5" name="Feature 1 icon"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6" name="Feature 1 title"/>
          <p:cNvSpPr txBox="1"/>
          <p:nvPr/>
        </p:nvSpPr>
        <p:spPr>
          <a:xfrm>
            <a:off x="1554480"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What to fix next</a:t>
            </a:r>
            <a:endParaRPr lang="en-US" sz="1800" dirty="0"/>
          </a:p>
        </p:txBody>
      </p:sp>
      <p:sp>
        <p:nvSpPr>
          <p:cNvPr id="7" name="Feature 1 text"/>
          <p:cNvSpPr txBox="1"/>
          <p:nvPr/>
        </p:nvSpPr>
        <p:spPr>
          <a:xfrm>
            <a:off x="822960"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Exact minimum-effort counterfactual plan per student, ranked by effort</a:t>
            </a:r>
            <a:endParaRPr lang="en-US" sz="1400" dirty="0"/>
          </a:p>
        </p:txBody>
      </p:sp>
      <p:sp>
        <p:nvSpPr>
          <p:cNvPr id="8" name="Feature 2 card"/>
          <p:cNvSpPr/>
          <p:nvPr/>
        </p:nvSpPr>
        <p:spPr>
          <a:xfrm>
            <a:off x="4338218" y="1371600"/>
            <a:ext cx="3515258" cy="2194560"/>
          </a:xfrm>
          <a:prstGeom prst="roundRect">
            <a:avLst>
              <a:gd name="adj" fmla="val 5000"/>
            </a:avLst>
          </a:prstGeom>
          <a:solidFill>
            <a:schemeClr val="bg2"/>
          </a:solidFill>
          <a:ln/>
        </p:spPr>
      </p:sp>
      <p:sp>
        <p:nvSpPr>
          <p:cNvPr id="9" name="Feature 2 circle"/>
          <p:cNvSpPr/>
          <p:nvPr/>
        </p:nvSpPr>
        <p:spPr>
          <a:xfrm>
            <a:off x="4612538" y="1645920"/>
            <a:ext cx="548640" cy="548640"/>
          </a:xfrm>
          <a:prstGeom prst="ellipse">
            <a:avLst/>
          </a:prstGeom>
          <a:solidFill>
            <a:schemeClr val="accent1"/>
          </a:solidFill>
          <a:ln/>
        </p:spPr>
      </p:sp>
      <p:pic>
        <p:nvPicPr>
          <p:cNvPr id="10" name="Feature 2 icon" descr="preencoded.png">    </p:cNvPr>
          <p:cNvPicPr>
            <a:picLocks noChangeAspect="1"/>
          </p:cNvPicPr>
          <p:nvPr/>
        </p:nvPicPr>
        <p:blipFill>
          <a:blip r:embed="rId2"/>
          <a:stretch>
            <a:fillRect/>
          </a:stretch>
        </p:blipFill>
        <p:spPr>
          <a:xfrm>
            <a:off x="4749698" y="1783080"/>
            <a:ext cx="274320" cy="274320"/>
          </a:xfrm>
          <a:prstGeom prst="rect">
            <a:avLst/>
          </a:prstGeom>
        </p:spPr>
      </p:pic>
      <p:sp>
        <p:nvSpPr>
          <p:cNvPr id="11" name="Feature 2 title"/>
          <p:cNvSpPr txBox="1"/>
          <p:nvPr/>
        </p:nvSpPr>
        <p:spPr>
          <a:xfrm>
            <a:off x="5344058"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Why this prediction</a:t>
            </a:r>
            <a:endParaRPr lang="en-US" sz="1800" dirty="0"/>
          </a:p>
        </p:txBody>
      </p:sp>
      <p:sp>
        <p:nvSpPr>
          <p:cNvPr id="12" name="Feature 2 text"/>
          <p:cNvSpPr txBox="1"/>
          <p:nvPr/>
        </p:nvSpPr>
        <p:spPr>
          <a:xfrm>
            <a:off x="4612538"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Coefficient x standardised value bars that add up to the score</a:t>
            </a:r>
            <a:endParaRPr lang="en-US" sz="1400" dirty="0"/>
          </a:p>
        </p:txBody>
      </p:sp>
      <p:sp>
        <p:nvSpPr>
          <p:cNvPr id="13" name="Feature 3 card"/>
          <p:cNvSpPr/>
          <p:nvPr/>
        </p:nvSpPr>
        <p:spPr>
          <a:xfrm>
            <a:off x="8127797" y="1371600"/>
            <a:ext cx="3515258" cy="2194560"/>
          </a:xfrm>
          <a:prstGeom prst="roundRect">
            <a:avLst>
              <a:gd name="adj" fmla="val 5000"/>
            </a:avLst>
          </a:prstGeom>
          <a:solidFill>
            <a:schemeClr val="bg2"/>
          </a:solidFill>
          <a:ln/>
        </p:spPr>
      </p:sp>
      <p:sp>
        <p:nvSpPr>
          <p:cNvPr id="14" name="Feature 3 circle"/>
          <p:cNvSpPr/>
          <p:nvPr/>
        </p:nvSpPr>
        <p:spPr>
          <a:xfrm>
            <a:off x="8402117" y="1645920"/>
            <a:ext cx="548640" cy="548640"/>
          </a:xfrm>
          <a:prstGeom prst="ellipse">
            <a:avLst/>
          </a:prstGeom>
          <a:solidFill>
            <a:schemeClr val="accent1"/>
          </a:solidFill>
          <a:ln/>
        </p:spPr>
      </p:sp>
      <p:pic>
        <p:nvPicPr>
          <p:cNvPr id="15" name="Feature 3 icon" descr="preencoded.png">    </p:cNvPr>
          <p:cNvPicPr>
            <a:picLocks noChangeAspect="1"/>
          </p:cNvPicPr>
          <p:nvPr/>
        </p:nvPicPr>
        <p:blipFill>
          <a:blip r:embed="rId3"/>
          <a:stretch>
            <a:fillRect/>
          </a:stretch>
        </p:blipFill>
        <p:spPr>
          <a:xfrm>
            <a:off x="8539277" y="1783080"/>
            <a:ext cx="274320" cy="274320"/>
          </a:xfrm>
          <a:prstGeom prst="rect">
            <a:avLst/>
          </a:prstGeom>
        </p:spPr>
      </p:pic>
      <p:sp>
        <p:nvSpPr>
          <p:cNvPr id="16" name="Feature 3 title"/>
          <p:cNvSpPr txBox="1"/>
          <p:nvPr/>
        </p:nvSpPr>
        <p:spPr>
          <a:xfrm>
            <a:off x="9133637"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What-if simulator</a:t>
            </a:r>
            <a:endParaRPr lang="en-US" sz="1800" dirty="0"/>
          </a:p>
        </p:txBody>
      </p:sp>
      <p:sp>
        <p:nvSpPr>
          <p:cNvPr id="17" name="Feature 3 text"/>
          <p:cNvSpPr txBox="1"/>
          <p:nvPr/>
        </p:nvSpPr>
        <p:spPr>
          <a:xfrm>
            <a:off x="8402117"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12 sliders with a live probability gauge and re-planning</a:t>
            </a:r>
            <a:endParaRPr lang="en-US" sz="1400" dirty="0"/>
          </a:p>
        </p:txBody>
      </p:sp>
      <p:sp>
        <p:nvSpPr>
          <p:cNvPr id="18" name="Feature 4 card"/>
          <p:cNvSpPr/>
          <p:nvPr/>
        </p:nvSpPr>
        <p:spPr>
          <a:xfrm>
            <a:off x="548640" y="3840480"/>
            <a:ext cx="3515258" cy="2194560"/>
          </a:xfrm>
          <a:prstGeom prst="roundRect">
            <a:avLst>
              <a:gd name="adj" fmla="val 5000"/>
            </a:avLst>
          </a:prstGeom>
          <a:solidFill>
            <a:schemeClr val="bg2"/>
          </a:solidFill>
          <a:ln/>
        </p:spPr>
      </p:sp>
      <p:sp>
        <p:nvSpPr>
          <p:cNvPr id="19" name="Feature 4 circle"/>
          <p:cNvSpPr/>
          <p:nvPr/>
        </p:nvSpPr>
        <p:spPr>
          <a:xfrm>
            <a:off x="822960" y="4114800"/>
            <a:ext cx="548640" cy="548640"/>
          </a:xfrm>
          <a:prstGeom prst="ellipse">
            <a:avLst/>
          </a:prstGeom>
          <a:solidFill>
            <a:schemeClr val="accent1"/>
          </a:solidFill>
          <a:ln/>
        </p:spPr>
      </p:sp>
      <p:pic>
        <p:nvPicPr>
          <p:cNvPr id="20" name="Feature 4 icon" descr="preencoded.png">    </p:cNvPr>
          <p:cNvPicPr>
            <a:picLocks noChangeAspect="1"/>
          </p:cNvPicPr>
          <p:nvPr/>
        </p:nvPicPr>
        <p:blipFill>
          <a:blip r:embed="rId4"/>
          <a:stretch>
            <a:fillRect/>
          </a:stretch>
        </p:blipFill>
        <p:spPr>
          <a:xfrm>
            <a:off x="960120" y="4251960"/>
            <a:ext cx="274320" cy="274320"/>
          </a:xfrm>
          <a:prstGeom prst="rect">
            <a:avLst/>
          </a:prstGeom>
        </p:spPr>
      </p:pic>
      <p:sp>
        <p:nvSpPr>
          <p:cNvPr id="21" name="Feature 4 title"/>
          <p:cNvSpPr txBox="1"/>
          <p:nvPr/>
        </p:nvSpPr>
        <p:spPr>
          <a:xfrm>
            <a:off x="1554480"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At-risk list</a:t>
            </a:r>
            <a:endParaRPr lang="en-US" sz="1800" dirty="0"/>
          </a:p>
        </p:txBody>
      </p:sp>
      <p:sp>
        <p:nvSpPr>
          <p:cNvPr id="22" name="Feature 4 text"/>
          <p:cNvSpPr txBox="1"/>
          <p:nvPr/>
        </p:nvSpPr>
        <p:spPr>
          <a:xfrm>
            <a:off x="822960"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Threshold slider, top gap per student, one-click CSV export</a:t>
            </a:r>
            <a:endParaRPr lang="en-US" sz="1400" dirty="0"/>
          </a:p>
        </p:txBody>
      </p:sp>
      <p:sp>
        <p:nvSpPr>
          <p:cNvPr id="23" name="Feature 5 card"/>
          <p:cNvSpPr/>
          <p:nvPr/>
        </p:nvSpPr>
        <p:spPr>
          <a:xfrm>
            <a:off x="4338218" y="3840480"/>
            <a:ext cx="3515258" cy="2194560"/>
          </a:xfrm>
          <a:prstGeom prst="roundRect">
            <a:avLst>
              <a:gd name="adj" fmla="val 5000"/>
            </a:avLst>
          </a:prstGeom>
          <a:solidFill>
            <a:schemeClr val="bg2"/>
          </a:solidFill>
          <a:ln/>
        </p:spPr>
      </p:sp>
      <p:sp>
        <p:nvSpPr>
          <p:cNvPr id="24" name="Feature 5 circle"/>
          <p:cNvSpPr/>
          <p:nvPr/>
        </p:nvSpPr>
        <p:spPr>
          <a:xfrm>
            <a:off x="4612538" y="4114800"/>
            <a:ext cx="548640" cy="548640"/>
          </a:xfrm>
          <a:prstGeom prst="ellipse">
            <a:avLst/>
          </a:prstGeom>
          <a:solidFill>
            <a:schemeClr val="accent1"/>
          </a:solidFill>
          <a:ln/>
        </p:spPr>
      </p:sp>
      <p:pic>
        <p:nvPicPr>
          <p:cNvPr id="25" name="Feature 5 icon" descr="preencoded.png">    </p:cNvPr>
          <p:cNvPicPr>
            <a:picLocks noChangeAspect="1"/>
          </p:cNvPicPr>
          <p:nvPr/>
        </p:nvPicPr>
        <p:blipFill>
          <a:blip r:embed="rId5"/>
          <a:stretch>
            <a:fillRect/>
          </a:stretch>
        </p:blipFill>
        <p:spPr>
          <a:xfrm>
            <a:off x="4749698" y="4251960"/>
            <a:ext cx="274320" cy="274320"/>
          </a:xfrm>
          <a:prstGeom prst="rect">
            <a:avLst/>
          </a:prstGeom>
        </p:spPr>
      </p:pic>
      <p:sp>
        <p:nvSpPr>
          <p:cNvPr id="26" name="Feature 5 title"/>
          <p:cNvSpPr txBox="1"/>
          <p:nvPr/>
        </p:nvSpPr>
        <p:spPr>
          <a:xfrm>
            <a:off x="5344058"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Student personas</a:t>
            </a:r>
            <a:endParaRPr lang="en-US" sz="1800" dirty="0"/>
          </a:p>
        </p:txBody>
      </p:sp>
      <p:sp>
        <p:nvSpPr>
          <p:cNvPr id="27" name="Feature 5 text"/>
          <p:cNvSpPr txBox="1"/>
          <p:nvPr/>
        </p:nvSpPr>
        <p:spPr>
          <a:xfrm>
            <a:off x="4612538"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k-means++ clusters such as Coding stars and Toppers lacking projects</a:t>
            </a:r>
            <a:endParaRPr lang="en-US" sz="1400" dirty="0"/>
          </a:p>
        </p:txBody>
      </p:sp>
      <p:sp>
        <p:nvSpPr>
          <p:cNvPr id="28" name="Feature 6 card"/>
          <p:cNvSpPr/>
          <p:nvPr/>
        </p:nvSpPr>
        <p:spPr>
          <a:xfrm>
            <a:off x="8127797" y="3840480"/>
            <a:ext cx="3515258" cy="2194560"/>
          </a:xfrm>
          <a:prstGeom prst="roundRect">
            <a:avLst>
              <a:gd name="adj" fmla="val 5000"/>
            </a:avLst>
          </a:prstGeom>
          <a:solidFill>
            <a:schemeClr val="bg2"/>
          </a:solidFill>
          <a:ln/>
        </p:spPr>
      </p:sp>
      <p:sp>
        <p:nvSpPr>
          <p:cNvPr id="29" name="Feature 6 circle"/>
          <p:cNvSpPr/>
          <p:nvPr/>
        </p:nvSpPr>
        <p:spPr>
          <a:xfrm>
            <a:off x="8402117" y="4114800"/>
            <a:ext cx="548640" cy="548640"/>
          </a:xfrm>
          <a:prstGeom prst="ellipse">
            <a:avLst/>
          </a:prstGeom>
          <a:solidFill>
            <a:schemeClr val="accent1"/>
          </a:solidFill>
          <a:ln/>
        </p:spPr>
      </p:sp>
      <p:pic>
        <p:nvPicPr>
          <p:cNvPr id="30" name="Feature 6 icon" descr="preencoded.png">    </p:cNvPr>
          <p:cNvPicPr>
            <a:picLocks noChangeAspect="1"/>
          </p:cNvPicPr>
          <p:nvPr/>
        </p:nvPicPr>
        <p:blipFill>
          <a:blip r:embed="rId6"/>
          <a:stretch>
            <a:fillRect/>
          </a:stretch>
        </p:blipFill>
        <p:spPr>
          <a:xfrm>
            <a:off x="8539277" y="4251960"/>
            <a:ext cx="274320" cy="274320"/>
          </a:xfrm>
          <a:prstGeom prst="rect">
            <a:avLst/>
          </a:prstGeom>
        </p:spPr>
      </p:pic>
      <p:sp>
        <p:nvSpPr>
          <p:cNvPr id="31" name="Feature 6 title"/>
          <p:cNvSpPr txBox="1"/>
          <p:nvPr/>
        </p:nvSpPr>
        <p:spPr>
          <a:xfrm>
            <a:off x="9133637"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Fairness check</a:t>
            </a:r>
            <a:endParaRPr lang="en-US" sz="1800" dirty="0"/>
          </a:p>
        </p:txBody>
      </p:sp>
      <p:sp>
        <p:nvSpPr>
          <p:cNvPr id="32" name="Feature 6 text"/>
          <p:cNvSpPr txBox="1"/>
          <p:nvPr/>
        </p:nvSpPr>
        <p:spPr>
          <a:xfrm>
            <a:off x="8402117"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Per-department FPR, FNR and calibration gap on out-of-fold predictions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Layer 1"/>
          <p:cNvSpPr/>
          <p:nvPr/>
        </p:nvSpPr>
        <p:spPr>
          <a:xfrm>
            <a:off x="548640" y="1325880"/>
            <a:ext cx="7498080" cy="632460"/>
          </a:xfrm>
          <a:prstGeom prst="roundRect">
            <a:avLst>
              <a:gd name="adj" fmla="val 14458"/>
            </a:avLst>
          </a:prstGeom>
          <a:solidFill>
            <a:schemeClr val="accent2"/>
          </a:solidFill>
          <a:ln/>
        </p:spPr>
      </p:sp>
      <p:sp>
        <p:nvSpPr>
          <p:cNvPr id="4" name="Layer 1 text"/>
          <p:cNvSpPr txBox="1"/>
          <p:nvPr/>
        </p:nvSpPr>
        <p:spPr>
          <a:xfrm>
            <a:off x="822960" y="132588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Browser UI</a:t>
            </a:r>
            <a:pPr indent="0" marL="0">
              <a:buNone/>
            </a:pPr>
            <a:r>
              <a:rPr lang="en-US" sz="1500" dirty="0">
                <a:solidFill>
                  <a:schemeClr val="tx1"/>
                </a:solidFill>
              </a:rPr>
              <a:t>   vanilla JS, hand-drawn SVG charts, live simulator</a:t>
            </a:r>
            <a:endParaRPr lang="en-US" sz="1500" dirty="0"/>
          </a:p>
        </p:txBody>
      </p:sp>
      <p:sp>
        <p:nvSpPr>
          <p:cNvPr id="5" name="Arrow 1"/>
          <p:cNvSpPr/>
          <p:nvPr/>
        </p:nvSpPr>
        <p:spPr>
          <a:xfrm>
            <a:off x="4206240" y="1976628"/>
            <a:ext cx="201168" cy="164592"/>
          </a:xfrm>
          <a:prstGeom prst="downArrow">
            <a:avLst/>
          </a:prstGeom>
          <a:solidFill>
            <a:schemeClr val="accent4"/>
          </a:solidFill>
          <a:ln/>
        </p:spPr>
      </p:sp>
      <p:sp>
        <p:nvSpPr>
          <p:cNvPr id="6" name="Layer 2"/>
          <p:cNvSpPr/>
          <p:nvPr/>
        </p:nvSpPr>
        <p:spPr>
          <a:xfrm>
            <a:off x="548640" y="2159508"/>
            <a:ext cx="7498080" cy="632460"/>
          </a:xfrm>
          <a:prstGeom prst="roundRect">
            <a:avLst>
              <a:gd name="adj" fmla="val 14458"/>
            </a:avLst>
          </a:prstGeom>
          <a:solidFill>
            <a:schemeClr val="bg2"/>
          </a:solidFill>
          <a:ln/>
        </p:spPr>
      </p:sp>
      <p:sp>
        <p:nvSpPr>
          <p:cNvPr id="7" name="Layer 2 text"/>
          <p:cNvSpPr txBox="1"/>
          <p:nvPr/>
        </p:nvSpPr>
        <p:spPr>
          <a:xfrm>
            <a:off x="822960" y="2159508"/>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app.py</a:t>
            </a:r>
            <a:pPr indent="0" marL="0">
              <a:buNone/>
            </a:pPr>
            <a:r>
              <a:rPr lang="en-US" sz="1500" dirty="0">
                <a:solidFill>
                  <a:schemeClr val="tx1"/>
                </a:solidFill>
              </a:rPr>
              <a:t>   stdlib ThreadingHTTPServer, JSON API, input validation</a:t>
            </a:r>
            <a:endParaRPr lang="en-US" sz="1500" dirty="0"/>
          </a:p>
        </p:txBody>
      </p:sp>
      <p:sp>
        <p:nvSpPr>
          <p:cNvPr id="8" name="Arrow 2"/>
          <p:cNvSpPr/>
          <p:nvPr/>
        </p:nvSpPr>
        <p:spPr>
          <a:xfrm>
            <a:off x="4206240" y="2810256"/>
            <a:ext cx="201168" cy="164592"/>
          </a:xfrm>
          <a:prstGeom prst="downArrow">
            <a:avLst/>
          </a:prstGeom>
          <a:solidFill>
            <a:schemeClr val="accent4"/>
          </a:solidFill>
          <a:ln/>
        </p:spPr>
      </p:sp>
      <p:sp>
        <p:nvSpPr>
          <p:cNvPr id="9" name="Layer 3"/>
          <p:cNvSpPr/>
          <p:nvPr/>
        </p:nvSpPr>
        <p:spPr>
          <a:xfrm>
            <a:off x="548640" y="2993136"/>
            <a:ext cx="7498080" cy="632460"/>
          </a:xfrm>
          <a:prstGeom prst="roundRect">
            <a:avLst>
              <a:gd name="adj" fmla="val 14458"/>
            </a:avLst>
          </a:prstGeom>
          <a:solidFill>
            <a:schemeClr val="accent2"/>
          </a:solidFill>
          <a:ln/>
        </p:spPr>
      </p:sp>
      <p:sp>
        <p:nvSpPr>
          <p:cNvPr id="10" name="Layer 3 text"/>
          <p:cNvSpPr txBox="1"/>
          <p:nvPr/>
        </p:nvSpPr>
        <p:spPr>
          <a:xfrm>
            <a:off x="822960" y="2993136"/>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data.py</a:t>
            </a:r>
            <a:pPr indent="0" marL="0">
              <a:buNone/>
            </a:pPr>
            <a:r>
              <a:rPr lang="en-US" sz="1500" dirty="0">
                <a:solidFill>
                  <a:schemeClr val="tx1"/>
                </a:solidFill>
              </a:rPr>
              <a:t>   latent-model cohort generator + CSV row validation</a:t>
            </a:r>
            <a:endParaRPr lang="en-US" sz="1500" dirty="0"/>
          </a:p>
        </p:txBody>
      </p:sp>
      <p:sp>
        <p:nvSpPr>
          <p:cNvPr id="11" name="Arrow 3"/>
          <p:cNvSpPr/>
          <p:nvPr/>
        </p:nvSpPr>
        <p:spPr>
          <a:xfrm>
            <a:off x="4206240" y="3643884"/>
            <a:ext cx="201168" cy="164592"/>
          </a:xfrm>
          <a:prstGeom prst="downArrow">
            <a:avLst/>
          </a:prstGeom>
          <a:solidFill>
            <a:schemeClr val="accent4"/>
          </a:solidFill>
          <a:ln/>
        </p:spPr>
      </p:sp>
      <p:sp>
        <p:nvSpPr>
          <p:cNvPr id="12" name="Layer 4"/>
          <p:cNvSpPr/>
          <p:nvPr/>
        </p:nvSpPr>
        <p:spPr>
          <a:xfrm>
            <a:off x="548640" y="3826764"/>
            <a:ext cx="7498080" cy="632460"/>
          </a:xfrm>
          <a:prstGeom prst="roundRect">
            <a:avLst>
              <a:gd name="adj" fmla="val 14458"/>
            </a:avLst>
          </a:prstGeom>
          <a:solidFill>
            <a:schemeClr val="bg2"/>
          </a:solidFill>
          <a:ln/>
        </p:spPr>
      </p:sp>
      <p:sp>
        <p:nvSpPr>
          <p:cNvPr id="13" name="Layer 4 text"/>
          <p:cNvSpPr txBox="1"/>
          <p:nvPr/>
        </p:nvSpPr>
        <p:spPr>
          <a:xfrm>
            <a:off x="822960" y="3826764"/>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models.py / metrics.py</a:t>
            </a:r>
            <a:pPr indent="0" marL="0">
              <a:buNone/>
            </a:pPr>
            <a:r>
              <a:rPr lang="en-US" sz="1500" dirty="0">
                <a:solidFill>
                  <a:schemeClr val="tx1"/>
                </a:solidFill>
              </a:rPr>
              <a:t>   LogReg GD+L2, ridge, AUC, ROC, F1, R2</a:t>
            </a:r>
            <a:endParaRPr lang="en-US" sz="1500" dirty="0"/>
          </a:p>
        </p:txBody>
      </p:sp>
      <p:sp>
        <p:nvSpPr>
          <p:cNvPr id="14" name="Arrow 4"/>
          <p:cNvSpPr/>
          <p:nvPr/>
        </p:nvSpPr>
        <p:spPr>
          <a:xfrm>
            <a:off x="4206240" y="4477512"/>
            <a:ext cx="201168" cy="164592"/>
          </a:xfrm>
          <a:prstGeom prst="downArrow">
            <a:avLst/>
          </a:prstGeom>
          <a:solidFill>
            <a:schemeClr val="accent4"/>
          </a:solidFill>
          <a:ln/>
        </p:spPr>
      </p:sp>
      <p:sp>
        <p:nvSpPr>
          <p:cNvPr id="15" name="Layer 5"/>
          <p:cNvSpPr/>
          <p:nvPr/>
        </p:nvSpPr>
        <p:spPr>
          <a:xfrm>
            <a:off x="548640" y="4660392"/>
            <a:ext cx="7498080" cy="632460"/>
          </a:xfrm>
          <a:prstGeom prst="roundRect">
            <a:avLst>
              <a:gd name="adj" fmla="val 14458"/>
            </a:avLst>
          </a:prstGeom>
          <a:solidFill>
            <a:schemeClr val="accent2"/>
          </a:solidFill>
          <a:ln/>
        </p:spPr>
      </p:sp>
      <p:sp>
        <p:nvSpPr>
          <p:cNvPr id="16" name="Layer 5 text"/>
          <p:cNvSpPr txBox="1"/>
          <p:nvPr/>
        </p:nvSpPr>
        <p:spPr>
          <a:xfrm>
            <a:off x="822960" y="4660392"/>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explain.py</a:t>
            </a:r>
            <a:pPr indent="0" marL="0">
              <a:buNone/>
            </a:pPr>
            <a:r>
              <a:rPr lang="en-US" sz="1500" dirty="0">
                <a:solidFill>
                  <a:schemeClr val="tx1"/>
                </a:solidFill>
              </a:rPr>
              <a:t>   contributions + dynamic-programming planner</a:t>
            </a:r>
            <a:endParaRPr lang="en-US" sz="1500" dirty="0"/>
          </a:p>
        </p:txBody>
      </p:sp>
      <p:sp>
        <p:nvSpPr>
          <p:cNvPr id="17" name="Arrow 5"/>
          <p:cNvSpPr/>
          <p:nvPr/>
        </p:nvSpPr>
        <p:spPr>
          <a:xfrm>
            <a:off x="4206240" y="5311140"/>
            <a:ext cx="201168" cy="164592"/>
          </a:xfrm>
          <a:prstGeom prst="downArrow">
            <a:avLst/>
          </a:prstGeom>
          <a:solidFill>
            <a:schemeClr val="accent4"/>
          </a:solidFill>
          <a:ln/>
        </p:spPr>
      </p:sp>
      <p:sp>
        <p:nvSpPr>
          <p:cNvPr id="18" name="Layer 6"/>
          <p:cNvSpPr/>
          <p:nvPr/>
        </p:nvSpPr>
        <p:spPr>
          <a:xfrm>
            <a:off x="548640" y="5494020"/>
            <a:ext cx="7498080" cy="632460"/>
          </a:xfrm>
          <a:prstGeom prst="roundRect">
            <a:avLst>
              <a:gd name="adj" fmla="val 14458"/>
            </a:avLst>
          </a:prstGeom>
          <a:solidFill>
            <a:schemeClr val="bg2"/>
          </a:solidFill>
          <a:ln/>
        </p:spPr>
      </p:sp>
      <p:sp>
        <p:nvSpPr>
          <p:cNvPr id="19" name="Layer 6 text"/>
          <p:cNvSpPr txBox="1"/>
          <p:nvPr/>
        </p:nvSpPr>
        <p:spPr>
          <a:xfrm>
            <a:off x="822960" y="549402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cluster.py / engine.py</a:t>
            </a:r>
            <a:pPr indent="0" marL="0">
              <a:buNone/>
            </a:pPr>
            <a:r>
              <a:rPr lang="en-US" sz="1500" dirty="0">
                <a:solidFill>
                  <a:schemeClr val="tx1"/>
                </a:solidFill>
              </a:rPr>
              <a:t>   k-means++ personas, fairness, dashboards</a:t>
            </a:r>
            <a:endParaRPr lang="en-US" sz="1500" dirty="0"/>
          </a:p>
        </p:txBody>
      </p:sp>
      <p:sp>
        <p:nvSpPr>
          <p:cNvPr id="20" name="Tech card"/>
          <p:cNvSpPr/>
          <p:nvPr/>
        </p:nvSpPr>
        <p:spPr>
          <a:xfrm>
            <a:off x="8412480" y="1325880"/>
            <a:ext cx="3230575" cy="4800600"/>
          </a:xfrm>
          <a:prstGeom prst="roundRect">
            <a:avLst>
              <a:gd name="adj" fmla="val 3397"/>
            </a:avLst>
          </a:prstGeom>
          <a:solidFill>
            <a:schemeClr val="tx2"/>
          </a:solidFill>
          <a:ln/>
        </p:spPr>
      </p:sp>
      <p:sp>
        <p:nvSpPr>
          <p:cNvPr id="21" name="Tech title"/>
          <p:cNvSpPr txBox="1"/>
          <p:nvPr/>
        </p:nvSpPr>
        <p:spPr>
          <a:xfrm>
            <a:off x="8686800" y="1554480"/>
            <a:ext cx="2743200" cy="457200"/>
          </a:xfrm>
          <a:prstGeom prst="rect">
            <a:avLst/>
          </a:prstGeom>
          <a:noFill/>
          <a:ln/>
        </p:spPr>
        <p:txBody>
          <a:bodyPr wrap="square" lIns="0" tIns="0" rIns="0" bIns="0" rtlCol="0" anchor="ctr"/>
          <a:lstStyle/>
          <a:p>
            <a:pPr indent="0" marL="0">
              <a:buNone/>
            </a:pPr>
            <a:r>
              <a:rPr lang="en-US" sz="1800" b="1" dirty="0">
                <a:solidFill>
                  <a:schemeClr val="bg1"/>
                </a:solidFill>
              </a:rPr>
              <a:t>Tech stack</a:t>
            </a:r>
            <a:endParaRPr lang="en-US" sz="1800" dirty="0"/>
          </a:p>
        </p:txBody>
      </p:sp>
      <p:sp>
        <p:nvSpPr>
          <p:cNvPr id="22" name="Tech list"/>
          <p:cNvSpPr txBox="1"/>
          <p:nvPr/>
        </p:nvSpPr>
        <p:spPr>
          <a:xfrm>
            <a:off x="8686800" y="2103120"/>
            <a:ext cx="2743200" cy="27432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bg1"/>
                </a:solidFill>
              </a:rPr>
              <a:t>Python 3 stdlib only</a:t>
            </a:r>
            <a:endParaRPr lang="en-US" sz="1400" dirty="0"/>
          </a:p>
          <a:p>
            <a:pPr marL="228600" indent="-228600">
              <a:spcAft>
                <a:spcPts val="1000"/>
              </a:spcAft>
              <a:buSzPct val="100000"/>
              <a:buChar char="•"/>
            </a:pPr>
            <a:r>
              <a:rPr lang="en-US" sz="1400" dirty="0">
                <a:solidFill>
                  <a:schemeClr val="bg1"/>
                </a:solidFill>
              </a:rPr>
              <a:t>Vanilla HTML/CSS/JS</a:t>
            </a:r>
            <a:endParaRPr lang="en-US" sz="1400" dirty="0"/>
          </a:p>
          <a:p>
            <a:pPr marL="228600" indent="-228600">
              <a:spcAft>
                <a:spcPts val="1000"/>
              </a:spcAft>
              <a:buSzPct val="100000"/>
              <a:buChar char="•"/>
            </a:pPr>
            <a:r>
              <a:rPr lang="en-US" sz="1400" dirty="0">
                <a:solidFill>
                  <a:schemeClr val="bg1"/>
                </a:solidFill>
              </a:rPr>
              <a:t>Inline SVG charts</a:t>
            </a:r>
            <a:endParaRPr lang="en-US" sz="1400" dirty="0"/>
          </a:p>
          <a:p>
            <a:pPr marL="228600" indent="-228600">
              <a:spcAft>
                <a:spcPts val="1000"/>
              </a:spcAft>
              <a:buSzPct val="100000"/>
              <a:buChar char="•"/>
            </a:pPr>
            <a:r>
              <a:rPr lang="en-US" sz="1400" dirty="0">
                <a:solidFill>
                  <a:schemeClr val="bg1"/>
                </a:solidFill>
              </a:rPr>
              <a:t>No CDN, fully offline</a:t>
            </a:r>
            <a:endParaRPr lang="en-US" sz="1400" dirty="0"/>
          </a:p>
          <a:p>
            <a:pPr marL="228600" indent="-228600">
              <a:spcAft>
                <a:spcPts val="1000"/>
              </a:spcAft>
              <a:buSzPct val="100000"/>
              <a:buChar char="•"/>
            </a:pPr>
            <a:r>
              <a:rPr lang="en-US" sz="1400" dirty="0">
                <a:solidFill>
                  <a:schemeClr val="bg1"/>
                </a:solidFill>
              </a:rPr>
              <a:t>unittest (46 tests)</a:t>
            </a:r>
            <a:endParaRPr lang="en-US" sz="1400" dirty="0"/>
          </a:p>
        </p:txBody>
      </p:sp>
      <p:sp>
        <p:nvSpPr>
          <p:cNvPr id="23" name="Offline note"/>
          <p:cNvSpPr txBox="1"/>
          <p:nvPr/>
        </p:nvSpPr>
        <p:spPr>
          <a:xfrm>
            <a:off x="8686800" y="5120640"/>
            <a:ext cx="2743200" cy="777240"/>
          </a:xfrm>
          <a:prstGeom prst="rect">
            <a:avLst/>
          </a:prstGeom>
          <a:noFill/>
          <a:ln/>
        </p:spPr>
        <p:txBody>
          <a:bodyPr wrap="square" lIns="0" tIns="0" rIns="0" bIns="0" rtlCol="0" anchor="b"/>
          <a:lstStyle/>
          <a:p>
            <a:pPr indent="0" marL="0">
              <a:buNone/>
            </a:pPr>
            <a:r>
              <a:rPr lang="en-US" sz="1300" i="1" dirty="0">
                <a:solidFill>
                  <a:schemeClr val="accent6"/>
                </a:solidFill>
              </a:rPr>
              <a:t>Runs fully offline · no installs · python app.py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Algorithms built from scratch</a:t>
            </a:r>
            <a:endParaRPr lang="en-US" sz="3600" dirty="0"/>
          </a:p>
        </p:txBody>
      </p:sp>
      <p:sp>
        <p:nvSpPr>
          <p:cNvPr id="3" name="Algorithm 1 card"/>
          <p:cNvSpPr/>
          <p:nvPr/>
        </p:nvSpPr>
        <p:spPr>
          <a:xfrm>
            <a:off x="548640" y="1371600"/>
            <a:ext cx="5410048" cy="1432560"/>
          </a:xfrm>
          <a:prstGeom prst="roundRect">
            <a:avLst>
              <a:gd name="adj" fmla="val 6383"/>
            </a:avLst>
          </a:prstGeom>
          <a:solidFill>
            <a:schemeClr val="bg2"/>
          </a:solidFill>
          <a:ln/>
        </p:spPr>
      </p:sp>
      <p:sp>
        <p:nvSpPr>
          <p:cNvPr id="4" name="Algorithm 1 number"/>
          <p:cNvSpPr txBox="1"/>
          <p:nvPr/>
        </p:nvSpPr>
        <p:spPr>
          <a:xfrm>
            <a:off x="777240"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5" name="Algorithm 1 text"/>
          <p:cNvSpPr txBox="1"/>
          <p:nvPr/>
        </p:nvSpPr>
        <p:spPr>
          <a:xfrm>
            <a:off x="1554480"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Logistic regression (gradient descent, L2)</a:t>
            </a:r>
            <a:endParaRPr lang="en-US" sz="1700" dirty="0"/>
          </a:p>
          <a:p>
            <a:pPr indent="0" marL="0">
              <a:buNone/>
            </a:pPr>
            <a:r>
              <a:rPr lang="en-US" sz="1400" dirty="0">
                <a:solidFill>
                  <a:schemeClr val="accent4"/>
                </a:solidFill>
              </a:rPr>
              <a:t>placement probability</a:t>
            </a:r>
            <a:endParaRPr lang="en-US" sz="1700" dirty="0"/>
          </a:p>
        </p:txBody>
      </p:sp>
      <p:sp>
        <p:nvSpPr>
          <p:cNvPr id="6" name="Algorithm 2 card"/>
          <p:cNvSpPr/>
          <p:nvPr/>
        </p:nvSpPr>
        <p:spPr>
          <a:xfrm>
            <a:off x="6233008" y="1371600"/>
            <a:ext cx="5410048" cy="1432560"/>
          </a:xfrm>
          <a:prstGeom prst="roundRect">
            <a:avLst>
              <a:gd name="adj" fmla="val 6383"/>
            </a:avLst>
          </a:prstGeom>
          <a:solidFill>
            <a:schemeClr val="bg2"/>
          </a:solidFill>
          <a:ln/>
        </p:spPr>
      </p:sp>
      <p:sp>
        <p:nvSpPr>
          <p:cNvPr id="7" name="Algorithm 2 number"/>
          <p:cNvSpPr txBox="1"/>
          <p:nvPr/>
        </p:nvSpPr>
        <p:spPr>
          <a:xfrm>
            <a:off x="6461608"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8" name="Algorithm 2 text"/>
          <p:cNvSpPr txBox="1"/>
          <p:nvPr/>
        </p:nvSpPr>
        <p:spPr>
          <a:xfrm>
            <a:off x="7238848"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Ridge linear regression (normal equations)</a:t>
            </a:r>
            <a:endParaRPr lang="en-US" sz="1700" dirty="0"/>
          </a:p>
          <a:p>
            <a:pPr indent="0" marL="0">
              <a:buNone/>
            </a:pPr>
            <a:r>
              <a:rPr lang="en-US" sz="1400" dirty="0">
                <a:solidFill>
                  <a:schemeClr val="accent4"/>
                </a:solidFill>
              </a:rPr>
              <a:t>expected package</a:t>
            </a:r>
            <a:endParaRPr lang="en-US" sz="1700" dirty="0"/>
          </a:p>
        </p:txBody>
      </p:sp>
      <p:sp>
        <p:nvSpPr>
          <p:cNvPr id="9" name="Algorithm 3 card"/>
          <p:cNvSpPr/>
          <p:nvPr/>
        </p:nvSpPr>
        <p:spPr>
          <a:xfrm>
            <a:off x="548640" y="3032760"/>
            <a:ext cx="5410048" cy="1432560"/>
          </a:xfrm>
          <a:prstGeom prst="roundRect">
            <a:avLst>
              <a:gd name="adj" fmla="val 6383"/>
            </a:avLst>
          </a:prstGeom>
          <a:solidFill>
            <a:schemeClr val="bg2"/>
          </a:solidFill>
          <a:ln/>
        </p:spPr>
      </p:sp>
      <p:sp>
        <p:nvSpPr>
          <p:cNvPr id="10" name="Algorithm 3 number"/>
          <p:cNvSpPr txBox="1"/>
          <p:nvPr/>
        </p:nvSpPr>
        <p:spPr>
          <a:xfrm>
            <a:off x="777240"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1" name="Algorithm 3 text"/>
          <p:cNvSpPr txBox="1"/>
          <p:nvPr/>
        </p:nvSpPr>
        <p:spPr>
          <a:xfrm>
            <a:off x="1554480"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Bounded knapsack DP</a:t>
            </a:r>
            <a:endParaRPr lang="en-US" sz="1700" dirty="0"/>
          </a:p>
          <a:p>
            <a:pPr indent="0" marL="0">
              <a:buNone/>
            </a:pPr>
            <a:r>
              <a:rPr lang="en-US" sz="1400" dirty="0">
                <a:solidFill>
                  <a:schemeClr val="accent4"/>
                </a:solidFill>
              </a:rPr>
              <a:t>minimum-effort counterfactual plan</a:t>
            </a:r>
            <a:endParaRPr lang="en-US" sz="1700" dirty="0"/>
          </a:p>
        </p:txBody>
      </p:sp>
      <p:sp>
        <p:nvSpPr>
          <p:cNvPr id="12" name="Algorithm 4 card"/>
          <p:cNvSpPr/>
          <p:nvPr/>
        </p:nvSpPr>
        <p:spPr>
          <a:xfrm>
            <a:off x="6233008" y="3032760"/>
            <a:ext cx="5410048" cy="1432560"/>
          </a:xfrm>
          <a:prstGeom prst="roundRect">
            <a:avLst>
              <a:gd name="adj" fmla="val 6383"/>
            </a:avLst>
          </a:prstGeom>
          <a:solidFill>
            <a:schemeClr val="bg2"/>
          </a:solidFill>
          <a:ln/>
        </p:spPr>
      </p:sp>
      <p:sp>
        <p:nvSpPr>
          <p:cNvPr id="13" name="Algorithm 4 number"/>
          <p:cNvSpPr txBox="1"/>
          <p:nvPr/>
        </p:nvSpPr>
        <p:spPr>
          <a:xfrm>
            <a:off x="6461608"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14" name="Algorithm 4 text"/>
          <p:cNvSpPr txBox="1"/>
          <p:nvPr/>
        </p:nvSpPr>
        <p:spPr>
          <a:xfrm>
            <a:off x="7238848"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k-means++</a:t>
            </a:r>
            <a:endParaRPr lang="en-US" sz="1700" dirty="0"/>
          </a:p>
          <a:p>
            <a:pPr indent="0" marL="0">
              <a:buNone/>
            </a:pPr>
            <a:r>
              <a:rPr lang="en-US" sz="1400" dirty="0">
                <a:solidFill>
                  <a:schemeClr val="accent4"/>
                </a:solidFill>
              </a:rPr>
              <a:t>student personas</a:t>
            </a:r>
            <a:endParaRPr lang="en-US" sz="1700" dirty="0"/>
          </a:p>
        </p:txBody>
      </p:sp>
      <p:sp>
        <p:nvSpPr>
          <p:cNvPr id="15" name="Algorithm 5 card"/>
          <p:cNvSpPr/>
          <p:nvPr/>
        </p:nvSpPr>
        <p:spPr>
          <a:xfrm>
            <a:off x="548640" y="4693920"/>
            <a:ext cx="5410048" cy="1432560"/>
          </a:xfrm>
          <a:prstGeom prst="roundRect">
            <a:avLst>
              <a:gd name="adj" fmla="val 6383"/>
            </a:avLst>
          </a:prstGeom>
          <a:solidFill>
            <a:schemeClr val="bg2"/>
          </a:solidFill>
          <a:ln/>
        </p:spPr>
      </p:sp>
      <p:sp>
        <p:nvSpPr>
          <p:cNvPr id="16" name="Algorithm 5 number"/>
          <p:cNvSpPr txBox="1"/>
          <p:nvPr/>
        </p:nvSpPr>
        <p:spPr>
          <a:xfrm>
            <a:off x="777240" y="469392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17" name="Algorithm 5 text"/>
          <p:cNvSpPr txBox="1"/>
          <p:nvPr/>
        </p:nvSpPr>
        <p:spPr>
          <a:xfrm>
            <a:off x="1554480" y="469392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Rank-based ROC-AUC, Pearson correlation</a:t>
            </a:r>
            <a:endParaRPr lang="en-US" sz="1700" dirty="0"/>
          </a:p>
          <a:p>
            <a:pPr indent="0" marL="0">
              <a:buNone/>
            </a:pPr>
            <a:r>
              <a:rPr lang="en-US" sz="1400" dirty="0">
                <a:solidFill>
                  <a:schemeClr val="accent4"/>
                </a:solidFill>
              </a:rPr>
              <a:t>evaluation and EDA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makes it different</a:t>
            </a:r>
            <a:endParaRPr lang="en-US" sz="3600" dirty="0"/>
          </a:p>
        </p:txBody>
      </p:sp>
      <p:sp>
        <p:nvSpPr>
          <p:cNvPr id="3" name="Innovation 1 card"/>
          <p:cNvSpPr/>
          <p:nvPr/>
        </p:nvSpPr>
        <p:spPr>
          <a:xfrm>
            <a:off x="548640" y="1371600"/>
            <a:ext cx="5410048" cy="2148840"/>
          </a:xfrm>
          <a:prstGeom prst="roundRect">
            <a:avLst>
              <a:gd name="adj" fmla="val 5106"/>
            </a:avLst>
          </a:prstGeom>
          <a:solidFill>
            <a:schemeClr val="accent2"/>
          </a:solidFill>
          <a:ln/>
        </p:spPr>
      </p:sp>
      <p:sp>
        <p:nvSpPr>
          <p:cNvPr id="4" name="Innovation 1 circle"/>
          <p:cNvSpPr/>
          <p:nvPr/>
        </p:nvSpPr>
        <p:spPr>
          <a:xfrm>
            <a:off x="868680" y="2103120"/>
            <a:ext cx="685800" cy="685800"/>
          </a:xfrm>
          <a:prstGeom prst="ellipse">
            <a:avLst/>
          </a:prstGeom>
          <a:solidFill>
            <a:schemeClr val="accent1"/>
          </a:solidFill>
          <a:ln/>
        </p:spPr>
      </p:sp>
      <p:pic>
        <p:nvPicPr>
          <p:cNvPr id="5" name="Innovation 1 icon" descr="preencoded.png">    </p:cNvPr>
          <p:cNvPicPr>
            <a:picLocks noChangeAspect="1"/>
          </p:cNvPicPr>
          <p:nvPr/>
        </p:nvPicPr>
        <p:blipFill>
          <a:blip r:embed="rId1"/>
          <a:stretch>
            <a:fillRect/>
          </a:stretch>
        </p:blipFill>
        <p:spPr>
          <a:xfrm>
            <a:off x="1040130" y="2274570"/>
            <a:ext cx="342900" cy="342900"/>
          </a:xfrm>
          <a:prstGeom prst="rect">
            <a:avLst/>
          </a:prstGeom>
        </p:spPr>
      </p:pic>
      <p:sp>
        <p:nvSpPr>
          <p:cNvPr id="6" name="Innovation 1 text"/>
          <p:cNvSpPr txBox="1"/>
          <p:nvPr/>
        </p:nvSpPr>
        <p:spPr>
          <a:xfrm>
            <a:off x="1783080"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Prescribes the cheapest realistic fix, not just a probability</a:t>
            </a:r>
            <a:endParaRPr lang="en-US" sz="2000" dirty="0"/>
          </a:p>
        </p:txBody>
      </p:sp>
      <p:sp>
        <p:nvSpPr>
          <p:cNvPr id="7" name="Innovation 2 card"/>
          <p:cNvSpPr/>
          <p:nvPr/>
        </p:nvSpPr>
        <p:spPr>
          <a:xfrm>
            <a:off x="6233008" y="1371600"/>
            <a:ext cx="5410048" cy="2148840"/>
          </a:xfrm>
          <a:prstGeom prst="roundRect">
            <a:avLst>
              <a:gd name="adj" fmla="val 5106"/>
            </a:avLst>
          </a:prstGeom>
          <a:solidFill>
            <a:schemeClr val="bg2"/>
          </a:solidFill>
          <a:ln/>
        </p:spPr>
      </p:sp>
      <p:sp>
        <p:nvSpPr>
          <p:cNvPr id="8" name="Innovation 2 circle"/>
          <p:cNvSpPr/>
          <p:nvPr/>
        </p:nvSpPr>
        <p:spPr>
          <a:xfrm>
            <a:off x="6553048" y="2103120"/>
            <a:ext cx="685800" cy="685800"/>
          </a:xfrm>
          <a:prstGeom prst="ellipse">
            <a:avLst/>
          </a:prstGeom>
          <a:solidFill>
            <a:schemeClr val="accent1"/>
          </a:solidFill>
          <a:ln/>
        </p:spPr>
      </p:sp>
      <p:pic>
        <p:nvPicPr>
          <p:cNvPr id="9" name="Innovation 2 icon" descr="preencoded.png">    </p:cNvPr>
          <p:cNvPicPr>
            <a:picLocks noChangeAspect="1"/>
          </p:cNvPicPr>
          <p:nvPr/>
        </p:nvPicPr>
        <p:blipFill>
          <a:blip r:embed="rId2"/>
          <a:stretch>
            <a:fillRect/>
          </a:stretch>
        </p:blipFill>
        <p:spPr>
          <a:xfrm>
            <a:off x="6724498" y="2274570"/>
            <a:ext cx="342900" cy="342900"/>
          </a:xfrm>
          <a:prstGeom prst="rect">
            <a:avLst/>
          </a:prstGeom>
        </p:spPr>
      </p:pic>
      <p:sp>
        <p:nvSpPr>
          <p:cNvPr id="10" name="Innovation 2 text"/>
          <p:cNvSpPr txBox="1"/>
          <p:nvPr/>
        </p:nvSpPr>
        <p:spPr>
          <a:xfrm>
            <a:off x="7467448"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Glass-box: chart, simulator and plan use one exact model</a:t>
            </a:r>
            <a:endParaRPr lang="en-US" sz="2000" dirty="0"/>
          </a:p>
        </p:txBody>
      </p:sp>
      <p:sp>
        <p:nvSpPr>
          <p:cNvPr id="11" name="Innovation 3 card"/>
          <p:cNvSpPr/>
          <p:nvPr/>
        </p:nvSpPr>
        <p:spPr>
          <a:xfrm>
            <a:off x="548640" y="3794760"/>
            <a:ext cx="5410048" cy="2148840"/>
          </a:xfrm>
          <a:prstGeom prst="roundRect">
            <a:avLst>
              <a:gd name="adj" fmla="val 5106"/>
            </a:avLst>
          </a:prstGeom>
          <a:solidFill>
            <a:schemeClr val="bg2"/>
          </a:solidFill>
          <a:ln/>
        </p:spPr>
      </p:sp>
      <p:sp>
        <p:nvSpPr>
          <p:cNvPr id="12" name="Innovation 3 circle"/>
          <p:cNvSpPr/>
          <p:nvPr/>
        </p:nvSpPr>
        <p:spPr>
          <a:xfrm>
            <a:off x="868680" y="4526280"/>
            <a:ext cx="685800" cy="685800"/>
          </a:xfrm>
          <a:prstGeom prst="ellipse">
            <a:avLst/>
          </a:prstGeom>
          <a:solidFill>
            <a:schemeClr val="accent1"/>
          </a:solidFill>
          <a:ln/>
        </p:spPr>
      </p:sp>
      <p:pic>
        <p:nvPicPr>
          <p:cNvPr id="13" name="Innovation 3 icon" descr="preencoded.png">    </p:cNvPr>
          <p:cNvPicPr>
            <a:picLocks noChangeAspect="1"/>
          </p:cNvPicPr>
          <p:nvPr/>
        </p:nvPicPr>
        <p:blipFill>
          <a:blip r:embed="rId3"/>
          <a:stretch>
            <a:fillRect/>
          </a:stretch>
        </p:blipFill>
        <p:spPr>
          <a:xfrm>
            <a:off x="1040130" y="4697730"/>
            <a:ext cx="342900" cy="342900"/>
          </a:xfrm>
          <a:prstGeom prst="rect">
            <a:avLst/>
          </a:prstGeom>
        </p:spPr>
      </p:pic>
      <p:sp>
        <p:nvSpPr>
          <p:cNvPr id="14" name="Innovation 3 text"/>
          <p:cNvSpPr txBox="1"/>
          <p:nvPr/>
        </p:nvSpPr>
        <p:spPr>
          <a:xfrm>
            <a:off x="1783080"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Effort costs and caps are editable named assumptions</a:t>
            </a:r>
            <a:endParaRPr lang="en-US" sz="2000" dirty="0"/>
          </a:p>
        </p:txBody>
      </p:sp>
      <p:sp>
        <p:nvSpPr>
          <p:cNvPr id="15" name="Innovation 4 card"/>
          <p:cNvSpPr/>
          <p:nvPr/>
        </p:nvSpPr>
        <p:spPr>
          <a:xfrm>
            <a:off x="6233008" y="3794760"/>
            <a:ext cx="5410048" cy="2148840"/>
          </a:xfrm>
          <a:prstGeom prst="roundRect">
            <a:avLst>
              <a:gd name="adj" fmla="val 5106"/>
            </a:avLst>
          </a:prstGeom>
          <a:solidFill>
            <a:schemeClr val="accent2"/>
          </a:solidFill>
          <a:ln/>
        </p:spPr>
      </p:sp>
      <p:sp>
        <p:nvSpPr>
          <p:cNvPr id="16" name="Innovation 4 circle"/>
          <p:cNvSpPr/>
          <p:nvPr/>
        </p:nvSpPr>
        <p:spPr>
          <a:xfrm>
            <a:off x="6553048" y="4526280"/>
            <a:ext cx="685800" cy="685800"/>
          </a:xfrm>
          <a:prstGeom prst="ellipse">
            <a:avLst/>
          </a:prstGeom>
          <a:solidFill>
            <a:schemeClr val="accent1"/>
          </a:solidFill>
          <a:ln/>
        </p:spPr>
      </p:sp>
      <p:pic>
        <p:nvPicPr>
          <p:cNvPr id="17" name="Innovation 4 icon" descr="preencoded.png">    </p:cNvPr>
          <p:cNvPicPr>
            <a:picLocks noChangeAspect="1"/>
          </p:cNvPicPr>
          <p:nvPr/>
        </p:nvPicPr>
        <p:blipFill>
          <a:blip r:embed="rId4"/>
          <a:stretch>
            <a:fillRect/>
          </a:stretch>
        </p:blipFill>
        <p:spPr>
          <a:xfrm>
            <a:off x="6724498" y="4697730"/>
            <a:ext cx="342900" cy="342900"/>
          </a:xfrm>
          <a:prstGeom prst="rect">
            <a:avLst/>
          </a:prstGeom>
        </p:spPr>
      </p:pic>
      <p:sp>
        <p:nvSpPr>
          <p:cNvPr id="18" name="Innovation 4 text"/>
          <p:cNvSpPr txBox="1"/>
          <p:nvPr/>
        </p:nvSpPr>
        <p:spPr>
          <a:xfrm>
            <a:off x="7467448"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Department excluded from the model, then audited for fairness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Measured results</a:t>
            </a:r>
            <a:endParaRPr lang="en-US" sz="3600" dirty="0"/>
          </a:p>
        </p:txBody>
      </p:sp>
      <p:sp>
        <p:nvSpPr>
          <p:cNvPr id="3" name="Result 1 card"/>
          <p:cNvSpPr/>
          <p:nvPr/>
        </p:nvSpPr>
        <p:spPr>
          <a:xfrm>
            <a:off x="548640"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4" name="Result 1 value"/>
          <p:cNvSpPr txBox="1"/>
          <p:nvPr/>
        </p:nvSpPr>
        <p:spPr>
          <a:xfrm>
            <a:off x="777240"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0.935</a:t>
            </a:r>
            <a:endParaRPr lang="en-US" sz="4000" dirty="0"/>
          </a:p>
        </p:txBody>
      </p:sp>
      <p:sp>
        <p:nvSpPr>
          <p:cNvPr id="5" name="Result 1 label"/>
          <p:cNvSpPr txBox="1"/>
          <p:nvPr/>
        </p:nvSpPr>
        <p:spPr>
          <a:xfrm>
            <a:off x="777240"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ROC-AUC on 150 held-out students</a:t>
            </a:r>
            <a:endParaRPr lang="en-US" sz="1400" dirty="0"/>
          </a:p>
        </p:txBody>
      </p:sp>
      <p:sp>
        <p:nvSpPr>
          <p:cNvPr id="6" name="Result 2 card"/>
          <p:cNvSpPr/>
          <p:nvPr/>
        </p:nvSpPr>
        <p:spPr>
          <a:xfrm>
            <a:off x="3390824"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7" name="Result 2 value"/>
          <p:cNvSpPr txBox="1"/>
          <p:nvPr/>
        </p:nvSpPr>
        <p:spPr>
          <a:xfrm>
            <a:off x="3619424"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86.0%</a:t>
            </a:r>
            <a:endParaRPr lang="en-US" sz="4000" dirty="0"/>
          </a:p>
        </p:txBody>
      </p:sp>
      <p:sp>
        <p:nvSpPr>
          <p:cNvPr id="8" name="Result 2 label"/>
          <p:cNvSpPr txBox="1"/>
          <p:nvPr/>
        </p:nvSpPr>
        <p:spPr>
          <a:xfrm>
            <a:off x="3619424"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hold-out accuracy (baseline 58.0%)</a:t>
            </a:r>
            <a:endParaRPr lang="en-US" sz="1400" dirty="0"/>
          </a:p>
        </p:txBody>
      </p:sp>
      <p:sp>
        <p:nvSpPr>
          <p:cNvPr id="9" name="Result 3 card"/>
          <p:cNvSpPr/>
          <p:nvPr/>
        </p:nvSpPr>
        <p:spPr>
          <a:xfrm>
            <a:off x="6233008"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0" name="Result 3 value"/>
          <p:cNvSpPr txBox="1"/>
          <p:nvPr/>
        </p:nvSpPr>
        <p:spPr>
          <a:xfrm>
            <a:off x="6461608"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0.588</a:t>
            </a:r>
            <a:endParaRPr lang="en-US" sz="4000" dirty="0"/>
          </a:p>
        </p:txBody>
      </p:sp>
      <p:sp>
        <p:nvSpPr>
          <p:cNvPr id="11" name="Result 3 label"/>
          <p:cNvSpPr txBox="1"/>
          <p:nvPr/>
        </p:nvSpPr>
        <p:spPr>
          <a:xfrm>
            <a:off x="6461608"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package R2, MAE 1.17 LPA</a:t>
            </a:r>
            <a:endParaRPr lang="en-US" sz="1400" dirty="0"/>
          </a:p>
        </p:txBody>
      </p:sp>
      <p:sp>
        <p:nvSpPr>
          <p:cNvPr id="12" name="Result 4 card"/>
          <p:cNvSpPr/>
          <p:nvPr/>
        </p:nvSpPr>
        <p:spPr>
          <a:xfrm>
            <a:off x="9075191"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3" name="Result 4 value"/>
          <p:cNvSpPr txBox="1"/>
          <p:nvPr/>
        </p:nvSpPr>
        <p:spPr>
          <a:xfrm>
            <a:off x="9303791"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2.7 s</a:t>
            </a:r>
            <a:endParaRPr lang="en-US" sz="4000" dirty="0"/>
          </a:p>
        </p:txBody>
      </p:sp>
      <p:sp>
        <p:nvSpPr>
          <p:cNvPr id="14" name="Result 4 label"/>
          <p:cNvSpPr txBox="1"/>
          <p:nvPr/>
        </p:nvSpPr>
        <p:spPr>
          <a:xfrm>
            <a:off x="9303791"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cold start: data + 9 models, pure Python</a:t>
            </a:r>
            <a:endParaRPr lang="en-US" sz="1400" dirty="0"/>
          </a:p>
        </p:txBody>
      </p:sp>
      <p:sp>
        <p:nvSpPr>
          <p:cNvPr id="15" name="Results caveat"/>
          <p:cNvSpPr txBox="1"/>
          <p:nvPr/>
        </p:nvSpPr>
        <p:spPr>
          <a:xfrm>
            <a:off x="548640" y="4160520"/>
            <a:ext cx="11094415" cy="457200"/>
          </a:xfrm>
          <a:prstGeom prst="rect">
            <a:avLst/>
          </a:prstGeom>
          <a:noFill/>
          <a:ln/>
        </p:spPr>
        <p:txBody>
          <a:bodyPr wrap="square" lIns="0" tIns="0" rIns="0" bIns="0" rtlCol="0" anchor="ctr"/>
          <a:lstStyle/>
          <a:p>
            <a:pPr indent="0" marL="0">
              <a:buNone/>
            </a:pPr>
            <a:r>
              <a:rPr lang="en-US" sz="1200" i="1" dirty="0">
                <a:solidFill>
                  <a:schemeClr val="accent4"/>
                </a:solidFill>
              </a:rPr>
              <a:t>Measured on held-out data generated by the project (see REPORT.md for method). Real-world performance needs field validation.</a:t>
            </a:r>
            <a:endParaRPr lang="en-US" sz="1200" dirty="0"/>
          </a:p>
        </p:txBody>
      </p:sp>
      <p:sp>
        <p:nvSpPr>
          <p:cNvPr id="16" name="Impact strip"/>
          <p:cNvSpPr/>
          <p:nvPr/>
        </p:nvSpPr>
        <p:spPr>
          <a:xfrm>
            <a:off x="548640" y="4754880"/>
            <a:ext cx="11094415" cy="1371600"/>
          </a:xfrm>
          <a:prstGeom prst="roundRect">
            <a:avLst>
              <a:gd name="adj" fmla="val 8000"/>
            </a:avLst>
          </a:prstGeom>
          <a:solidFill>
            <a:schemeClr val="accent2"/>
          </a:solidFill>
          <a:ln/>
        </p:spPr>
      </p:sp>
      <p:sp>
        <p:nvSpPr>
          <p:cNvPr id="17" name="Impact circle"/>
          <p:cNvSpPr/>
          <p:nvPr/>
        </p:nvSpPr>
        <p:spPr>
          <a:xfrm>
            <a:off x="822960" y="5120640"/>
            <a:ext cx="640080" cy="640080"/>
          </a:xfrm>
          <a:prstGeom prst="ellipse">
            <a:avLst/>
          </a:prstGeom>
          <a:solidFill>
            <a:schemeClr val="accent1"/>
          </a:solidFill>
          <a:ln/>
        </p:spPr>
      </p:sp>
      <p:pic>
        <p:nvPicPr>
          <p:cNvPr id="18" name="Impact icon" descr="preencoded.png">    </p:cNvPr>
          <p:cNvPicPr>
            <a:picLocks noChangeAspect="1"/>
          </p:cNvPicPr>
          <p:nvPr/>
        </p:nvPicPr>
        <p:blipFill>
          <a:blip r:embed="rId1"/>
          <a:stretch>
            <a:fillRect/>
          </a:stretch>
        </p:blipFill>
        <p:spPr>
          <a:xfrm>
            <a:off x="982980" y="5280660"/>
            <a:ext cx="320040" cy="320040"/>
          </a:xfrm>
          <a:prstGeom prst="rect">
            <a:avLst/>
          </a:prstGeom>
        </p:spPr>
      </p:pic>
      <p:sp>
        <p:nvSpPr>
          <p:cNvPr id="19" name="Impact text"/>
          <p:cNvSpPr txBox="1"/>
          <p:nvPr/>
        </p:nvSpPr>
        <p:spPr>
          <a:xfrm>
            <a:off x="1737360" y="4754880"/>
            <a:ext cx="9631375" cy="1371600"/>
          </a:xfrm>
          <a:prstGeom prst="rect">
            <a:avLst/>
          </a:prstGeom>
          <a:noFill/>
          <a:ln/>
        </p:spPr>
        <p:txBody>
          <a:bodyPr wrap="square" lIns="0" tIns="0" rIns="0" bIns="0" rtlCol="0" anchor="ctr"/>
          <a:lstStyle/>
          <a:p>
            <a:pPr indent="0" marL="0">
              <a:buNone/>
            </a:pPr>
            <a:r>
              <a:rPr lang="en-US" sz="1500" b="1" dirty="0">
                <a:solidFill>
                  <a:schemeClr val="accent3"/>
                </a:solidFill>
              </a:rPr>
              <a:t>Impact  </a:t>
            </a:r>
            <a:pPr indent="0" marL="0">
              <a:buNone/>
            </a:pPr>
            <a:r>
              <a:rPr lang="en-US" sz="1500" dirty="0">
                <a:solidFill>
                  <a:schemeClr val="tx1"/>
                </a:solidFill>
              </a:rPr>
              <a:t>Students get a ranked to-do list, not 'improve your profile'  ·  ~200 at-risk students found before drives, not after  ·  Personas turn into targeted workshops per batch</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Live demo in 3 minutes</a:t>
            </a:r>
            <a:endParaRPr lang="en-US" sz="3600" dirty="0"/>
          </a:p>
        </p:txBody>
      </p:sp>
      <p:sp>
        <p:nvSpPr>
          <p:cNvPr id="3" name="Step 1 dot"/>
          <p:cNvSpPr/>
          <p:nvPr/>
        </p:nvSpPr>
        <p:spPr>
          <a:xfrm>
            <a:off x="548640" y="1435608"/>
            <a:ext cx="457200" cy="457200"/>
          </a:xfrm>
          <a:prstGeom prst="ellipse">
            <a:avLst/>
          </a:prstGeom>
          <a:solidFill>
            <a:schemeClr val="accent1"/>
          </a:solidFill>
          <a:ln/>
        </p:spPr>
      </p:sp>
      <p:sp>
        <p:nvSpPr>
          <p:cNvPr id="4" name="Step 1 number"/>
          <p:cNvSpPr txBox="1"/>
          <p:nvPr/>
        </p:nvSpPr>
        <p:spPr>
          <a:xfrm>
            <a:off x="548640" y="14356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1 text"/>
          <p:cNvSpPr txBox="1"/>
          <p:nvPr/>
        </p:nvSpPr>
        <p:spPr>
          <a:xfrm>
            <a:off x="1234440" y="1371600"/>
            <a:ext cx="5120640" cy="585216"/>
          </a:xfrm>
          <a:prstGeom prst="rect">
            <a:avLst/>
          </a:prstGeom>
          <a:noFill/>
          <a:ln/>
        </p:spPr>
        <p:txBody>
          <a:bodyPr wrap="square" lIns="0" tIns="0" rIns="0" bIns="0" rtlCol="0" anchor="ctr"/>
          <a:lstStyle/>
          <a:p>
            <a:pPr indent="0" marL="0">
              <a:buNone/>
            </a:pPr>
            <a:r>
              <a:rPr lang="en-US" sz="1600" dirty="0">
                <a:solidFill>
                  <a:schemeClr val="tx1"/>
                </a:solidFill>
              </a:rPr>
              <a:t>Overview: KPIs, MECH lagging, who to call first</a:t>
            </a:r>
            <a:endParaRPr lang="en-US" sz="1600" dirty="0"/>
          </a:p>
        </p:txBody>
      </p:sp>
      <p:sp>
        <p:nvSpPr>
          <p:cNvPr id="6" name="Step 2 dot"/>
          <p:cNvSpPr/>
          <p:nvPr/>
        </p:nvSpPr>
        <p:spPr>
          <a:xfrm>
            <a:off x="548640" y="2130552"/>
            <a:ext cx="457200" cy="457200"/>
          </a:xfrm>
          <a:prstGeom prst="ellipse">
            <a:avLst/>
          </a:prstGeom>
          <a:solidFill>
            <a:schemeClr val="accent1"/>
          </a:solidFill>
          <a:ln/>
        </p:spPr>
      </p:sp>
      <p:sp>
        <p:nvSpPr>
          <p:cNvPr id="7" name="Step 2 number"/>
          <p:cNvSpPr txBox="1"/>
          <p:nvPr/>
        </p:nvSpPr>
        <p:spPr>
          <a:xfrm>
            <a:off x="548640" y="21305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Step 2 text"/>
          <p:cNvSpPr txBox="1"/>
          <p:nvPr/>
        </p:nvSpPr>
        <p:spPr>
          <a:xfrm>
            <a:off x="1234440" y="2066544"/>
            <a:ext cx="5120640" cy="585216"/>
          </a:xfrm>
          <a:prstGeom prst="rect">
            <a:avLst/>
          </a:prstGeom>
          <a:noFill/>
          <a:ln/>
        </p:spPr>
        <p:txBody>
          <a:bodyPr wrap="square" lIns="0" tIns="0" rIns="0" bIns="0" rtlCol="0" anchor="ctr"/>
          <a:lstStyle/>
          <a:p>
            <a:pPr indent="0" marL="0">
              <a:buNone/>
            </a:pPr>
            <a:r>
              <a:rPr lang="en-US" sz="1600" dirty="0">
                <a:solidFill>
                  <a:schemeClr val="tx1"/>
                </a:solidFill>
              </a:rPr>
              <a:t>Student coach: Tarun M at 40% and why</a:t>
            </a:r>
            <a:endParaRPr lang="en-US" sz="1600" dirty="0"/>
          </a:p>
        </p:txBody>
      </p:sp>
      <p:sp>
        <p:nvSpPr>
          <p:cNvPr id="9" name="Step 3 dot"/>
          <p:cNvSpPr/>
          <p:nvPr/>
        </p:nvSpPr>
        <p:spPr>
          <a:xfrm>
            <a:off x="548640" y="2825496"/>
            <a:ext cx="457200" cy="457200"/>
          </a:xfrm>
          <a:prstGeom prst="ellipse">
            <a:avLst/>
          </a:prstGeom>
          <a:solidFill>
            <a:schemeClr val="accent1"/>
          </a:solidFill>
          <a:ln/>
        </p:spPr>
      </p:sp>
      <p:sp>
        <p:nvSpPr>
          <p:cNvPr id="10" name="Step 3 number"/>
          <p:cNvSpPr txBox="1"/>
          <p:nvPr/>
        </p:nvSpPr>
        <p:spPr>
          <a:xfrm>
            <a:off x="548640" y="282549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tep 3 text"/>
          <p:cNvSpPr txBox="1"/>
          <p:nvPr/>
        </p:nvSpPr>
        <p:spPr>
          <a:xfrm>
            <a:off x="1234440" y="2761488"/>
            <a:ext cx="5120640" cy="585216"/>
          </a:xfrm>
          <a:prstGeom prst="rect">
            <a:avLst/>
          </a:prstGeom>
          <a:noFill/>
          <a:ln/>
        </p:spPr>
        <p:txBody>
          <a:bodyPr wrap="square" lIns="0" tIns="0" rIns="0" bIns="0" rtlCol="0" anchor="ctr"/>
          <a:lstStyle/>
          <a:p>
            <a:pPr indent="0" marL="0">
              <a:buNone/>
            </a:pPr>
            <a:r>
              <a:rPr lang="en-US" sz="1600" dirty="0">
                <a:solidFill>
                  <a:schemeClr val="tx1"/>
                </a:solidFill>
              </a:rPr>
              <a:t>What to fix next: +10 aptitude, +3 hackathons -&gt; 71%</a:t>
            </a:r>
            <a:endParaRPr lang="en-US" sz="1600" dirty="0"/>
          </a:p>
        </p:txBody>
      </p:sp>
      <p:sp>
        <p:nvSpPr>
          <p:cNvPr id="12" name="Step 4 dot"/>
          <p:cNvSpPr/>
          <p:nvPr/>
        </p:nvSpPr>
        <p:spPr>
          <a:xfrm>
            <a:off x="548640" y="3520440"/>
            <a:ext cx="457200" cy="457200"/>
          </a:xfrm>
          <a:prstGeom prst="ellipse">
            <a:avLst/>
          </a:prstGeom>
          <a:solidFill>
            <a:schemeClr val="accent1"/>
          </a:solidFill>
          <a:ln/>
        </p:spPr>
      </p:sp>
      <p:sp>
        <p:nvSpPr>
          <p:cNvPr id="13" name="Step 4 number"/>
          <p:cNvSpPr txBox="1"/>
          <p:nvPr/>
        </p:nvSpPr>
        <p:spPr>
          <a:xfrm>
            <a:off x="548640" y="3520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Step 4 text"/>
          <p:cNvSpPr txBox="1"/>
          <p:nvPr/>
        </p:nvSpPr>
        <p:spPr>
          <a:xfrm>
            <a:off x="1234440" y="3456432"/>
            <a:ext cx="5120640" cy="585216"/>
          </a:xfrm>
          <a:prstGeom prst="rect">
            <a:avLst/>
          </a:prstGeom>
          <a:noFill/>
          <a:ln/>
        </p:spPr>
        <p:txBody>
          <a:bodyPr wrap="square" lIns="0" tIns="0" rIns="0" bIns="0" rtlCol="0" anchor="ctr"/>
          <a:lstStyle/>
          <a:p>
            <a:pPr indent="0" marL="0">
              <a:buNone/>
            </a:pPr>
            <a:r>
              <a:rPr lang="en-US" sz="1600" dirty="0">
                <a:solidFill>
                  <a:schemeClr val="tx1"/>
                </a:solidFill>
              </a:rPr>
              <a:t>Simulator: drag backlogs, watch the gauge move</a:t>
            </a:r>
            <a:endParaRPr lang="en-US" sz="1600" dirty="0"/>
          </a:p>
        </p:txBody>
      </p:sp>
      <p:sp>
        <p:nvSpPr>
          <p:cNvPr id="15" name="Step 5 dot"/>
          <p:cNvSpPr/>
          <p:nvPr/>
        </p:nvSpPr>
        <p:spPr>
          <a:xfrm>
            <a:off x="548640" y="4215384"/>
            <a:ext cx="457200" cy="457200"/>
          </a:xfrm>
          <a:prstGeom prst="ellipse">
            <a:avLst/>
          </a:prstGeom>
          <a:solidFill>
            <a:schemeClr val="accent1"/>
          </a:solidFill>
          <a:ln/>
        </p:spPr>
      </p:sp>
      <p:sp>
        <p:nvSpPr>
          <p:cNvPr id="16" name="Step 5 number"/>
          <p:cNvSpPr txBox="1"/>
          <p:nvPr/>
        </p:nvSpPr>
        <p:spPr>
          <a:xfrm>
            <a:off x="548640" y="42153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Step 5 text"/>
          <p:cNvSpPr txBox="1"/>
          <p:nvPr/>
        </p:nvSpPr>
        <p:spPr>
          <a:xfrm>
            <a:off x="1234440" y="4151376"/>
            <a:ext cx="5120640" cy="585216"/>
          </a:xfrm>
          <a:prstGeom prst="rect">
            <a:avLst/>
          </a:prstGeom>
          <a:noFill/>
          <a:ln/>
        </p:spPr>
        <p:txBody>
          <a:bodyPr wrap="square" lIns="0" tIns="0" rIns="0" bIns="0" rtlCol="0" anchor="ctr"/>
          <a:lstStyle/>
          <a:p>
            <a:pPr indent="0" marL="0">
              <a:buNone/>
            </a:pPr>
            <a:r>
              <a:rPr lang="en-US" sz="1600" dirty="0">
                <a:solidFill>
                  <a:schemeClr val="tx1"/>
                </a:solidFill>
              </a:rPr>
              <a:t>At-risk list: set threshold, export the call sheet</a:t>
            </a:r>
            <a:endParaRPr lang="en-US" sz="1600" dirty="0"/>
          </a:p>
        </p:txBody>
      </p:sp>
      <p:sp>
        <p:nvSpPr>
          <p:cNvPr id="18" name="Step 6 dot"/>
          <p:cNvSpPr/>
          <p:nvPr/>
        </p:nvSpPr>
        <p:spPr>
          <a:xfrm>
            <a:off x="548640" y="4910328"/>
            <a:ext cx="457200" cy="457200"/>
          </a:xfrm>
          <a:prstGeom prst="ellipse">
            <a:avLst/>
          </a:prstGeom>
          <a:solidFill>
            <a:schemeClr val="accent1"/>
          </a:solidFill>
          <a:ln/>
        </p:spPr>
      </p:sp>
      <p:sp>
        <p:nvSpPr>
          <p:cNvPr id="19" name="Step 6 number"/>
          <p:cNvSpPr txBox="1"/>
          <p:nvPr/>
        </p:nvSpPr>
        <p:spPr>
          <a:xfrm>
            <a:off x="548640" y="4910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Step 6 text"/>
          <p:cNvSpPr txBox="1"/>
          <p:nvPr/>
        </p:nvSpPr>
        <p:spPr>
          <a:xfrm>
            <a:off x="1234440" y="4846320"/>
            <a:ext cx="5120640" cy="585216"/>
          </a:xfrm>
          <a:prstGeom prst="rect">
            <a:avLst/>
          </a:prstGeom>
          <a:noFill/>
          <a:ln/>
        </p:spPr>
        <p:txBody>
          <a:bodyPr wrap="square" lIns="0" tIns="0" rIns="0" bIns="0" rtlCol="0" anchor="ctr"/>
          <a:lstStyle/>
          <a:p>
            <a:pPr indent="0" marL="0">
              <a:buNone/>
            </a:pPr>
            <a:r>
              <a:rPr lang="en-US" sz="1600" dirty="0">
                <a:solidFill>
                  <a:schemeClr val="tx1"/>
                </a:solidFill>
              </a:rPr>
              <a:t>Model &amp; fairness: AUC 0.935, MECH over-predicted 8 pts</a:t>
            </a:r>
            <a:endParaRPr lang="en-US" sz="1600" dirty="0"/>
          </a:p>
        </p:txBody>
      </p:sp>
      <p:sp>
        <p:nvSpPr>
          <p:cNvPr id="21" name="Step 7 dot"/>
          <p:cNvSpPr/>
          <p:nvPr/>
        </p:nvSpPr>
        <p:spPr>
          <a:xfrm>
            <a:off x="548640" y="5605272"/>
            <a:ext cx="457200" cy="457200"/>
          </a:xfrm>
          <a:prstGeom prst="ellipse">
            <a:avLst/>
          </a:prstGeom>
          <a:solidFill>
            <a:schemeClr val="accent1"/>
          </a:solidFill>
          <a:ln/>
        </p:spPr>
      </p:sp>
      <p:sp>
        <p:nvSpPr>
          <p:cNvPr id="22" name="Step 7 number"/>
          <p:cNvSpPr txBox="1"/>
          <p:nvPr/>
        </p:nvSpPr>
        <p:spPr>
          <a:xfrm>
            <a:off x="548640" y="5605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3" name="Step 7 text"/>
          <p:cNvSpPr txBox="1"/>
          <p:nvPr/>
        </p:nvSpPr>
        <p:spPr>
          <a:xfrm>
            <a:off x="1234440" y="5541264"/>
            <a:ext cx="5120640" cy="585216"/>
          </a:xfrm>
          <a:prstGeom prst="rect">
            <a:avLst/>
          </a:prstGeom>
          <a:noFill/>
          <a:ln/>
        </p:spPr>
        <p:txBody>
          <a:bodyPr wrap="square" lIns="0" tIns="0" rIns="0" bIns="0" rtlCol="0" anchor="ctr"/>
          <a:lstStyle/>
          <a:p>
            <a:pPr indent="0" marL="0">
              <a:buNone/>
            </a:pPr>
            <a:r>
              <a:rPr lang="en-US" sz="1600" dirty="0">
                <a:solidFill>
                  <a:schemeClr val="tx1"/>
                </a:solidFill>
              </a:rPr>
              <a:t>Upload a file with errors: 8 bad rows reported</a:t>
            </a:r>
            <a:endParaRPr lang="en-US" sz="1600" dirty="0"/>
          </a:p>
        </p:txBody>
      </p:sp>
      <p:sp>
        <p:nvSpPr>
          <p:cNvPr id="24" name="Demo screenshot frame"/>
          <p:cNvSpPr/>
          <p:nvPr/>
        </p:nvSpPr>
        <p:spPr>
          <a:xfrm>
            <a:off x="6528816" y="1545336"/>
            <a:ext cx="5138928" cy="3252978"/>
          </a:xfrm>
          <a:prstGeom prst="roundRect">
            <a:avLst>
              <a:gd name="adj" fmla="val 224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25" name="Demo screenshot" descr="PlaceIQ screenshot">    </p:cNvPr>
          <p:cNvPicPr>
            <a:picLocks noChangeAspect="1"/>
          </p:cNvPicPr>
          <p:nvPr/>
        </p:nvPicPr>
        <p:blipFill>
          <a:blip r:embed="rId1"/>
          <a:stretch>
            <a:fillRect/>
          </a:stretch>
        </p:blipFill>
        <p:spPr>
          <a:xfrm>
            <a:off x="6583680" y="1600200"/>
            <a:ext cx="5029200" cy="3143250"/>
          </a:xfrm>
          <a:prstGeom prst="rect">
            <a:avLst/>
          </a:prstGeom>
        </p:spPr>
      </p:pic>
      <p:sp>
        <p:nvSpPr>
          <p:cNvPr id="26" name="Run command"/>
          <p:cNvSpPr txBox="1"/>
          <p:nvPr/>
        </p:nvSpPr>
        <p:spPr>
          <a:xfrm>
            <a:off x="6583680" y="5029200"/>
            <a:ext cx="5029200" cy="457200"/>
          </a:xfrm>
          <a:prstGeom prst="rect">
            <a:avLst/>
          </a:prstGeom>
          <a:noFill/>
          <a:ln/>
        </p:spPr>
        <p:txBody>
          <a:bodyPr wrap="square" lIns="0" tIns="0" rIns="0" bIns="0" rtlCol="0" anchor="ctr"/>
          <a:lstStyle/>
          <a:p>
            <a:pPr algn="ctr" indent="0" marL="0">
              <a:buNone/>
            </a:pPr>
            <a:r>
              <a:rPr lang="en-US" sz="1400" dirty="0">
                <a:solidFill>
                  <a:schemeClr val="accent3"/>
                </a:solidFill>
                <a:latin typeface="Courier New" pitchFamily="34" charset="0"/>
                <a:ea typeface="Courier New" pitchFamily="34" charset="-122"/>
                <a:cs typeface="Courier New" pitchFamily="34" charset="-120"/>
              </a:rPr>
              <a:t>python app.py  →  http://localhost:8006</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Feasibility, business model &amp; roadmap</a:t>
            </a:r>
            <a:endParaRPr lang="en-US" sz="3600" dirty="0"/>
          </a:p>
        </p:txBody>
      </p:sp>
      <p:sp>
        <p:nvSpPr>
          <p:cNvPr id="3" name="Business model card"/>
          <p:cNvSpPr/>
          <p:nvPr/>
        </p:nvSpPr>
        <p:spPr>
          <a:xfrm>
            <a:off x="548640" y="1371600"/>
            <a:ext cx="5410048" cy="4297680"/>
          </a:xfrm>
          <a:prstGeom prst="roundRect">
            <a:avLst>
              <a:gd name="adj" fmla="val 2553"/>
            </a:avLst>
          </a:prstGeom>
          <a:solidFill>
            <a:schemeClr val="bg2"/>
          </a:solidFill>
          <a:ln/>
        </p:spPr>
      </p:sp>
      <p:sp>
        <p:nvSpPr>
          <p:cNvPr id="4" name="Business model circle"/>
          <p:cNvSpPr/>
          <p:nvPr/>
        </p:nvSpPr>
        <p:spPr>
          <a:xfrm>
            <a:off x="868680" y="1645920"/>
            <a:ext cx="548640" cy="548640"/>
          </a:xfrm>
          <a:prstGeom prst="ellipse">
            <a:avLst/>
          </a:prstGeom>
          <a:solidFill>
            <a:schemeClr val="accent1"/>
          </a:solidFill>
          <a:ln/>
        </p:spPr>
      </p:sp>
      <p:pic>
        <p:nvPicPr>
          <p:cNvPr id="5" name="Business model icon" descr="preencoded.png">    </p:cNvPr>
          <p:cNvPicPr>
            <a:picLocks noChangeAspect="1"/>
          </p:cNvPicPr>
          <p:nvPr/>
        </p:nvPicPr>
        <p:blipFill>
          <a:blip r:embed="rId1"/>
          <a:stretch>
            <a:fillRect/>
          </a:stretch>
        </p:blipFill>
        <p:spPr>
          <a:xfrm>
            <a:off x="1005840" y="1783080"/>
            <a:ext cx="274320" cy="274320"/>
          </a:xfrm>
          <a:prstGeom prst="rect">
            <a:avLst/>
          </a:prstGeom>
        </p:spPr>
      </p:pic>
      <p:sp>
        <p:nvSpPr>
          <p:cNvPr id="6" name="Business model title"/>
          <p:cNvSpPr txBox="1"/>
          <p:nvPr/>
        </p:nvSpPr>
        <p:spPr>
          <a:xfrm>
            <a:off x="1600200"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Business model</a:t>
            </a:r>
            <a:endParaRPr lang="en-US" sz="2000" dirty="0"/>
          </a:p>
        </p:txBody>
      </p:sp>
      <p:sp>
        <p:nvSpPr>
          <p:cNvPr id="7" name="Business model list"/>
          <p:cNvSpPr txBox="1"/>
          <p:nvPr/>
        </p:nvSpPr>
        <p:spPr>
          <a:xfrm>
            <a:off x="914400"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Free open-source edition for single colleges</a:t>
            </a:r>
            <a:endParaRPr lang="en-US" sz="1600" dirty="0"/>
          </a:p>
          <a:p>
            <a:pPr marL="228600" indent="-228600">
              <a:spcAft>
                <a:spcPts val="1000"/>
              </a:spcAft>
              <a:buSzPct val="100000"/>
              <a:buChar char="•"/>
            </a:pPr>
            <a:r>
              <a:rPr lang="en-US" sz="1600" dirty="0">
                <a:solidFill>
                  <a:schemeClr val="tx1"/>
                </a:solidFill>
              </a:rPr>
              <a:t>Paid multi-campus edition with history and role logins</a:t>
            </a:r>
            <a:endParaRPr lang="en-US" sz="1600" dirty="0"/>
          </a:p>
          <a:p>
            <a:pPr marL="228600" indent="-228600">
              <a:spcAft>
                <a:spcPts val="1000"/>
              </a:spcAft>
              <a:buSzPct val="100000"/>
              <a:buChar char="•"/>
            </a:pPr>
            <a:r>
              <a:rPr lang="en-US" sz="1600" dirty="0">
                <a:solidFill>
                  <a:schemeClr val="tx1"/>
                </a:solidFill>
              </a:rPr>
              <a:t>Opt-in readiness-verified talent pipeline for hiring firms</a:t>
            </a:r>
            <a:endParaRPr lang="en-US" sz="1600" dirty="0"/>
          </a:p>
          <a:p>
            <a:pPr marL="228600" indent="-228600">
              <a:spcAft>
                <a:spcPts val="1000"/>
              </a:spcAft>
              <a:buSzPct val="100000"/>
              <a:buChar char="•"/>
            </a:pPr>
            <a:r>
              <a:rPr lang="en-US" sz="1600" dirty="0">
                <a:solidFill>
                  <a:schemeClr val="tx1"/>
                </a:solidFill>
              </a:rPr>
              <a:t>Implementation workshops for placement officers</a:t>
            </a:r>
            <a:endParaRPr lang="en-US" sz="1600" dirty="0"/>
          </a:p>
        </p:txBody>
      </p:sp>
      <p:sp>
        <p:nvSpPr>
          <p:cNvPr id="8" name="Future scope card"/>
          <p:cNvSpPr/>
          <p:nvPr/>
        </p:nvSpPr>
        <p:spPr>
          <a:xfrm>
            <a:off x="6233008" y="1371600"/>
            <a:ext cx="5410048" cy="4297680"/>
          </a:xfrm>
          <a:prstGeom prst="roundRect">
            <a:avLst>
              <a:gd name="adj" fmla="val 2553"/>
            </a:avLst>
          </a:prstGeom>
          <a:solidFill>
            <a:schemeClr val="accent2"/>
          </a:solidFill>
          <a:ln/>
        </p:spPr>
      </p:sp>
      <p:sp>
        <p:nvSpPr>
          <p:cNvPr id="9" name="Future scope circle"/>
          <p:cNvSpPr/>
          <p:nvPr/>
        </p:nvSpPr>
        <p:spPr>
          <a:xfrm>
            <a:off x="6553048" y="1645920"/>
            <a:ext cx="548640" cy="548640"/>
          </a:xfrm>
          <a:prstGeom prst="ellipse">
            <a:avLst/>
          </a:prstGeom>
          <a:solidFill>
            <a:schemeClr val="accent1"/>
          </a:solidFill>
          <a:ln/>
        </p:spPr>
      </p:sp>
      <p:pic>
        <p:nvPicPr>
          <p:cNvPr id="10" name="Future scope icon" descr="preencoded.png">    </p:cNvPr>
          <p:cNvPicPr>
            <a:picLocks noChangeAspect="1"/>
          </p:cNvPicPr>
          <p:nvPr/>
        </p:nvPicPr>
        <p:blipFill>
          <a:blip r:embed="rId2"/>
          <a:stretch>
            <a:fillRect/>
          </a:stretch>
        </p:blipFill>
        <p:spPr>
          <a:xfrm>
            <a:off x="6690208" y="1783080"/>
            <a:ext cx="274320" cy="274320"/>
          </a:xfrm>
          <a:prstGeom prst="rect">
            <a:avLst/>
          </a:prstGeom>
        </p:spPr>
      </p:pic>
      <p:sp>
        <p:nvSpPr>
          <p:cNvPr id="11" name="Future scope title"/>
          <p:cNvSpPr txBox="1"/>
          <p:nvPr/>
        </p:nvSpPr>
        <p:spPr>
          <a:xfrm>
            <a:off x="7284568"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Future scope</a:t>
            </a:r>
            <a:endParaRPr lang="en-US" sz="2000" dirty="0"/>
          </a:p>
        </p:txBody>
      </p:sp>
      <p:sp>
        <p:nvSpPr>
          <p:cNvPr id="12" name="Future scope list"/>
          <p:cNvSpPr txBox="1"/>
          <p:nvPr/>
        </p:nvSpPr>
        <p:spPr>
          <a:xfrm>
            <a:off x="6598768"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Semester-long progress tracking per student</a:t>
            </a:r>
            <a:endParaRPr lang="en-US" sz="1600" dirty="0"/>
          </a:p>
          <a:p>
            <a:pPr marL="228600" indent="-228600">
              <a:spcAft>
                <a:spcPts val="1000"/>
              </a:spcAft>
              <a:buSzPct val="100000"/>
              <a:buChar char="•"/>
            </a:pPr>
            <a:r>
              <a:rPr lang="en-US" sz="1600" dirty="0">
                <a:solidFill>
                  <a:schemeClr val="tx1"/>
                </a:solidFill>
              </a:rPr>
              <a:t>Company-specific models and package bands</a:t>
            </a:r>
            <a:endParaRPr lang="en-US" sz="1600" dirty="0"/>
          </a:p>
          <a:p>
            <a:pPr marL="228600" indent="-228600">
              <a:spcAft>
                <a:spcPts val="1000"/>
              </a:spcAft>
              <a:buSzPct val="100000"/>
              <a:buChar char="•"/>
            </a:pPr>
            <a:r>
              <a:rPr lang="en-US" sz="1600" dirty="0">
                <a:solidFill>
                  <a:schemeClr val="tx1"/>
                </a:solidFill>
              </a:rPr>
              <a:t>Effort costs learned from students who improved</a:t>
            </a:r>
            <a:endParaRPr lang="en-US" sz="1600" dirty="0"/>
          </a:p>
          <a:p>
            <a:pPr marL="228600" indent="-228600">
              <a:spcAft>
                <a:spcPts val="1000"/>
              </a:spcAft>
              <a:buSzPct val="100000"/>
              <a:buChar char="•"/>
            </a:pPr>
            <a:r>
              <a:rPr lang="en-US" sz="1600" dirty="0">
                <a:solidFill>
                  <a:schemeClr val="tx1"/>
                </a:solidFill>
              </a:rPr>
              <a:t>WhatsApp/email weekly next-fix nudges</a:t>
            </a:r>
            <a:endParaRPr lang="en-US" sz="1600" dirty="0"/>
          </a:p>
          <a:p>
            <a:pPr marL="228600" indent="-228600">
              <a:spcAft>
                <a:spcPts val="1000"/>
              </a:spcAft>
              <a:buSzPct val="100000"/>
              <a:buChar char="•"/>
            </a:pPr>
            <a:r>
              <a:rPr lang="en-US" sz="1600" dirty="0">
                <a:solidFill>
                  <a:schemeClr val="tx1"/>
                </a:solidFill>
              </a:rPr>
              <a:t>Tamil/English interface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hanks"/>
          <p:cNvSpPr txBox="1"/>
          <p:nvPr/>
        </p:nvSpPr>
        <p:spPr>
          <a:xfrm>
            <a:off x="548640" y="1463040"/>
            <a:ext cx="6400800" cy="1097280"/>
          </a:xfrm>
          <a:prstGeom prst="rect">
            <a:avLst/>
          </a:prstGeom>
          <a:noFill/>
          <a:ln/>
        </p:spPr>
        <p:txBody>
          <a:bodyPr wrap="square" lIns="0" tIns="0" rIns="0" bIns="0" rtlCol="0" anchor="ctr"/>
          <a:lstStyle/>
          <a:p>
            <a:pPr indent="0" marL="0">
              <a:buNone/>
            </a:pPr>
            <a:r>
              <a:rPr lang="en-US" sz="6000" b="1" dirty="0">
                <a:solidFill>
                  <a:schemeClr val="bg1"/>
                </a:solidFill>
              </a:rPr>
              <a:t>Thank you</a:t>
            </a:r>
            <a:endParaRPr lang="en-US" sz="6000" dirty="0"/>
          </a:p>
        </p:txBody>
      </p:sp>
      <p:sp>
        <p:nvSpPr>
          <p:cNvPr id="3" name="Thanks tagline"/>
          <p:cNvSpPr txBox="1"/>
          <p:nvPr/>
        </p:nvSpPr>
        <p:spPr>
          <a:xfrm>
            <a:off x="548640" y="2651760"/>
            <a:ext cx="6400800" cy="822960"/>
          </a:xfrm>
          <a:prstGeom prst="rect">
            <a:avLst/>
          </a:prstGeom>
          <a:noFill/>
          <a:ln/>
        </p:spPr>
        <p:txBody>
          <a:bodyPr wrap="square" lIns="0" tIns="0" rIns="0" bIns="0" rtlCol="0" anchor="t"/>
          <a:lstStyle/>
          <a:p>
            <a:pPr indent="0" marL="0">
              <a:buNone/>
            </a:pPr>
            <a:r>
              <a:rPr lang="en-US" sz="2000" dirty="0">
                <a:solidFill>
                  <a:schemeClr val="accent6"/>
                </a:solidFill>
              </a:rPr>
              <a:t>PlaceIQ · Placement analytics that tells every student what to fix next</a:t>
            </a:r>
            <a:endParaRPr lang="en-US" sz="2000" dirty="0"/>
          </a:p>
        </p:txBody>
      </p:sp>
      <p:sp>
        <p:nvSpPr>
          <p:cNvPr id="4" name="Links"/>
          <p:cNvSpPr txBox="1"/>
          <p:nvPr/>
        </p:nvSpPr>
        <p:spPr>
          <a:xfrm>
            <a:off x="548640" y="3931920"/>
            <a:ext cx="10515600" cy="914400"/>
          </a:xfrm>
          <a:prstGeom prst="rect">
            <a:avLst/>
          </a:prstGeom>
          <a:noFill/>
          <a:ln/>
        </p:spPr>
        <p:txBody>
          <a:bodyPr wrap="square" lIns="0" tIns="0" rIns="0" bIns="0" rtlCol="0" anchor="t"/>
          <a:lstStyle/>
          <a:p>
            <a:pPr indent="0" marL="0">
              <a:spcAft>
                <a:spcPts val="800"/>
              </a:spcAft>
              <a:buNone/>
            </a:pPr>
            <a:r>
              <a:rPr lang="en-US" sz="1500" b="1" dirty="0">
                <a:solidFill>
                  <a:schemeClr val="accent6"/>
                </a:solidFill>
              </a:rPr>
              <a:t>Code  </a:t>
            </a:r>
            <a:pPr indent="0" marL="0">
              <a:spcAft>
                <a:spcPts val="800"/>
              </a:spcAft>
              <a:buNone/>
            </a:pPr>
            <a:r>
              <a:rPr lang="en-US" sz="1500" dirty="0">
                <a:solidFill>
                  <a:schemeClr val="bg1"/>
                </a:solidFill>
              </a:rPr>
              <a:t>https://github.com/jayeskumar/a/tree/claude/confident-fermi-dpeh2g/projects/06-placeiq</a:t>
            </a:r>
            <a:endParaRPr lang="en-US" sz="1500" dirty="0"/>
          </a:p>
          <a:p>
            <a:pPr indent="0" marL="0">
              <a:spcAft>
                <a:spcPts val="800"/>
              </a:spcAft>
              <a:buNone/>
            </a:pPr>
            <a:r>
              <a:rPr lang="en-US" sz="1500" b="1" dirty="0">
                <a:solidFill>
                  <a:schemeClr val="accent6"/>
                </a:solidFill>
              </a:rPr>
              <a:t>Run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cd projects/06-placeiq &amp;&amp; python app.py</a:t>
            </a:r>
            <a:endParaRPr lang="en-US" sz="1500" dirty="0"/>
          </a:p>
        </p:txBody>
      </p:sp>
      <p:sp>
        <p:nvSpPr>
          <p:cNvPr id="5" name="Questions"/>
          <p:cNvSpPr txBox="1"/>
          <p:nvPr/>
        </p:nvSpPr>
        <p:spPr>
          <a:xfrm>
            <a:off x="548640" y="5303520"/>
            <a:ext cx="5486400" cy="640080"/>
          </a:xfrm>
          <a:prstGeom prst="rect">
            <a:avLst/>
          </a:prstGeom>
          <a:noFill/>
          <a:ln/>
        </p:spPr>
        <p:txBody>
          <a:bodyPr wrap="square" lIns="0" tIns="0" rIns="0" bIns="0" rtlCol="0" anchor="ctr"/>
          <a:lstStyle/>
          <a:p>
            <a:pPr indent="0" marL="0">
              <a:buNone/>
            </a:pPr>
            <a:r>
              <a:rPr lang="en-US" sz="2600" b="1" dirty="0">
                <a:solidFill>
                  <a:schemeClr val="accent6"/>
                </a:solidFill>
              </a:rPr>
              <a:t>Questions?</a:t>
            </a:r>
            <a:endParaRPr lang="en-US" sz="2600" dirty="0"/>
          </a:p>
        </p:txBody>
      </p:sp>
      <p:sp>
        <p:nvSpPr>
          <p:cNvPr id="6" name="QR card"/>
          <p:cNvSpPr/>
          <p:nvPr/>
        </p:nvSpPr>
        <p:spPr>
          <a:xfrm>
            <a:off x="9098280" y="1234440"/>
            <a:ext cx="2514600" cy="2514600"/>
          </a:xfrm>
          <a:prstGeom prst="roundRect">
            <a:avLst>
              <a:gd name="adj" fmla="val 4364"/>
            </a:avLst>
          </a:prstGeom>
          <a:solidFill>
            <a:schemeClr val="bg1"/>
          </a:solidFill>
          <a:ln/>
        </p:spPr>
      </p:sp>
      <p:pic>
        <p:nvPicPr>
          <p:cNvPr id="7" name="QR code" descr="QR code linking to the project's code">    </p:cNvPr>
          <p:cNvPicPr>
            <a:picLocks noChangeAspect="1"/>
          </p:cNvPicPr>
          <p:nvPr/>
        </p:nvPicPr>
        <p:blipFill>
          <a:blip r:embed="rId1"/>
          <a:stretch>
            <a:fillRect/>
          </a:stretch>
        </p:blipFill>
        <p:spPr>
          <a:xfrm>
            <a:off x="9189720" y="1325880"/>
            <a:ext cx="2331720" cy="2331720"/>
          </a:xfrm>
          <a:prstGeom prst="rect">
            <a:avLst/>
          </a:prstGeom>
        </p:spPr>
      </p:pic>
      <p:sp>
        <p:nvSpPr>
          <p:cNvPr id="8" name="QR caption"/>
          <p:cNvSpPr txBox="1"/>
          <p:nvPr/>
        </p:nvSpPr>
        <p:spPr>
          <a:xfrm>
            <a:off x="9098280" y="3767328"/>
            <a:ext cx="2514600" cy="274320"/>
          </a:xfrm>
          <a:prstGeom prst="rect">
            <a:avLst/>
          </a:prstGeom>
          <a:noFill/>
          <a:ln/>
        </p:spPr>
        <p:txBody>
          <a:bodyPr wrap="square" lIns="0" tIns="0" rIns="0" bIns="0" rtlCol="0" anchor="ctr"/>
          <a:lstStyle/>
          <a:p>
            <a:pPr algn="ctr" indent="0" marL="0">
              <a:buNone/>
            </a:pPr>
            <a:r>
              <a:rPr lang="en-US" sz="1200" dirty="0">
                <a:solidFill>
                  <a:schemeClr val="accent6"/>
                </a:solidFill>
              </a:rPr>
              <a:t>Scan for the code</a:t>
            </a:r>
            <a:endParaRPr lang="en-US" sz="1200" dirty="0"/>
          </a:p>
        </p:txBody>
      </p:sp>
    </p:spTree>
  </p:cSld>
  <p:clrMapOvr>
    <a:masterClrMapping/>
  </p:clrMapOvr>
</p:sld>
</file>

<file path=ppt/theme/theme1.xml><?xml version="1.0" encoding="utf-8"?>
<a:theme xmlns:a="http://schemas.openxmlformats.org/drawingml/2006/main" name="PlaceIQ QUANTIX">
  <a:themeElements>
    <a:clrScheme name="PlaceIQ QUANTIX">
      <a:dk1>
        <a:srgbClr val="141B34"/>
      </a:dk1>
      <a:lt1>
        <a:srgbClr val="FFFFFF"/>
      </a:lt1>
      <a:dk2>
        <a:srgbClr val="0B1026"/>
      </a:dk2>
      <a:lt2>
        <a:srgbClr val="F3F4F8"/>
      </a:lt2>
      <a:accent1>
        <a:srgbClr val="0EA5E9"/>
      </a:accent1>
      <a:accent2>
        <a:srgbClr val="E2F4FC"/>
      </a:accent2>
      <a:accent3>
        <a:srgbClr val="096B97"/>
      </a:accent3>
      <a:accent4>
        <a:srgbClr val="5B6478"/>
      </a:accent4>
      <a:accent5>
        <a:srgbClr val="0C3151"/>
      </a:accent5>
      <a:accent6>
        <a:srgbClr val="7ACEF3"/>
      </a:accent6>
      <a:hlink>
        <a:srgbClr val="0B84BA"/>
      </a:hlink>
      <a:folHlink>
        <a:srgbClr val="5B6478"/>
      </a:folHlink>
    </a:clrScheme>
    <a:fontScheme name="PlaceIQ QUANTI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PlaceIQ – Placement analytics that tells every student what to fix next</dc:title>
  <dc:subject>QUANTIX 2K26 · Data Science &amp; Analytics</dc:subject>
  <dc:creator>Your Team Name</dc:creator>
  <cp:lastModifiedBy>Your Team Name</cp:lastModifiedBy>
  <cp:revision>1</cp:revision>
  <dcterms:created xsi:type="dcterms:W3CDTF">2026-10-20T08:08:39Z</dcterms:created>
  <dcterms:modified xsi:type="dcterms:W3CDTF">2026-10-20T08:08:39Z</dcterms:modified>
</cp:coreProperties>
</file>