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1d99193-7a74-b183-5399-3a0f06cdc3d5}">
          <p14:sldIdLst>
            <p14:sldId id="256"/>
          </p14:sldIdLst>
        </p14:section>
        <p14:section name="Problem &amp; solution" id="{9cf86b61-4020-0d08-4f70-499feaa8b5d0}">
          <p14:sldIdLst>
            <p14:sldId id="257"/>
            <p14:sldId id="258"/>
          </p14:sldIdLst>
        </p14:section>
        <p14:section name="Product" id="{dd3ac2c1-d526-dd3e-f35d-815a5109ee6f}">
          <p14:sldIdLst>
            <p14:sldId id="259"/>
            <p14:sldId id="260"/>
            <p14:sldId id="261"/>
          </p14:sldIdLst>
        </p14:section>
        <p14:section name="Why us" id="{a074c903-c020-f377-27d0-94e795ccf9d9}">
          <p14:sldIdLst>
            <p14:sldId id="262"/>
            <p14:sldId id="263"/>
          </p14:sldIdLst>
        </p14:section>
        <p14:section name="Demo" id="{71216300-05d6-ed7a-c7b9-82d861b858c2}">
          <p14:sldIdLst>
            <p14:sldId id="264"/>
          </p14:sldIdLst>
        </p14:section>
        <p14:section name="Roadmap" id="{a3170afa-ba1e-ad6e-4136-b13ff187e901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promise: Your offline AI study companion. Introduce the team, then go straight to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Students drown in pages of notes before exams Re-reading is slow; without review, material fades in days AI chatbots need internet and paid keys, and can hallucinate Tier-2/3 colleges often have weak Wi-Fi and costly mobile data Key numbers: ~4.3 crore students in Indian higher education (AISHE 2021-22, approx.); Days for unreviewed material to fade (Ebbinghaus forgetting curve, approx.); ₹0 StudyPilot cost per query: no API key, no data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Solution: Paste or upload notes and get a full revision kit in ~6 ms Summary, concepts, quiz, flashcards and Q&amp;A from your own notes Everything extractive and explained, so nothing is made up Pure Python on any laptop, 100% offline and private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Features: TextRank summary: Adjustable length, per-sentence scores and a similarity graph. Key concepts: RAKE keyphrases as weighted chips with highlighted evidence. Auto quiz: Cloze and MCQ with similar-type distractors and typo-tolerant grading. SM-2 flashcards: Auto-made cards, Again/Hard/Good/Easy, schedule saved locally. Ask your notes: BM25 answers with highlights, confidence and term breakdown. Exam readiness: Mastery per concept from quiz and card history, plus study-next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top to bottom: Browser UI (vanilla JS + SVG) -&gt; tabs, readiness sidebar. app.py ThreadingHTTPServer -&gt; JSON API, validation, cache. text.py -&gt; tokenizer, sentence splitter, stop words, stemmer. textrank / keyphrases / bm25 -&gt; summary, concepts, retrieval. quiz / flashcards / srs -&gt; cloze, MCQ, SM-2 scheduling. mastery + store -&gt; readiness score, data/state.json. Stack: Python 3 stdlib only (http.server, re, math, json), Vanilla HTML/CSS/JS, inline SVG, no CDN, JSON file persistence with atomic writes, unittest: 34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Algorithms: TextRank (PageRank power iteration) – extractive summary. RAKE + occurrence boost – key-concept extraction. Type-similarity ranking – MCQ distractor selection. Okapi BM25 + definition bonus – question answering. SM-2 – spaced-repetition scheduling. Laplace-smoothed mastery – exam-readiness score. Stress that nothing is a black box: every decision can be explained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Differentiators: Hallucination-free: every output is a sentence from your notes Explains every decision: scores, links, distractors, SM-2 changes Closed loop: summary to recall to spaced review to readiness Runs on a ₹15k laptop with Wi-Fi off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Results: 0.526 ROUGE-1 F1 vs reference (Lead-6: 0.465); 100% QA top-3 hit rate on 31 questions (top-1 80.6%); ~6 ms full analysis of a 780-word note set; ~1 ms Ask-your-notes HTTP round trip. Impact: AI study help for students with poor connectivity No subscription, no API cost, no mobile data Notes and progress never leave the device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browser now. 1. Turn Wi-Fi off and click Load demo notes 2. Summary: drag length slider, click Why? and graph nodes 3. Concepts: click a chip to see its evidence 4. Quiz: answer with a typo, check answers, see readiness rise 5. Flashcards: flip, rate Good and Again, see the SM-2 schedule 6. Ask: question with highlights and confidence, then an off-topic 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Business: Free core app for every student College licence: LAN server and class readiness dashboards White-label quiz generation for ed-tech and coaching Premium packs: Tamil/Hindi support, PDF import Next: PDF and offline OCR import Tamil and Hindi tokenisers and stemmers Synonym-aware query expansion FSRS scheduler and exam-date planner Faculty mode with class-level weak-concept 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impact line, invite questions. Keep the demo tab open in case judges want to try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QUANTIX 2K26 · StudyPilot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main"/>
          <p:cNvSpPr txBox="1"/>
          <p:nvPr/>
        </p:nvSpPr>
        <p:spPr>
          <a:xfrm>
            <a:off x="548640" y="1097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ARTIFICIAL INTELLIGENCE &amp; MACHINE LEARNING</a:t>
            </a:r>
            <a:endParaRPr lang="en-US" sz="1200" dirty="0"/>
          </a:p>
        </p:txBody>
      </p:sp>
      <p:sp>
        <p:nvSpPr>
          <p:cNvPr id="3" name="Product name"/>
          <p:cNvSpPr txBox="1"/>
          <p:nvPr/>
        </p:nvSpPr>
        <p:spPr>
          <a:xfrm>
            <a:off x="548640" y="155448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StudyPilot</a:t>
            </a:r>
            <a:endParaRPr lang="en-US" sz="6000" dirty="0"/>
          </a:p>
        </p:txBody>
      </p:sp>
      <p:sp>
        <p:nvSpPr>
          <p:cNvPr id="4" name="Tagline"/>
          <p:cNvSpPr txBox="1"/>
          <p:nvPr/>
        </p:nvSpPr>
        <p:spPr>
          <a:xfrm>
            <a:off x="548640" y="27889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Your offline AI study companion</a:t>
            </a:r>
            <a:endParaRPr lang="en-US" sz="2200" dirty="0"/>
          </a:p>
        </p:txBody>
      </p:sp>
      <p:sp>
        <p:nvSpPr>
          <p:cNvPr id="5" name="Team"/>
          <p:cNvSpPr txBox="1"/>
          <p:nvPr/>
        </p:nvSpPr>
        <p:spPr>
          <a:xfrm>
            <a:off x="548640" y="51206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Your Team Name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QUANTIX 2K26 · 24-hour hackathon · K.S.R. College of Engineering</a:t>
            </a:r>
            <a:endParaRPr lang="en-US" sz="1400" dirty="0"/>
          </a:p>
        </p:txBody>
      </p:sp>
      <p:sp>
        <p:nvSpPr>
          <p:cNvPr id="6" name="Hero screenshot frame"/>
          <p:cNvSpPr/>
          <p:nvPr/>
        </p:nvSpPr>
        <p:spPr>
          <a:xfrm>
            <a:off x="6620256" y="1682496"/>
            <a:ext cx="5047488" cy="3195828"/>
          </a:xfrm>
          <a:prstGeom prst="roundRect">
            <a:avLst>
              <a:gd name="adj" fmla="val 228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Hero screenshot" descr="StudyPilot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737360"/>
            <a:ext cx="493776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problem</a:t>
            </a:r>
            <a:endParaRPr lang="en-US" sz="3600" dirty="0"/>
          </a:p>
        </p:txBody>
      </p:sp>
      <p:sp>
        <p:nvSpPr>
          <p:cNvPr id="3" name="Problem circle"/>
          <p:cNvSpPr/>
          <p:nvPr/>
        </p:nvSpPr>
        <p:spPr>
          <a:xfrm>
            <a:off x="548640" y="3246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Problem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83280"/>
            <a:ext cx="274320" cy="274320"/>
          </a:xfrm>
          <a:prstGeom prst="rect">
            <a:avLst/>
          </a:prstGeom>
        </p:spPr>
      </p:pic>
      <p:sp>
        <p:nvSpPr>
          <p:cNvPr id="5" name="Problem bullets"/>
          <p:cNvSpPr txBox="1"/>
          <p:nvPr/>
        </p:nvSpPr>
        <p:spPr>
          <a:xfrm>
            <a:off x="1325880" y="1325880"/>
            <a:ext cx="5852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Students drown in pages of notes before exams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Re-reading is slow; without review, material fades in days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AI chatbots need internet and paid keys, and can hallucinate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Tier-2/3 colleges often have weak Wi-Fi and costly mobile data</a:t>
            </a:r>
            <a:endParaRPr lang="en-US" sz="2000" dirty="0"/>
          </a:p>
        </p:txBody>
      </p:sp>
      <p:sp>
        <p:nvSpPr>
          <p:cNvPr id="6" name="Stat 1 card"/>
          <p:cNvSpPr/>
          <p:nvPr/>
        </p:nvSpPr>
        <p:spPr>
          <a:xfrm>
            <a:off x="7589520" y="112014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accent2"/>
          </a:solidFill>
          <a:ln/>
        </p:spPr>
      </p:sp>
      <p:sp>
        <p:nvSpPr>
          <p:cNvPr id="7" name="Stat 1 value"/>
          <p:cNvSpPr txBox="1"/>
          <p:nvPr/>
        </p:nvSpPr>
        <p:spPr>
          <a:xfrm>
            <a:off x="7818120" y="122986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~4.3 crore</a:t>
            </a:r>
            <a:endParaRPr lang="en-US" sz="4000" dirty="0"/>
          </a:p>
        </p:txBody>
      </p:sp>
      <p:sp>
        <p:nvSpPr>
          <p:cNvPr id="8" name="Stat 1 label"/>
          <p:cNvSpPr txBox="1"/>
          <p:nvPr/>
        </p:nvSpPr>
        <p:spPr>
          <a:xfrm>
            <a:off x="7818120" y="19613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students in Indian higher education (AISHE 2021-22, approx.)</a:t>
            </a:r>
            <a:endParaRPr lang="en-US" sz="1300" dirty="0"/>
          </a:p>
        </p:txBody>
      </p:sp>
      <p:sp>
        <p:nvSpPr>
          <p:cNvPr id="9" name="Stat 2 card"/>
          <p:cNvSpPr/>
          <p:nvPr/>
        </p:nvSpPr>
        <p:spPr>
          <a:xfrm>
            <a:off x="7589520" y="281178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accent2"/>
          </a:solidFill>
          <a:ln/>
        </p:spPr>
      </p:sp>
      <p:sp>
        <p:nvSpPr>
          <p:cNvPr id="10" name="Stat 2 value"/>
          <p:cNvSpPr txBox="1"/>
          <p:nvPr/>
        </p:nvSpPr>
        <p:spPr>
          <a:xfrm>
            <a:off x="7818120" y="292150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Days</a:t>
            </a:r>
            <a:endParaRPr lang="en-US" sz="4000" dirty="0"/>
          </a:p>
        </p:txBody>
      </p:sp>
      <p:sp>
        <p:nvSpPr>
          <p:cNvPr id="11" name="Stat 2 label"/>
          <p:cNvSpPr txBox="1"/>
          <p:nvPr/>
        </p:nvSpPr>
        <p:spPr>
          <a:xfrm>
            <a:off x="7818120" y="365302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for unreviewed material to fade (Ebbinghaus forgetting curve, approx.)</a:t>
            </a:r>
            <a:endParaRPr lang="en-US" sz="1300" dirty="0"/>
          </a:p>
        </p:txBody>
      </p:sp>
      <p:sp>
        <p:nvSpPr>
          <p:cNvPr id="12" name="Stat 3 card"/>
          <p:cNvSpPr/>
          <p:nvPr/>
        </p:nvSpPr>
        <p:spPr>
          <a:xfrm>
            <a:off x="7589520" y="450342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accent2"/>
          </a:solidFill>
          <a:ln/>
        </p:spPr>
      </p:sp>
      <p:sp>
        <p:nvSpPr>
          <p:cNvPr id="13" name="Stat 3 value"/>
          <p:cNvSpPr txBox="1"/>
          <p:nvPr/>
        </p:nvSpPr>
        <p:spPr>
          <a:xfrm>
            <a:off x="7818120" y="461314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₹0</a:t>
            </a:r>
            <a:endParaRPr lang="en-US" sz="4000" dirty="0"/>
          </a:p>
        </p:txBody>
      </p:sp>
      <p:sp>
        <p:nvSpPr>
          <p:cNvPr id="14" name="Stat 3 label"/>
          <p:cNvSpPr txBox="1"/>
          <p:nvPr/>
        </p:nvSpPr>
        <p:spPr>
          <a:xfrm>
            <a:off x="7818120" y="53446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StudyPilot cost per query: no API key, no data plan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Our solution: StudyPilot</a:t>
            </a:r>
            <a:endParaRPr lang="en-US" sz="3600" dirty="0"/>
          </a:p>
        </p:txBody>
      </p:sp>
      <p:sp>
        <p:nvSpPr>
          <p:cNvPr id="3" name="Solution circle"/>
          <p:cNvSpPr/>
          <p:nvPr/>
        </p:nvSpPr>
        <p:spPr>
          <a:xfrm>
            <a:off x="548640" y="3246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Solu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83280"/>
            <a:ext cx="274320" cy="274320"/>
          </a:xfrm>
          <a:prstGeom prst="rect">
            <a:avLst/>
          </a:prstGeom>
        </p:spPr>
      </p:pic>
      <p:sp>
        <p:nvSpPr>
          <p:cNvPr id="5" name="Solution bullets"/>
          <p:cNvSpPr txBox="1"/>
          <p:nvPr/>
        </p:nvSpPr>
        <p:spPr>
          <a:xfrm>
            <a:off x="1325880" y="1325880"/>
            <a:ext cx="47548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Paste or upload notes and get a full revision kit in ~6 ms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Summary, concepts, quiz, flashcards and Q&amp;A from your own notes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Everything extractive and explained, so nothing is made up</a:t>
            </a:r>
            <a:endParaRPr lang="en-US" sz="20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Pure Python on any laptop, 100% offline and private</a:t>
            </a:r>
            <a:endParaRPr lang="en-US" sz="2000" dirty="0"/>
          </a:p>
        </p:txBody>
      </p:sp>
      <p:sp>
        <p:nvSpPr>
          <p:cNvPr id="6" name="Solution screenshot frame"/>
          <p:cNvSpPr/>
          <p:nvPr/>
        </p:nvSpPr>
        <p:spPr>
          <a:xfrm>
            <a:off x="6391656" y="1545336"/>
            <a:ext cx="5276088" cy="3338703"/>
          </a:xfrm>
          <a:prstGeom prst="roundRect">
            <a:avLst>
              <a:gd name="adj" fmla="val 2191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7" name="Solution screenshot" descr="StudyPilot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600200"/>
            <a:ext cx="5166360" cy="32289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Key features</a:t>
            </a:r>
            <a:endParaRPr lang="en-US" sz="3600" dirty="0"/>
          </a:p>
        </p:txBody>
      </p:sp>
      <p:sp>
        <p:nvSpPr>
          <p:cNvPr id="3" name="Feature 1 card"/>
          <p:cNvSpPr/>
          <p:nvPr/>
        </p:nvSpPr>
        <p:spPr>
          <a:xfrm>
            <a:off x="548640" y="13716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Feature 1 circle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Featur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83080"/>
            <a:ext cx="274320" cy="274320"/>
          </a:xfrm>
          <a:prstGeom prst="rect">
            <a:avLst/>
          </a:prstGeom>
        </p:spPr>
      </p:pic>
      <p:sp>
        <p:nvSpPr>
          <p:cNvPr id="6" name="Feature 1 title"/>
          <p:cNvSpPr txBox="1"/>
          <p:nvPr/>
        </p:nvSpPr>
        <p:spPr>
          <a:xfrm>
            <a:off x="1554480" y="164592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TextRank summary</a:t>
            </a:r>
            <a:endParaRPr lang="en-US" sz="1800" dirty="0"/>
          </a:p>
        </p:txBody>
      </p:sp>
      <p:sp>
        <p:nvSpPr>
          <p:cNvPr id="7" name="Feature 1 text"/>
          <p:cNvSpPr txBox="1"/>
          <p:nvPr/>
        </p:nvSpPr>
        <p:spPr>
          <a:xfrm>
            <a:off x="822960" y="23317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Adjustable length, per-sentence scores and a similarity graph</a:t>
            </a:r>
            <a:endParaRPr lang="en-US" sz="1400" dirty="0"/>
          </a:p>
        </p:txBody>
      </p:sp>
      <p:sp>
        <p:nvSpPr>
          <p:cNvPr id="8" name="Feature 2 card"/>
          <p:cNvSpPr/>
          <p:nvPr/>
        </p:nvSpPr>
        <p:spPr>
          <a:xfrm>
            <a:off x="4338218" y="13716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Feature 2 circle"/>
          <p:cNvSpPr/>
          <p:nvPr/>
        </p:nvSpPr>
        <p:spPr>
          <a:xfrm>
            <a:off x="4612538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Featur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698" y="1783080"/>
            <a:ext cx="274320" cy="274320"/>
          </a:xfrm>
          <a:prstGeom prst="rect">
            <a:avLst/>
          </a:prstGeom>
        </p:spPr>
      </p:pic>
      <p:sp>
        <p:nvSpPr>
          <p:cNvPr id="11" name="Feature 2 title"/>
          <p:cNvSpPr txBox="1"/>
          <p:nvPr/>
        </p:nvSpPr>
        <p:spPr>
          <a:xfrm>
            <a:off x="5344058" y="164592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Key concepts</a:t>
            </a:r>
            <a:endParaRPr lang="en-US" sz="1800" dirty="0"/>
          </a:p>
        </p:txBody>
      </p:sp>
      <p:sp>
        <p:nvSpPr>
          <p:cNvPr id="12" name="Feature 2 text"/>
          <p:cNvSpPr txBox="1"/>
          <p:nvPr/>
        </p:nvSpPr>
        <p:spPr>
          <a:xfrm>
            <a:off x="4612538" y="23317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RAKE keyphrases as weighted chips with highlighted evidence</a:t>
            </a:r>
            <a:endParaRPr lang="en-US" sz="1400" dirty="0"/>
          </a:p>
        </p:txBody>
      </p:sp>
      <p:sp>
        <p:nvSpPr>
          <p:cNvPr id="13" name="Feature 3 card"/>
          <p:cNvSpPr/>
          <p:nvPr/>
        </p:nvSpPr>
        <p:spPr>
          <a:xfrm>
            <a:off x="8127797" y="137160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Feature 3 circle"/>
          <p:cNvSpPr/>
          <p:nvPr/>
        </p:nvSpPr>
        <p:spPr>
          <a:xfrm>
            <a:off x="8402117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Featur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277" y="1783080"/>
            <a:ext cx="274320" cy="274320"/>
          </a:xfrm>
          <a:prstGeom prst="rect">
            <a:avLst/>
          </a:prstGeom>
        </p:spPr>
      </p:pic>
      <p:sp>
        <p:nvSpPr>
          <p:cNvPr id="16" name="Feature 3 title"/>
          <p:cNvSpPr txBox="1"/>
          <p:nvPr/>
        </p:nvSpPr>
        <p:spPr>
          <a:xfrm>
            <a:off x="9133637" y="164592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Auto quiz</a:t>
            </a:r>
            <a:endParaRPr lang="en-US" sz="1800" dirty="0"/>
          </a:p>
        </p:txBody>
      </p:sp>
      <p:sp>
        <p:nvSpPr>
          <p:cNvPr id="17" name="Feature 3 text"/>
          <p:cNvSpPr txBox="1"/>
          <p:nvPr/>
        </p:nvSpPr>
        <p:spPr>
          <a:xfrm>
            <a:off x="8402117" y="233172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Cloze and MCQ with similar-type distractors and typo-tolerant grading</a:t>
            </a:r>
            <a:endParaRPr lang="en-US" sz="1400" dirty="0"/>
          </a:p>
        </p:txBody>
      </p:sp>
      <p:sp>
        <p:nvSpPr>
          <p:cNvPr id="18" name="Feature 4 card"/>
          <p:cNvSpPr/>
          <p:nvPr/>
        </p:nvSpPr>
        <p:spPr>
          <a:xfrm>
            <a:off x="548640" y="384048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Feature 4 circle"/>
          <p:cNvSpPr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Featur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251960"/>
            <a:ext cx="274320" cy="274320"/>
          </a:xfrm>
          <a:prstGeom prst="rect">
            <a:avLst/>
          </a:prstGeom>
        </p:spPr>
      </p:pic>
      <p:sp>
        <p:nvSpPr>
          <p:cNvPr id="21" name="Feature 4 title"/>
          <p:cNvSpPr txBox="1"/>
          <p:nvPr/>
        </p:nvSpPr>
        <p:spPr>
          <a:xfrm>
            <a:off x="1554480" y="411480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SM-2 flashcards</a:t>
            </a:r>
            <a:endParaRPr lang="en-US" sz="1800" dirty="0"/>
          </a:p>
        </p:txBody>
      </p:sp>
      <p:sp>
        <p:nvSpPr>
          <p:cNvPr id="22" name="Feature 4 text"/>
          <p:cNvSpPr txBox="1"/>
          <p:nvPr/>
        </p:nvSpPr>
        <p:spPr>
          <a:xfrm>
            <a:off x="822960" y="48006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Auto-made cards, Again/Hard/Good/Easy, schedule saved locally</a:t>
            </a:r>
            <a:endParaRPr lang="en-US" sz="1400" dirty="0"/>
          </a:p>
        </p:txBody>
      </p:sp>
      <p:sp>
        <p:nvSpPr>
          <p:cNvPr id="23" name="Feature 5 card"/>
          <p:cNvSpPr/>
          <p:nvPr/>
        </p:nvSpPr>
        <p:spPr>
          <a:xfrm>
            <a:off x="4338218" y="384048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4" name="Feature 5 circle"/>
          <p:cNvSpPr/>
          <p:nvPr/>
        </p:nvSpPr>
        <p:spPr>
          <a:xfrm>
            <a:off x="4612538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Feature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9698" y="4251960"/>
            <a:ext cx="274320" cy="274320"/>
          </a:xfrm>
          <a:prstGeom prst="rect">
            <a:avLst/>
          </a:prstGeom>
        </p:spPr>
      </p:pic>
      <p:sp>
        <p:nvSpPr>
          <p:cNvPr id="26" name="Feature 5 title"/>
          <p:cNvSpPr txBox="1"/>
          <p:nvPr/>
        </p:nvSpPr>
        <p:spPr>
          <a:xfrm>
            <a:off x="5344058" y="411480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Ask your notes</a:t>
            </a:r>
            <a:endParaRPr lang="en-US" sz="1800" dirty="0"/>
          </a:p>
        </p:txBody>
      </p:sp>
      <p:sp>
        <p:nvSpPr>
          <p:cNvPr id="27" name="Feature 5 text"/>
          <p:cNvSpPr txBox="1"/>
          <p:nvPr/>
        </p:nvSpPr>
        <p:spPr>
          <a:xfrm>
            <a:off x="4612538" y="48006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BM25 answers with highlights, confidence and term breakdown</a:t>
            </a:r>
            <a:endParaRPr lang="en-US" sz="1400" dirty="0"/>
          </a:p>
        </p:txBody>
      </p:sp>
      <p:sp>
        <p:nvSpPr>
          <p:cNvPr id="28" name="Feature 6 card"/>
          <p:cNvSpPr/>
          <p:nvPr/>
        </p:nvSpPr>
        <p:spPr>
          <a:xfrm>
            <a:off x="8127797" y="3840480"/>
            <a:ext cx="351525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9" name="Feature 6 circle"/>
          <p:cNvSpPr/>
          <p:nvPr/>
        </p:nvSpPr>
        <p:spPr>
          <a:xfrm>
            <a:off x="8402117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Feature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9277" y="4251960"/>
            <a:ext cx="274320" cy="274320"/>
          </a:xfrm>
          <a:prstGeom prst="rect">
            <a:avLst/>
          </a:prstGeom>
        </p:spPr>
      </p:pic>
      <p:sp>
        <p:nvSpPr>
          <p:cNvPr id="31" name="Feature 6 title"/>
          <p:cNvSpPr txBox="1"/>
          <p:nvPr/>
        </p:nvSpPr>
        <p:spPr>
          <a:xfrm>
            <a:off x="9133637" y="4114800"/>
            <a:ext cx="2280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Exam readiness</a:t>
            </a:r>
            <a:endParaRPr lang="en-US" sz="1800" dirty="0"/>
          </a:p>
        </p:txBody>
      </p:sp>
      <p:sp>
        <p:nvSpPr>
          <p:cNvPr id="32" name="Feature 6 text"/>
          <p:cNvSpPr txBox="1"/>
          <p:nvPr/>
        </p:nvSpPr>
        <p:spPr>
          <a:xfrm>
            <a:off x="8402117" y="480060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Mastery per concept from quiz and card history, plus study-next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System architecture</a:t>
            </a:r>
            <a:endParaRPr lang="en-US" sz="3600" dirty="0"/>
          </a:p>
        </p:txBody>
      </p:sp>
      <p:sp>
        <p:nvSpPr>
          <p:cNvPr id="3" name="Layer 1"/>
          <p:cNvSpPr/>
          <p:nvPr/>
        </p:nvSpPr>
        <p:spPr>
          <a:xfrm>
            <a:off x="548640" y="1325880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accent2"/>
          </a:solidFill>
          <a:ln/>
        </p:spPr>
      </p:sp>
      <p:sp>
        <p:nvSpPr>
          <p:cNvPr id="4" name="Layer 1 text"/>
          <p:cNvSpPr txBox="1"/>
          <p:nvPr/>
        </p:nvSpPr>
        <p:spPr>
          <a:xfrm>
            <a:off x="822960" y="1325880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Browser UI (vanilla JS + SVG)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tabs, readiness sidebar</a:t>
            </a:r>
            <a:endParaRPr lang="en-US" sz="1500" dirty="0"/>
          </a:p>
        </p:txBody>
      </p:sp>
      <p:sp>
        <p:nvSpPr>
          <p:cNvPr id="5" name="Arrow 1"/>
          <p:cNvSpPr/>
          <p:nvPr/>
        </p:nvSpPr>
        <p:spPr>
          <a:xfrm>
            <a:off x="4206240" y="1976628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6" name="Layer 2"/>
          <p:cNvSpPr/>
          <p:nvPr/>
        </p:nvSpPr>
        <p:spPr>
          <a:xfrm>
            <a:off x="548640" y="2159508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bg2"/>
          </a:solidFill>
          <a:ln/>
        </p:spPr>
      </p:sp>
      <p:sp>
        <p:nvSpPr>
          <p:cNvPr id="7" name="Layer 2 text"/>
          <p:cNvSpPr txBox="1"/>
          <p:nvPr/>
        </p:nvSpPr>
        <p:spPr>
          <a:xfrm>
            <a:off x="822960" y="2159508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app.py ThreadingHTTPServer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JSON API, validation, cache</a:t>
            </a:r>
            <a:endParaRPr lang="en-US" sz="1500" dirty="0"/>
          </a:p>
        </p:txBody>
      </p:sp>
      <p:sp>
        <p:nvSpPr>
          <p:cNvPr id="8" name="Arrow 2"/>
          <p:cNvSpPr/>
          <p:nvPr/>
        </p:nvSpPr>
        <p:spPr>
          <a:xfrm>
            <a:off x="4206240" y="2810256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9" name="Layer 3"/>
          <p:cNvSpPr/>
          <p:nvPr/>
        </p:nvSpPr>
        <p:spPr>
          <a:xfrm>
            <a:off x="548640" y="2993136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accent2"/>
          </a:solidFill>
          <a:ln/>
        </p:spPr>
      </p:sp>
      <p:sp>
        <p:nvSpPr>
          <p:cNvPr id="10" name="Layer 3 text"/>
          <p:cNvSpPr txBox="1"/>
          <p:nvPr/>
        </p:nvSpPr>
        <p:spPr>
          <a:xfrm>
            <a:off x="822960" y="2993136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text.py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tokenizer, sentence splitter, stop words, stemmer</a:t>
            </a:r>
            <a:endParaRPr lang="en-US" sz="1500" dirty="0"/>
          </a:p>
        </p:txBody>
      </p:sp>
      <p:sp>
        <p:nvSpPr>
          <p:cNvPr id="11" name="Arrow 3"/>
          <p:cNvSpPr/>
          <p:nvPr/>
        </p:nvSpPr>
        <p:spPr>
          <a:xfrm>
            <a:off x="4206240" y="3643884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2" name="Layer 4"/>
          <p:cNvSpPr/>
          <p:nvPr/>
        </p:nvSpPr>
        <p:spPr>
          <a:xfrm>
            <a:off x="548640" y="3826764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bg2"/>
          </a:solidFill>
          <a:ln/>
        </p:spPr>
      </p:sp>
      <p:sp>
        <p:nvSpPr>
          <p:cNvPr id="13" name="Layer 4 text"/>
          <p:cNvSpPr txBox="1"/>
          <p:nvPr/>
        </p:nvSpPr>
        <p:spPr>
          <a:xfrm>
            <a:off x="822960" y="3826764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textrank / keyphrases / bm25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summary, concepts, retrieval</a:t>
            </a:r>
            <a:endParaRPr lang="en-US" sz="1500" dirty="0"/>
          </a:p>
        </p:txBody>
      </p:sp>
      <p:sp>
        <p:nvSpPr>
          <p:cNvPr id="14" name="Arrow 4"/>
          <p:cNvSpPr/>
          <p:nvPr/>
        </p:nvSpPr>
        <p:spPr>
          <a:xfrm>
            <a:off x="4206240" y="4477512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5" name="Layer 5"/>
          <p:cNvSpPr/>
          <p:nvPr/>
        </p:nvSpPr>
        <p:spPr>
          <a:xfrm>
            <a:off x="548640" y="4660392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accent2"/>
          </a:solidFill>
          <a:ln/>
        </p:spPr>
      </p:sp>
      <p:sp>
        <p:nvSpPr>
          <p:cNvPr id="16" name="Layer 5 text"/>
          <p:cNvSpPr txBox="1"/>
          <p:nvPr/>
        </p:nvSpPr>
        <p:spPr>
          <a:xfrm>
            <a:off x="822960" y="4660392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quiz / flashcards / srs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cloze, MCQ, SM-2 scheduling</a:t>
            </a:r>
            <a:endParaRPr lang="en-US" sz="1500" dirty="0"/>
          </a:p>
        </p:txBody>
      </p:sp>
      <p:sp>
        <p:nvSpPr>
          <p:cNvPr id="17" name="Arrow 5"/>
          <p:cNvSpPr/>
          <p:nvPr/>
        </p:nvSpPr>
        <p:spPr>
          <a:xfrm>
            <a:off x="4206240" y="5311140"/>
            <a:ext cx="201168" cy="164592"/>
          </a:xfrm>
          <a:prstGeom prst="downArrow">
            <a:avLst/>
          </a:prstGeom>
          <a:solidFill>
            <a:schemeClr val="accent4"/>
          </a:solidFill>
          <a:ln/>
        </p:spPr>
      </p:sp>
      <p:sp>
        <p:nvSpPr>
          <p:cNvPr id="18" name="Layer 6"/>
          <p:cNvSpPr/>
          <p:nvPr/>
        </p:nvSpPr>
        <p:spPr>
          <a:xfrm>
            <a:off x="548640" y="5494020"/>
            <a:ext cx="7498080" cy="632460"/>
          </a:xfrm>
          <a:prstGeom prst="roundRect">
            <a:avLst>
              <a:gd name="adj" fmla="val 14458"/>
            </a:avLst>
          </a:prstGeom>
          <a:solidFill>
            <a:schemeClr val="bg2"/>
          </a:solidFill>
          <a:ln/>
        </p:spPr>
      </p:sp>
      <p:sp>
        <p:nvSpPr>
          <p:cNvPr id="19" name="Layer 6 text"/>
          <p:cNvSpPr txBox="1"/>
          <p:nvPr/>
        </p:nvSpPr>
        <p:spPr>
          <a:xfrm>
            <a:off x="822960" y="5494020"/>
            <a:ext cx="70408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mastery + store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  readiness score, data/state.json</a:t>
            </a:r>
            <a:endParaRPr lang="en-US" sz="1500" dirty="0"/>
          </a:p>
        </p:txBody>
      </p:sp>
      <p:sp>
        <p:nvSpPr>
          <p:cNvPr id="20" name="Tech card"/>
          <p:cNvSpPr/>
          <p:nvPr/>
        </p:nvSpPr>
        <p:spPr>
          <a:xfrm>
            <a:off x="8412480" y="1325880"/>
            <a:ext cx="3230575" cy="4800600"/>
          </a:xfrm>
          <a:prstGeom prst="roundRect">
            <a:avLst>
              <a:gd name="adj" fmla="val 3397"/>
            </a:avLst>
          </a:prstGeom>
          <a:solidFill>
            <a:schemeClr val="tx2"/>
          </a:solidFill>
          <a:ln/>
        </p:spPr>
      </p:sp>
      <p:sp>
        <p:nvSpPr>
          <p:cNvPr id="21" name="Tech title"/>
          <p:cNvSpPr txBox="1"/>
          <p:nvPr/>
        </p:nvSpPr>
        <p:spPr>
          <a:xfrm>
            <a:off x="868680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Tech stack</a:t>
            </a:r>
            <a:endParaRPr lang="en-US" sz="1800" dirty="0"/>
          </a:p>
        </p:txBody>
      </p:sp>
      <p:sp>
        <p:nvSpPr>
          <p:cNvPr id="22" name="Tech list"/>
          <p:cNvSpPr txBox="1"/>
          <p:nvPr/>
        </p:nvSpPr>
        <p:spPr>
          <a:xfrm>
            <a:off x="8686800" y="210312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Python 3 stdlib only (http.server, re, math, json)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Vanilla HTML/CSS/JS, inline SVG, no CDN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JSON file persistence with atomic writes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unittest: 34 tests</a:t>
            </a:r>
            <a:endParaRPr lang="en-US" sz="1400" dirty="0"/>
          </a:p>
        </p:txBody>
      </p:sp>
      <p:sp>
        <p:nvSpPr>
          <p:cNvPr id="23" name="Offline note"/>
          <p:cNvSpPr txBox="1"/>
          <p:nvPr/>
        </p:nvSpPr>
        <p:spPr>
          <a:xfrm>
            <a:off x="8686800" y="51206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Runs fully offline · no installs · python app.py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Algorithms built from scratch</a:t>
            </a:r>
            <a:endParaRPr lang="en-US" sz="3600" dirty="0"/>
          </a:p>
        </p:txBody>
      </p:sp>
      <p:sp>
        <p:nvSpPr>
          <p:cNvPr id="3" name="Algorithm 1 card"/>
          <p:cNvSpPr/>
          <p:nvPr/>
        </p:nvSpPr>
        <p:spPr>
          <a:xfrm>
            <a:off x="548640" y="137160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4" name="Algorithm 1 number"/>
          <p:cNvSpPr txBox="1"/>
          <p:nvPr/>
        </p:nvSpPr>
        <p:spPr>
          <a:xfrm>
            <a:off x="777240" y="137160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01</a:t>
            </a:r>
            <a:endParaRPr lang="en-US" sz="2800" dirty="0"/>
          </a:p>
        </p:txBody>
      </p:sp>
      <p:sp>
        <p:nvSpPr>
          <p:cNvPr id="5" name="Algorithm 1 text"/>
          <p:cNvSpPr txBox="1"/>
          <p:nvPr/>
        </p:nvSpPr>
        <p:spPr>
          <a:xfrm>
            <a:off x="1554480" y="137160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TextRank (PageRank power iteration)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extractive summary</a:t>
            </a:r>
            <a:endParaRPr lang="en-US" sz="1700" dirty="0"/>
          </a:p>
        </p:txBody>
      </p:sp>
      <p:sp>
        <p:nvSpPr>
          <p:cNvPr id="6" name="Algorithm 2 card"/>
          <p:cNvSpPr/>
          <p:nvPr/>
        </p:nvSpPr>
        <p:spPr>
          <a:xfrm>
            <a:off x="6233008" y="137160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7" name="Algorithm 2 number"/>
          <p:cNvSpPr txBox="1"/>
          <p:nvPr/>
        </p:nvSpPr>
        <p:spPr>
          <a:xfrm>
            <a:off x="6461608" y="137160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02</a:t>
            </a:r>
            <a:endParaRPr lang="en-US" sz="2800" dirty="0"/>
          </a:p>
        </p:txBody>
      </p:sp>
      <p:sp>
        <p:nvSpPr>
          <p:cNvPr id="8" name="Algorithm 2 text"/>
          <p:cNvSpPr txBox="1"/>
          <p:nvPr/>
        </p:nvSpPr>
        <p:spPr>
          <a:xfrm>
            <a:off x="7238848" y="137160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RAKE + occurrence boost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key-concept extraction</a:t>
            </a:r>
            <a:endParaRPr lang="en-US" sz="1700" dirty="0"/>
          </a:p>
        </p:txBody>
      </p:sp>
      <p:sp>
        <p:nvSpPr>
          <p:cNvPr id="9" name="Algorithm 3 card"/>
          <p:cNvSpPr/>
          <p:nvPr/>
        </p:nvSpPr>
        <p:spPr>
          <a:xfrm>
            <a:off x="548640" y="303276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0" name="Algorithm 3 number"/>
          <p:cNvSpPr txBox="1"/>
          <p:nvPr/>
        </p:nvSpPr>
        <p:spPr>
          <a:xfrm>
            <a:off x="777240" y="303276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03</a:t>
            </a:r>
            <a:endParaRPr lang="en-US" sz="2800" dirty="0"/>
          </a:p>
        </p:txBody>
      </p:sp>
      <p:sp>
        <p:nvSpPr>
          <p:cNvPr id="11" name="Algorithm 3 text"/>
          <p:cNvSpPr txBox="1"/>
          <p:nvPr/>
        </p:nvSpPr>
        <p:spPr>
          <a:xfrm>
            <a:off x="1554480" y="303276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Type-similarity ranking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MCQ distractor selection</a:t>
            </a:r>
            <a:endParaRPr lang="en-US" sz="1700" dirty="0"/>
          </a:p>
        </p:txBody>
      </p:sp>
      <p:sp>
        <p:nvSpPr>
          <p:cNvPr id="12" name="Algorithm 4 card"/>
          <p:cNvSpPr/>
          <p:nvPr/>
        </p:nvSpPr>
        <p:spPr>
          <a:xfrm>
            <a:off x="6233008" y="303276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3" name="Algorithm 4 number"/>
          <p:cNvSpPr txBox="1"/>
          <p:nvPr/>
        </p:nvSpPr>
        <p:spPr>
          <a:xfrm>
            <a:off x="6461608" y="303276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04</a:t>
            </a:r>
            <a:endParaRPr lang="en-US" sz="2800" dirty="0"/>
          </a:p>
        </p:txBody>
      </p:sp>
      <p:sp>
        <p:nvSpPr>
          <p:cNvPr id="14" name="Algorithm 4 text"/>
          <p:cNvSpPr txBox="1"/>
          <p:nvPr/>
        </p:nvSpPr>
        <p:spPr>
          <a:xfrm>
            <a:off x="7238848" y="303276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Okapi BM25 + definition bonus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question answering</a:t>
            </a:r>
            <a:endParaRPr lang="en-US" sz="1700" dirty="0"/>
          </a:p>
        </p:txBody>
      </p:sp>
      <p:sp>
        <p:nvSpPr>
          <p:cNvPr id="15" name="Algorithm 5 card"/>
          <p:cNvSpPr/>
          <p:nvPr/>
        </p:nvSpPr>
        <p:spPr>
          <a:xfrm>
            <a:off x="548640" y="469392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6" name="Algorithm 5 number"/>
          <p:cNvSpPr txBox="1"/>
          <p:nvPr/>
        </p:nvSpPr>
        <p:spPr>
          <a:xfrm>
            <a:off x="777240" y="469392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05</a:t>
            </a:r>
            <a:endParaRPr lang="en-US" sz="2800" dirty="0"/>
          </a:p>
        </p:txBody>
      </p:sp>
      <p:sp>
        <p:nvSpPr>
          <p:cNvPr id="17" name="Algorithm 5 text"/>
          <p:cNvSpPr txBox="1"/>
          <p:nvPr/>
        </p:nvSpPr>
        <p:spPr>
          <a:xfrm>
            <a:off x="1554480" y="469392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SM-2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spaced-repetition scheduling</a:t>
            </a:r>
            <a:endParaRPr lang="en-US" sz="1700" dirty="0"/>
          </a:p>
        </p:txBody>
      </p:sp>
      <p:sp>
        <p:nvSpPr>
          <p:cNvPr id="18" name="Algorithm 6 card"/>
          <p:cNvSpPr/>
          <p:nvPr/>
        </p:nvSpPr>
        <p:spPr>
          <a:xfrm>
            <a:off x="6233008" y="4693920"/>
            <a:ext cx="5410048" cy="1432560"/>
          </a:xfrm>
          <a:prstGeom prst="roundRect">
            <a:avLst>
              <a:gd name="adj" fmla="val 6383"/>
            </a:avLst>
          </a:prstGeom>
          <a:solidFill>
            <a:schemeClr val="bg2"/>
          </a:solidFill>
          <a:ln/>
        </p:spPr>
      </p:sp>
      <p:sp>
        <p:nvSpPr>
          <p:cNvPr id="19" name="Algorithm 6 number"/>
          <p:cNvSpPr txBox="1"/>
          <p:nvPr/>
        </p:nvSpPr>
        <p:spPr>
          <a:xfrm>
            <a:off x="6461608" y="4693920"/>
            <a:ext cx="73152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06</a:t>
            </a:r>
            <a:endParaRPr lang="en-US" sz="2800" dirty="0"/>
          </a:p>
        </p:txBody>
      </p:sp>
      <p:sp>
        <p:nvSpPr>
          <p:cNvPr id="20" name="Algorithm 6 text"/>
          <p:cNvSpPr txBox="1"/>
          <p:nvPr/>
        </p:nvSpPr>
        <p:spPr>
          <a:xfrm>
            <a:off x="7238848" y="4693920"/>
            <a:ext cx="4221328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Laplace-smoothed mastery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exam-readiness score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makes it different</a:t>
            </a:r>
            <a:endParaRPr lang="en-US" sz="3600" dirty="0"/>
          </a:p>
        </p:txBody>
      </p:sp>
      <p:sp>
        <p:nvSpPr>
          <p:cNvPr id="3" name="Innovation 1 card"/>
          <p:cNvSpPr/>
          <p:nvPr/>
        </p:nvSpPr>
        <p:spPr>
          <a:xfrm>
            <a:off x="548640" y="137160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accent2"/>
          </a:solidFill>
          <a:ln/>
        </p:spPr>
      </p:sp>
      <p:sp>
        <p:nvSpPr>
          <p:cNvPr id="4" name="Innovation 1 circle"/>
          <p:cNvSpPr/>
          <p:nvPr/>
        </p:nvSpPr>
        <p:spPr>
          <a:xfrm>
            <a:off x="868680" y="21031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nnovation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274570"/>
            <a:ext cx="342900" cy="342900"/>
          </a:xfrm>
          <a:prstGeom prst="rect">
            <a:avLst/>
          </a:prstGeom>
        </p:spPr>
      </p:pic>
      <p:sp>
        <p:nvSpPr>
          <p:cNvPr id="6" name="Innovation 1 text"/>
          <p:cNvSpPr txBox="1"/>
          <p:nvPr/>
        </p:nvSpPr>
        <p:spPr>
          <a:xfrm>
            <a:off x="1783080" y="137160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Hallucination-free: every output is a sentence from your notes</a:t>
            </a:r>
            <a:endParaRPr lang="en-US" sz="2000" dirty="0"/>
          </a:p>
        </p:txBody>
      </p:sp>
      <p:sp>
        <p:nvSpPr>
          <p:cNvPr id="7" name="Innovation 2 card"/>
          <p:cNvSpPr/>
          <p:nvPr/>
        </p:nvSpPr>
        <p:spPr>
          <a:xfrm>
            <a:off x="6233008" y="137160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8" name="Innovation 2 circle"/>
          <p:cNvSpPr/>
          <p:nvPr/>
        </p:nvSpPr>
        <p:spPr>
          <a:xfrm>
            <a:off x="6553048" y="21031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nnovation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498" y="2274570"/>
            <a:ext cx="342900" cy="342900"/>
          </a:xfrm>
          <a:prstGeom prst="rect">
            <a:avLst/>
          </a:prstGeom>
        </p:spPr>
      </p:pic>
      <p:sp>
        <p:nvSpPr>
          <p:cNvPr id="10" name="Innovation 2 text"/>
          <p:cNvSpPr txBox="1"/>
          <p:nvPr/>
        </p:nvSpPr>
        <p:spPr>
          <a:xfrm>
            <a:off x="7467448" y="137160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Explains every decision: scores, links, distractors, SM-2 changes</a:t>
            </a:r>
            <a:endParaRPr lang="en-US" sz="2000" dirty="0"/>
          </a:p>
        </p:txBody>
      </p:sp>
      <p:sp>
        <p:nvSpPr>
          <p:cNvPr id="11" name="Innovation 3 card"/>
          <p:cNvSpPr/>
          <p:nvPr/>
        </p:nvSpPr>
        <p:spPr>
          <a:xfrm>
            <a:off x="548640" y="379476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2" name="Innovation 3 circle"/>
          <p:cNvSpPr/>
          <p:nvPr/>
        </p:nvSpPr>
        <p:spPr>
          <a:xfrm>
            <a:off x="868680" y="4526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nnovation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4697730"/>
            <a:ext cx="342900" cy="342900"/>
          </a:xfrm>
          <a:prstGeom prst="rect">
            <a:avLst/>
          </a:prstGeom>
        </p:spPr>
      </p:pic>
      <p:sp>
        <p:nvSpPr>
          <p:cNvPr id="14" name="Innovation 3 text"/>
          <p:cNvSpPr txBox="1"/>
          <p:nvPr/>
        </p:nvSpPr>
        <p:spPr>
          <a:xfrm>
            <a:off x="1783080" y="379476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Closed loop: summary to recall to spaced review to readiness</a:t>
            </a:r>
            <a:endParaRPr lang="en-US" sz="2000" dirty="0"/>
          </a:p>
        </p:txBody>
      </p:sp>
      <p:sp>
        <p:nvSpPr>
          <p:cNvPr id="15" name="Innovation 4 card"/>
          <p:cNvSpPr/>
          <p:nvPr/>
        </p:nvSpPr>
        <p:spPr>
          <a:xfrm>
            <a:off x="6233008" y="3794760"/>
            <a:ext cx="5410048" cy="2148840"/>
          </a:xfrm>
          <a:prstGeom prst="roundRect">
            <a:avLst>
              <a:gd name="adj" fmla="val 5106"/>
            </a:avLst>
          </a:prstGeom>
          <a:solidFill>
            <a:schemeClr val="accent2"/>
          </a:solidFill>
          <a:ln/>
        </p:spPr>
      </p:sp>
      <p:sp>
        <p:nvSpPr>
          <p:cNvPr id="16" name="Innovation 4 circle"/>
          <p:cNvSpPr/>
          <p:nvPr/>
        </p:nvSpPr>
        <p:spPr>
          <a:xfrm>
            <a:off x="6553048" y="4526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nnovation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498" y="4697730"/>
            <a:ext cx="342900" cy="342900"/>
          </a:xfrm>
          <a:prstGeom prst="rect">
            <a:avLst/>
          </a:prstGeom>
        </p:spPr>
      </p:pic>
      <p:sp>
        <p:nvSpPr>
          <p:cNvPr id="18" name="Innovation 4 text"/>
          <p:cNvSpPr txBox="1"/>
          <p:nvPr/>
        </p:nvSpPr>
        <p:spPr>
          <a:xfrm>
            <a:off x="7467448" y="3794760"/>
            <a:ext cx="3901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Runs on a ₹15k laptop with Wi-Fi off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Measured results</a:t>
            </a:r>
            <a:endParaRPr lang="en-US" sz="3600" dirty="0"/>
          </a:p>
        </p:txBody>
      </p:sp>
      <p:sp>
        <p:nvSpPr>
          <p:cNvPr id="3" name="Result 1 card"/>
          <p:cNvSpPr/>
          <p:nvPr/>
        </p:nvSpPr>
        <p:spPr>
          <a:xfrm>
            <a:off x="548640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Result 1 value"/>
          <p:cNvSpPr txBox="1"/>
          <p:nvPr/>
        </p:nvSpPr>
        <p:spPr>
          <a:xfrm>
            <a:off x="777240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0.526</a:t>
            </a:r>
            <a:endParaRPr lang="en-US" sz="4000" dirty="0"/>
          </a:p>
        </p:txBody>
      </p:sp>
      <p:sp>
        <p:nvSpPr>
          <p:cNvPr id="5" name="Result 1 label"/>
          <p:cNvSpPr txBox="1"/>
          <p:nvPr/>
        </p:nvSpPr>
        <p:spPr>
          <a:xfrm>
            <a:off x="777240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ROUGE-1 F1 vs reference (Lead-6: 0.465)</a:t>
            </a:r>
            <a:endParaRPr lang="en-US" sz="1400" dirty="0"/>
          </a:p>
        </p:txBody>
      </p:sp>
      <p:sp>
        <p:nvSpPr>
          <p:cNvPr id="6" name="Result 2 card"/>
          <p:cNvSpPr/>
          <p:nvPr/>
        </p:nvSpPr>
        <p:spPr>
          <a:xfrm>
            <a:off x="3390824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Result 2 value"/>
          <p:cNvSpPr txBox="1"/>
          <p:nvPr/>
        </p:nvSpPr>
        <p:spPr>
          <a:xfrm>
            <a:off x="3619424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100%</a:t>
            </a:r>
            <a:endParaRPr lang="en-US" sz="4000" dirty="0"/>
          </a:p>
        </p:txBody>
      </p:sp>
      <p:sp>
        <p:nvSpPr>
          <p:cNvPr id="8" name="Result 2 label"/>
          <p:cNvSpPr txBox="1"/>
          <p:nvPr/>
        </p:nvSpPr>
        <p:spPr>
          <a:xfrm>
            <a:off x="3619424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QA top-3 hit rate on 31 questions (top-1 80.6%)</a:t>
            </a:r>
            <a:endParaRPr lang="en-US" sz="1400" dirty="0"/>
          </a:p>
        </p:txBody>
      </p:sp>
      <p:sp>
        <p:nvSpPr>
          <p:cNvPr id="9" name="Result 3 card"/>
          <p:cNvSpPr/>
          <p:nvPr/>
        </p:nvSpPr>
        <p:spPr>
          <a:xfrm>
            <a:off x="6233008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Result 3 value"/>
          <p:cNvSpPr txBox="1"/>
          <p:nvPr/>
        </p:nvSpPr>
        <p:spPr>
          <a:xfrm>
            <a:off x="6461608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~6 ms</a:t>
            </a:r>
            <a:endParaRPr lang="en-US" sz="4000" dirty="0"/>
          </a:p>
        </p:txBody>
      </p:sp>
      <p:sp>
        <p:nvSpPr>
          <p:cNvPr id="11" name="Result 3 label"/>
          <p:cNvSpPr txBox="1"/>
          <p:nvPr/>
        </p:nvSpPr>
        <p:spPr>
          <a:xfrm>
            <a:off x="6461608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full analysis of a 780-word note set</a:t>
            </a:r>
            <a:endParaRPr lang="en-US" sz="1400" dirty="0"/>
          </a:p>
        </p:txBody>
      </p:sp>
      <p:sp>
        <p:nvSpPr>
          <p:cNvPr id="12" name="Result 4 card"/>
          <p:cNvSpPr/>
          <p:nvPr/>
        </p:nvSpPr>
        <p:spPr>
          <a:xfrm>
            <a:off x="9075191" y="1463040"/>
            <a:ext cx="2567864" cy="2377440"/>
          </a:xfrm>
          <a:prstGeom prst="roundRect">
            <a:avLst>
              <a:gd name="adj" fmla="val 461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Result 4 value"/>
          <p:cNvSpPr txBox="1"/>
          <p:nvPr/>
        </p:nvSpPr>
        <p:spPr>
          <a:xfrm>
            <a:off x="9303791" y="1645920"/>
            <a:ext cx="2110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6"/>
                </a:solidFill>
              </a:rPr>
              <a:t>~1 ms</a:t>
            </a:r>
            <a:endParaRPr lang="en-US" sz="4000" dirty="0"/>
          </a:p>
        </p:txBody>
      </p:sp>
      <p:sp>
        <p:nvSpPr>
          <p:cNvPr id="14" name="Result 4 label"/>
          <p:cNvSpPr txBox="1"/>
          <p:nvPr/>
        </p:nvSpPr>
        <p:spPr>
          <a:xfrm>
            <a:off x="9303791" y="27432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Ask-your-notes HTTP round trip</a:t>
            </a:r>
            <a:endParaRPr lang="en-US" sz="1400" dirty="0"/>
          </a:p>
        </p:txBody>
      </p:sp>
      <p:sp>
        <p:nvSpPr>
          <p:cNvPr id="15" name="Results caveat"/>
          <p:cNvSpPr txBox="1"/>
          <p:nvPr/>
        </p:nvSpPr>
        <p:spPr>
          <a:xfrm>
            <a:off x="548640" y="4160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Measured on held-out data generated by the project (see REPORT.md for method). Real-world performance needs field validation.</a:t>
            </a:r>
            <a:endParaRPr lang="en-US" sz="1200" dirty="0"/>
          </a:p>
        </p:txBody>
      </p:sp>
      <p:sp>
        <p:nvSpPr>
          <p:cNvPr id="16" name="Impact strip"/>
          <p:cNvSpPr/>
          <p:nvPr/>
        </p:nvSpPr>
        <p:spPr>
          <a:xfrm>
            <a:off x="548640" y="4754880"/>
            <a:ext cx="11094415" cy="13716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/>
        </p:spPr>
      </p:sp>
      <p:sp>
        <p:nvSpPr>
          <p:cNvPr id="17" name="Impact circle"/>
          <p:cNvSpPr/>
          <p:nvPr/>
        </p:nvSpPr>
        <p:spPr>
          <a:xfrm>
            <a:off x="822960" y="5120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pac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5280660"/>
            <a:ext cx="320040" cy="320040"/>
          </a:xfrm>
          <a:prstGeom prst="rect">
            <a:avLst/>
          </a:prstGeom>
        </p:spPr>
      </p:pic>
      <p:sp>
        <p:nvSpPr>
          <p:cNvPr id="19" name="Impact text"/>
          <p:cNvSpPr txBox="1"/>
          <p:nvPr/>
        </p:nvSpPr>
        <p:spPr>
          <a:xfrm>
            <a:off x="1737360" y="4754880"/>
            <a:ext cx="96313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Impact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AI study help for students with poor connectivity  ·  No subscription, no API cost, no mobile data  ·  Notes and progress never leave the device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Live demo in 3 minutes</a:t>
            </a:r>
            <a:endParaRPr lang="en-US" sz="3600" dirty="0"/>
          </a:p>
        </p:txBody>
      </p:sp>
      <p:sp>
        <p:nvSpPr>
          <p:cNvPr id="3" name="Step 1 dot"/>
          <p:cNvSpPr/>
          <p:nvPr/>
        </p:nvSpPr>
        <p:spPr>
          <a:xfrm>
            <a:off x="548640" y="14721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Step 1 number"/>
          <p:cNvSpPr txBox="1"/>
          <p:nvPr/>
        </p:nvSpPr>
        <p:spPr>
          <a:xfrm>
            <a:off x="548640" y="1472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tep 1 text"/>
          <p:cNvSpPr txBox="1"/>
          <p:nvPr/>
        </p:nvSpPr>
        <p:spPr>
          <a:xfrm>
            <a:off x="1234440" y="137160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Turn Wi-Fi off and click Load demo notes</a:t>
            </a:r>
            <a:endParaRPr lang="en-US" sz="1600" dirty="0"/>
          </a:p>
        </p:txBody>
      </p:sp>
      <p:sp>
        <p:nvSpPr>
          <p:cNvPr id="6" name="Step 2 dot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Step 2 number"/>
          <p:cNvSpPr txBox="1"/>
          <p:nvPr/>
        </p:nvSpPr>
        <p:spPr>
          <a:xfrm>
            <a:off x="54864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Step 2 text"/>
          <p:cNvSpPr txBox="1"/>
          <p:nvPr/>
        </p:nvSpPr>
        <p:spPr>
          <a:xfrm>
            <a:off x="1234440" y="2139696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Summary: drag length slider, click Why? and graph nodes</a:t>
            </a:r>
            <a:endParaRPr lang="en-US" sz="1600" dirty="0"/>
          </a:p>
        </p:txBody>
      </p:sp>
      <p:sp>
        <p:nvSpPr>
          <p:cNvPr id="9" name="Step 3 dot"/>
          <p:cNvSpPr/>
          <p:nvPr/>
        </p:nvSpPr>
        <p:spPr>
          <a:xfrm>
            <a:off x="548640" y="300837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Step 3 number"/>
          <p:cNvSpPr txBox="1"/>
          <p:nvPr/>
        </p:nvSpPr>
        <p:spPr>
          <a:xfrm>
            <a:off x="548640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Step 3 text"/>
          <p:cNvSpPr txBox="1"/>
          <p:nvPr/>
        </p:nvSpPr>
        <p:spPr>
          <a:xfrm>
            <a:off x="1234440" y="2907792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Concepts: click a chip to see its evidence</a:t>
            </a:r>
            <a:endParaRPr lang="en-US" sz="1600" dirty="0"/>
          </a:p>
        </p:txBody>
      </p:sp>
      <p:sp>
        <p:nvSpPr>
          <p:cNvPr id="12" name="Step 4 dot"/>
          <p:cNvSpPr/>
          <p:nvPr/>
        </p:nvSpPr>
        <p:spPr>
          <a:xfrm>
            <a:off x="548640" y="377647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Step 4 number"/>
          <p:cNvSpPr txBox="1"/>
          <p:nvPr/>
        </p:nvSpPr>
        <p:spPr>
          <a:xfrm>
            <a:off x="548640" y="3776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Step 4 text"/>
          <p:cNvSpPr txBox="1"/>
          <p:nvPr/>
        </p:nvSpPr>
        <p:spPr>
          <a:xfrm>
            <a:off x="1234440" y="367588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Quiz: answer with a typo, check answers, see readiness rise</a:t>
            </a:r>
            <a:endParaRPr lang="en-US" sz="1600" dirty="0"/>
          </a:p>
        </p:txBody>
      </p:sp>
      <p:sp>
        <p:nvSpPr>
          <p:cNvPr id="15" name="Step 5 dot"/>
          <p:cNvSpPr/>
          <p:nvPr/>
        </p:nvSpPr>
        <p:spPr>
          <a:xfrm>
            <a:off x="548640" y="45445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Step 5 number"/>
          <p:cNvSpPr txBox="1"/>
          <p:nvPr/>
        </p:nvSpPr>
        <p:spPr>
          <a:xfrm>
            <a:off x="548640" y="4544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Step 5 text"/>
          <p:cNvSpPr txBox="1"/>
          <p:nvPr/>
        </p:nvSpPr>
        <p:spPr>
          <a:xfrm>
            <a:off x="1234440" y="4443984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Flashcards: flip, rate Good and Again, see the SM-2 schedule</a:t>
            </a:r>
            <a:endParaRPr lang="en-US" sz="1600" dirty="0"/>
          </a:p>
        </p:txBody>
      </p:sp>
      <p:sp>
        <p:nvSpPr>
          <p:cNvPr id="18" name="Step 6 dot"/>
          <p:cNvSpPr/>
          <p:nvPr/>
        </p:nvSpPr>
        <p:spPr>
          <a:xfrm>
            <a:off x="548640" y="531266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Step 6 number"/>
          <p:cNvSpPr txBox="1"/>
          <p:nvPr/>
        </p:nvSpPr>
        <p:spPr>
          <a:xfrm>
            <a:off x="548640" y="5312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Step 6 text"/>
          <p:cNvSpPr txBox="1"/>
          <p:nvPr/>
        </p:nvSpPr>
        <p:spPr>
          <a:xfrm>
            <a:off x="1234440" y="521208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Ask: question with highlights and confidence, then an off-topic one</a:t>
            </a:r>
            <a:endParaRPr lang="en-US" sz="1600" dirty="0"/>
          </a:p>
        </p:txBody>
      </p:sp>
      <p:sp>
        <p:nvSpPr>
          <p:cNvPr id="21" name="Demo screenshot frame"/>
          <p:cNvSpPr/>
          <p:nvPr/>
        </p:nvSpPr>
        <p:spPr>
          <a:xfrm>
            <a:off x="6528816" y="1545336"/>
            <a:ext cx="5138928" cy="3252978"/>
          </a:xfrm>
          <a:prstGeom prst="roundRect">
            <a:avLst>
              <a:gd name="adj" fmla="val 2249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2" name="Demo screenshot" descr="StudyPilot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600200"/>
            <a:ext cx="5029200" cy="3143250"/>
          </a:xfrm>
          <a:prstGeom prst="rect">
            <a:avLst/>
          </a:prstGeom>
        </p:spPr>
      </p:pic>
      <p:sp>
        <p:nvSpPr>
          <p:cNvPr id="23" name="Run command"/>
          <p:cNvSpPr txBox="1"/>
          <p:nvPr/>
        </p:nvSpPr>
        <p:spPr>
          <a:xfrm>
            <a:off x="6583680" y="5029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app.py  →  http://localhost:8001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Feasibility, business model &amp; roadmap</a:t>
            </a:r>
            <a:endParaRPr lang="en-US" sz="3600" dirty="0"/>
          </a:p>
        </p:txBody>
      </p:sp>
      <p:sp>
        <p:nvSpPr>
          <p:cNvPr id="3" name="Business model card"/>
          <p:cNvSpPr/>
          <p:nvPr/>
        </p:nvSpPr>
        <p:spPr>
          <a:xfrm>
            <a:off x="548640" y="1371600"/>
            <a:ext cx="5410048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4" name="Business model circle"/>
          <p:cNvSpPr/>
          <p:nvPr/>
        </p:nvSpPr>
        <p:spPr>
          <a:xfrm>
            <a:off x="86868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Business model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83080"/>
            <a:ext cx="274320" cy="274320"/>
          </a:xfrm>
          <a:prstGeom prst="rect">
            <a:avLst/>
          </a:prstGeom>
        </p:spPr>
      </p:pic>
      <p:sp>
        <p:nvSpPr>
          <p:cNvPr id="6" name="Business model title"/>
          <p:cNvSpPr txBox="1"/>
          <p:nvPr/>
        </p:nvSpPr>
        <p:spPr>
          <a:xfrm>
            <a:off x="1600200" y="1645920"/>
            <a:ext cx="403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Business model</a:t>
            </a:r>
            <a:endParaRPr lang="en-US" sz="2000" dirty="0"/>
          </a:p>
        </p:txBody>
      </p:sp>
      <p:sp>
        <p:nvSpPr>
          <p:cNvPr id="7" name="Business model list"/>
          <p:cNvSpPr txBox="1"/>
          <p:nvPr/>
        </p:nvSpPr>
        <p:spPr>
          <a:xfrm>
            <a:off x="914400" y="2468880"/>
            <a:ext cx="46785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Free core app for every student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College licence: LAN server and class readiness dashboards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White-label quiz generation for ed-tech and coaching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Premium packs: Tamil/Hindi support, PDF import</a:t>
            </a:r>
            <a:endParaRPr lang="en-US" sz="1600" dirty="0"/>
          </a:p>
        </p:txBody>
      </p:sp>
      <p:sp>
        <p:nvSpPr>
          <p:cNvPr id="8" name="Future scope card"/>
          <p:cNvSpPr/>
          <p:nvPr/>
        </p:nvSpPr>
        <p:spPr>
          <a:xfrm>
            <a:off x="6233008" y="1371600"/>
            <a:ext cx="5410048" cy="4297680"/>
          </a:xfrm>
          <a:prstGeom prst="roundRect">
            <a:avLst>
              <a:gd name="adj" fmla="val 2553"/>
            </a:avLst>
          </a:prstGeom>
          <a:solidFill>
            <a:schemeClr val="accent2"/>
          </a:solidFill>
          <a:ln/>
        </p:spPr>
      </p:sp>
      <p:sp>
        <p:nvSpPr>
          <p:cNvPr id="9" name="Future scope circle"/>
          <p:cNvSpPr/>
          <p:nvPr/>
        </p:nvSpPr>
        <p:spPr>
          <a:xfrm>
            <a:off x="6553048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Future scop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208" y="1783080"/>
            <a:ext cx="274320" cy="274320"/>
          </a:xfrm>
          <a:prstGeom prst="rect">
            <a:avLst/>
          </a:prstGeom>
        </p:spPr>
      </p:pic>
      <p:sp>
        <p:nvSpPr>
          <p:cNvPr id="11" name="Future scope title"/>
          <p:cNvSpPr txBox="1"/>
          <p:nvPr/>
        </p:nvSpPr>
        <p:spPr>
          <a:xfrm>
            <a:off x="7284568" y="1645920"/>
            <a:ext cx="403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Future scope</a:t>
            </a:r>
            <a:endParaRPr lang="en-US" sz="2000" dirty="0"/>
          </a:p>
        </p:txBody>
      </p:sp>
      <p:sp>
        <p:nvSpPr>
          <p:cNvPr id="12" name="Future scope list"/>
          <p:cNvSpPr txBox="1"/>
          <p:nvPr/>
        </p:nvSpPr>
        <p:spPr>
          <a:xfrm>
            <a:off x="6598768" y="2468880"/>
            <a:ext cx="46785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PDF and offline OCR import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Tamil and Hindi tokenisers and stemmers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Synonym-aware query expansion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FSRS scheduler and exam-date planner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Faculty mode with class-level weak-concept view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s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Thank you</a:t>
            </a:r>
            <a:endParaRPr lang="en-US" sz="6000" dirty="0"/>
          </a:p>
        </p:txBody>
      </p:sp>
      <p:sp>
        <p:nvSpPr>
          <p:cNvPr id="3" name="Thanks tagline"/>
          <p:cNvSpPr txBox="1"/>
          <p:nvPr/>
        </p:nvSpPr>
        <p:spPr>
          <a:xfrm>
            <a:off x="548640" y="26517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StudyPilot · Your offline AI study companion</a:t>
            </a:r>
            <a:endParaRPr lang="en-US" sz="2000" dirty="0"/>
          </a:p>
        </p:txBody>
      </p:sp>
      <p:sp>
        <p:nvSpPr>
          <p:cNvPr id="4" name="Links"/>
          <p:cNvSpPr txBox="1"/>
          <p:nvPr/>
        </p:nvSpPr>
        <p:spPr>
          <a:xfrm>
            <a:off x="548640" y="3931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Code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https://github.com/jayeskumar/a/tree/claude/confident-fermi-dpeh2g/projects/01-studypilot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Run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projects/01-studypilot &amp;&amp; python app.py</a:t>
            </a:r>
            <a:endParaRPr lang="en-US" sz="1500" dirty="0"/>
          </a:p>
        </p:txBody>
      </p:sp>
      <p:sp>
        <p:nvSpPr>
          <p:cNvPr id="5" name="Questions"/>
          <p:cNvSpPr txBox="1"/>
          <p:nvPr/>
        </p:nvSpPr>
        <p:spPr>
          <a:xfrm>
            <a:off x="548640" y="53035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6"/>
                </a:solidFill>
              </a:rPr>
              <a:t>Questions?</a:t>
            </a:r>
            <a:endParaRPr lang="en-US" sz="2600" dirty="0"/>
          </a:p>
        </p:txBody>
      </p:sp>
      <p:sp>
        <p:nvSpPr>
          <p:cNvPr id="6" name="QR card"/>
          <p:cNvSpPr/>
          <p:nvPr/>
        </p:nvSpPr>
        <p:spPr>
          <a:xfrm>
            <a:off x="9098280" y="1234440"/>
            <a:ext cx="2514600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/>
        </p:spPr>
      </p:sp>
      <p:pic>
        <p:nvPicPr>
          <p:cNvPr id="7" name="QR code" descr="QR code linking to the project's 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1325880"/>
            <a:ext cx="2331720" cy="2331720"/>
          </a:xfrm>
          <a:prstGeom prst="rect">
            <a:avLst/>
          </a:prstGeom>
        </p:spPr>
      </p:pic>
      <p:sp>
        <p:nvSpPr>
          <p:cNvPr id="8" name="QR caption"/>
          <p:cNvSpPr txBox="1"/>
          <p:nvPr/>
        </p:nvSpPr>
        <p:spPr>
          <a:xfrm>
            <a:off x="9098280" y="37673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Scan for the code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udyPilot QUANTIX">
  <a:themeElements>
    <a:clrScheme name="StudyPilot QUANTIX">
      <a:dk1>
        <a:srgbClr val="141B34"/>
      </a:dk1>
      <a:lt1>
        <a:srgbClr val="FFFFFF"/>
      </a:lt1>
      <a:dk2>
        <a:srgbClr val="0B1026"/>
      </a:dk2>
      <a:lt2>
        <a:srgbClr val="F3F4F8"/>
      </a:lt2>
      <a:accent1>
        <a:srgbClr val="6C4CF1"/>
      </a:accent1>
      <a:accent2>
        <a:srgbClr val="EDEAFD"/>
      </a:accent2>
      <a:accent3>
        <a:srgbClr val="46319D"/>
      </a:accent3>
      <a:accent4>
        <a:srgbClr val="5B6478"/>
      </a:accent4>
      <a:accent5>
        <a:srgbClr val="201D53"/>
      </a:accent5>
      <a:accent6>
        <a:srgbClr val="AE9DF7"/>
      </a:accent6>
      <a:hlink>
        <a:srgbClr val="563DC1"/>
      </a:hlink>
      <a:folHlink>
        <a:srgbClr val="5B6478"/>
      </a:folHlink>
    </a:clrScheme>
    <a:fontScheme name="StudyPilot QUANTIX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StudyPilot – Your offline AI study companion</dc:title>
  <dc:subject>QUANTIX 2K26 · Artificial Intelligence &amp; Machine Learning</dc:subject>
  <dc:creator>Your Team Name</dc:creator>
  <cp:lastModifiedBy>Your Team Name</cp:lastModifiedBy>
  <cp:revision>1</cp:revision>
  <dcterms:created xsi:type="dcterms:W3CDTF">2026-10-20T08:08:38Z</dcterms:created>
  <dcterms:modified xsi:type="dcterms:W3CDTF">2026-10-20T08:08:38Z</dcterms:modified>
</cp:coreProperties>
</file>