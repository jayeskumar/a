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4c913fb-12e5-f45c-718f-738a54cb77e0}">
          <p14:sldIdLst>
            <p14:sldId id="256"/>
          </p14:sldIdLst>
        </p14:section>
        <p14:section name="Problem &amp; solution" id="{54a3a81d-a017-5c1b-ec41-fe78d65c2331}">
          <p14:sldIdLst>
            <p14:sldId id="257"/>
            <p14:sldId id="258"/>
          </p14:sldIdLst>
        </p14:section>
        <p14:section name="Product" id="{048d3f33-f658-49a5-b0fb-3edf1d797857}">
          <p14:sldIdLst>
            <p14:sldId id="259"/>
            <p14:sldId id="260"/>
            <p14:sldId id="261"/>
          </p14:sldIdLst>
        </p14:section>
        <p14:section name="Why us" id="{ba5d4c33-e668-76d1-e343-cc32cf6b14e5}">
          <p14:sldIdLst>
            <p14:sldId id="262"/>
            <p14:sldId id="263"/>
          </p14:sldIdLst>
        </p14:section>
        <p14:section name="Demo" id="{bf9dc5b2-deb1-09fd-2512-02469c9504e3}">
          <p14:sldIdLst>
            <p14:sldId id="264"/>
          </p14:sldIdLst>
        </p14:section>
        <p14:section name="Roadmap" id="{a7b5d5a1-5a73-71a8-e9ab-22b88a918e19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promise: Explainable scam &amp; phishing detector for SMS, email and links. Introduce the team, then go straight 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Daily flood of fake KYC, EB-bill, parcel, lottery and UPI-collect SMS Students targeted by fake internships that demand a 'registration fee' Spam filters are black boxes: users never learn why a message is dangerous Link checkers need the internet and upload your private messages Key numbers: 10B+ UPI transactions per month (NPCI, approx.); ~1M cyber-fraud complaints a year on the national portal (I4C, approx.); 1930 India's national cyber-fraud helpline.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Paste an SMS, WhatsApp forward, e-mail or link -&gt; risk 0-100 + verdict Naive Bayes text model + URL logistic regression + India-specific rules Highlights the exact words, links, numbers and UPI IDs that raised the alarm Runs 100% offline in pure Python - nothing leaves the device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Features: Explanation panel: Rules fired, NB token weights, link feature contributions, highlighted spans. Link analyser: 28 lexical features: IP host, @ trick, punycode, look-alike brands, cheap TLDs. India-first rules: KYC/PAN, EB cut, UPI collect, job fee, OTP, digital arrest; Tanglish/Hinglish. Bulk scan: Paste 200 lines, get a table of verdicts and main reasons in milliseconds. Spot the scam quiz: 10-question awareness game with explanations and the model's verdict. What to do: Clear next steps: call 1930, report on cybercrime.gov.in, block sender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top to bottom: Browser UI (vanilla JS, SVG charts) -&gt; JSON API on local Python server. extract.py -&gt; finds URLs, phone numbers, UPI IDs with character offsets. Multinomial Naive Bayes -&gt; text probability with per-token LLR. URL features + logistic regression -&gt; link probability with contributions. Rule layer + entity heuristics -&gt; India-specific scam patterns. Noisy-OR combiner -&gt; risk 0-100, verdict, highlights and advice. Stack: Python 3 stdlib (http.server, re, math), Vanilla HTML/CSS/JS, Inline SVG charts, unittest (55 tests), No CDN, no pip, no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Algorithms: Multinomial Naive Bayes (words, bigrams, char 3-4-grams, Laplace) - text. Logistic regression (gradient descent + L2) on 28 URL features - links. Homoglyph map + edit distance - look-alike brand domains. Negation-aware regex rules - India-specific scam patterns. Noisy-OR evidence fusion with temperature + prior calibration. Stress that nothing is a black box: every decision can be explained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Differentiators: Every score decomposes into visible parts - no black box Built for Indian scams and Tanglish/Hinglish text URL risk from characters alone: works on brand-new domains, offline Honest evaluation on unseen message templates, not just a random split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97% accuracy on unseen message templates (n=168); 94% URL model accuracy, 100% precision (n=110); ~1 ms full analysis per message (p50, pure Python); ~1 s training both models from scratch. Impact: Teaches why a message is a scam, so users spot the next variant Protects first-time smartphone users, elders and students Private by design: personal messages are never uploaded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now. 1. Run demo: KYC SMS scores 99 Dangerous with highlighted reasons 2. Bank OTP SMS: 'do not share' negation keeps it Safe 3. Tanglish scam and UPI collect trick explained 4. Bulk scan 15 lines, click a row for its explanation 5. Spot the scam quiz question 6. Model stats: confusion matrices and honest unseen-template score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Business: Free consumer app and awareness kit for colleges and NGOs B2B SDK for banks, telcos and wallets: explainable in-app warnings White-label security-awareness training for companies Opt-in message reporting builds a real labelled dataset Next: Retrain and calibrate on real, consented, labelled SMS data Android app with on-device SMS warnings Tamil and Hindi script support QR-code and screenshot (OCR) checking Optional user-approved domain-age and blocklist lookups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impact line, invite questions. Keep the demo tab open in case judges want to try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QUANTIX 2K26 · PhishGuard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main"/>
          <p:cNvSpPr txBox="1"/>
          <p:nvPr/>
        </p:nvSpPr>
        <p:spPr>
          <a:xfrm>
            <a:off x="54864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CYBERSECURITY &amp; BLOCKCHAIN TECHNOLOGY</a:t>
            </a:r>
            <a:endParaRPr lang="en-US" sz="1200" dirty="0"/>
          </a:p>
        </p:txBody>
      </p:sp>
      <p:sp>
        <p:nvSpPr>
          <p:cNvPr id="3" name="Product name"/>
          <p:cNvSpPr txBox="1"/>
          <p:nvPr/>
        </p:nvSpPr>
        <p:spPr>
          <a:xfrm>
            <a:off x="548640" y="15544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</a:t>
            </a:r>
            <a:endParaRPr lang="en-US" sz="6000" dirty="0"/>
          </a:p>
        </p:txBody>
      </p:sp>
      <p:sp>
        <p:nvSpPr>
          <p:cNvPr id="4" name="Tagline"/>
          <p:cNvSpPr txBox="1"/>
          <p:nvPr/>
        </p:nvSpPr>
        <p:spPr>
          <a:xfrm>
            <a:off x="548640" y="2788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Explainable scam &amp; phishing detector for SMS, email and links</a:t>
            </a:r>
            <a:endParaRPr lang="en-US" sz="2200" dirty="0"/>
          </a:p>
        </p:txBody>
      </p:sp>
      <p:sp>
        <p:nvSpPr>
          <p:cNvPr id="5" name="Team"/>
          <p:cNvSpPr txBox="1"/>
          <p:nvPr/>
        </p:nvSpPr>
        <p:spPr>
          <a:xfrm>
            <a:off x="548640" y="5120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Your Team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QUANTIX 2K26 · 24-hour hackathon · K.S.R. College of Engineering</a:t>
            </a:r>
            <a:endParaRPr lang="en-US" sz="1400" dirty="0"/>
          </a:p>
        </p:txBody>
      </p:sp>
      <p:sp>
        <p:nvSpPr>
          <p:cNvPr id="6" name="Hero screenshot frame"/>
          <p:cNvSpPr/>
          <p:nvPr/>
        </p:nvSpPr>
        <p:spPr>
          <a:xfrm>
            <a:off x="6620256" y="1682496"/>
            <a:ext cx="5047488" cy="3195828"/>
          </a:xfrm>
          <a:prstGeom prst="roundRect">
            <a:avLst>
              <a:gd name="adj" fmla="val 22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Hero screenshot" descr="PhishGu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7373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Problem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Proble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Problem bullets"/>
          <p:cNvSpPr txBox="1"/>
          <p:nvPr/>
        </p:nvSpPr>
        <p:spPr>
          <a:xfrm>
            <a:off x="1325880" y="132588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Daily flood of fake KYC, EB-bill, parcel, lottery and UPI-collect SMS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Students targeted by fake internships that demand a 'registration fee'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Spam filters are black boxes: users never learn why a message is dangerous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Link checkers need the internet and upload your private messages</a:t>
            </a:r>
            <a:endParaRPr lang="en-US" sz="2000" dirty="0"/>
          </a:p>
        </p:txBody>
      </p:sp>
      <p:sp>
        <p:nvSpPr>
          <p:cNvPr id="6" name="Stat 1 card"/>
          <p:cNvSpPr/>
          <p:nvPr/>
        </p:nvSpPr>
        <p:spPr>
          <a:xfrm>
            <a:off x="7589520" y="112014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7" name="Stat 1 value"/>
          <p:cNvSpPr txBox="1"/>
          <p:nvPr/>
        </p:nvSpPr>
        <p:spPr>
          <a:xfrm>
            <a:off x="7818120" y="12298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10B+</a:t>
            </a:r>
            <a:endParaRPr lang="en-US" sz="4000" dirty="0"/>
          </a:p>
        </p:txBody>
      </p:sp>
      <p:sp>
        <p:nvSpPr>
          <p:cNvPr id="8" name="Stat 1 label"/>
          <p:cNvSpPr txBox="1"/>
          <p:nvPr/>
        </p:nvSpPr>
        <p:spPr>
          <a:xfrm>
            <a:off x="7818120" y="19613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UPI transactions per month (NPCI, approx.)</a:t>
            </a:r>
            <a:endParaRPr lang="en-US" sz="1300" dirty="0"/>
          </a:p>
        </p:txBody>
      </p:sp>
      <p:sp>
        <p:nvSpPr>
          <p:cNvPr id="9" name="Stat 2 card"/>
          <p:cNvSpPr/>
          <p:nvPr/>
        </p:nvSpPr>
        <p:spPr>
          <a:xfrm>
            <a:off x="7589520" y="281178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0" name="Stat 2 value"/>
          <p:cNvSpPr txBox="1"/>
          <p:nvPr/>
        </p:nvSpPr>
        <p:spPr>
          <a:xfrm>
            <a:off x="7818120" y="29215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~1M</a:t>
            </a:r>
            <a:endParaRPr lang="en-US" sz="4000" dirty="0"/>
          </a:p>
        </p:txBody>
      </p:sp>
      <p:sp>
        <p:nvSpPr>
          <p:cNvPr id="11" name="Stat 2 label"/>
          <p:cNvSpPr txBox="1"/>
          <p:nvPr/>
        </p:nvSpPr>
        <p:spPr>
          <a:xfrm>
            <a:off x="7818120" y="36530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cyber-fraud complaints a year on the national portal (I4C, approx.)</a:t>
            </a:r>
            <a:endParaRPr lang="en-US" sz="1300" dirty="0"/>
          </a:p>
        </p:txBody>
      </p:sp>
      <p:sp>
        <p:nvSpPr>
          <p:cNvPr id="12" name="Stat 3 card"/>
          <p:cNvSpPr/>
          <p:nvPr/>
        </p:nvSpPr>
        <p:spPr>
          <a:xfrm>
            <a:off x="7589520" y="450342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3" name="Stat 3 value"/>
          <p:cNvSpPr txBox="1"/>
          <p:nvPr/>
        </p:nvSpPr>
        <p:spPr>
          <a:xfrm>
            <a:off x="7818120" y="46131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1930</a:t>
            </a:r>
            <a:endParaRPr lang="en-US" sz="4000" dirty="0"/>
          </a:p>
        </p:txBody>
      </p:sp>
      <p:sp>
        <p:nvSpPr>
          <p:cNvPr id="14" name="Stat 3 label"/>
          <p:cNvSpPr txBox="1"/>
          <p:nvPr/>
        </p:nvSpPr>
        <p:spPr>
          <a:xfrm>
            <a:off x="7818120" y="53446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India's national cyber-fraud helpline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solution: PhishGuard</a:t>
            </a:r>
            <a:endParaRPr lang="en-US" sz="3600" dirty="0"/>
          </a:p>
        </p:txBody>
      </p:sp>
      <p:sp>
        <p:nvSpPr>
          <p:cNvPr id="3" name="Solution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olu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Solution bullets"/>
          <p:cNvSpPr txBox="1"/>
          <p:nvPr/>
        </p:nvSpPr>
        <p:spPr>
          <a:xfrm>
            <a:off x="1325880" y="1325880"/>
            <a:ext cx="4754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Paste an SMS, WhatsApp forward, e-mail or link -&gt; risk 0-100 + verdict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Naive Bayes text model + URL logistic regression + India-specific rules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Highlights the exact words, links, numbers and UPI IDs that raised the alarm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Runs 100% offline in pure Python - nothing leaves the device</a:t>
            </a:r>
            <a:endParaRPr lang="en-US" sz="2000" dirty="0"/>
          </a:p>
        </p:txBody>
      </p:sp>
      <p:sp>
        <p:nvSpPr>
          <p:cNvPr id="6" name="Solution screenshot frame"/>
          <p:cNvSpPr/>
          <p:nvPr/>
        </p:nvSpPr>
        <p:spPr>
          <a:xfrm>
            <a:off x="6391656" y="1545336"/>
            <a:ext cx="5276088" cy="3338703"/>
          </a:xfrm>
          <a:prstGeom prst="roundRect">
            <a:avLst>
              <a:gd name="adj" fmla="val 219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Solution screenshot" descr="PhishGuard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00200"/>
            <a:ext cx="5166360" cy="32289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3" name="Feature 1 card"/>
          <p:cNvSpPr/>
          <p:nvPr/>
        </p:nvSpPr>
        <p:spPr>
          <a:xfrm>
            <a:off x="548640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Feature 1 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274320" cy="274320"/>
          </a:xfrm>
          <a:prstGeom prst="rect">
            <a:avLst/>
          </a:prstGeom>
        </p:spPr>
      </p:pic>
      <p:sp>
        <p:nvSpPr>
          <p:cNvPr id="6" name="Feature 1 title"/>
          <p:cNvSpPr txBox="1"/>
          <p:nvPr/>
        </p:nvSpPr>
        <p:spPr>
          <a:xfrm>
            <a:off x="1554480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Explanation panel</a:t>
            </a:r>
            <a:endParaRPr lang="en-US" sz="1800" dirty="0"/>
          </a:p>
        </p:txBody>
      </p:sp>
      <p:sp>
        <p:nvSpPr>
          <p:cNvPr id="7" name="Feature 1 text"/>
          <p:cNvSpPr txBox="1"/>
          <p:nvPr/>
        </p:nvSpPr>
        <p:spPr>
          <a:xfrm>
            <a:off x="822960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Rules fired, NB token weights, link feature contributions, highlighted spans</a:t>
            </a:r>
            <a:endParaRPr lang="en-US" sz="1400" dirty="0"/>
          </a:p>
        </p:txBody>
      </p:sp>
      <p:sp>
        <p:nvSpPr>
          <p:cNvPr id="8" name="Feature 2 card"/>
          <p:cNvSpPr/>
          <p:nvPr/>
        </p:nvSpPr>
        <p:spPr>
          <a:xfrm>
            <a:off x="4338218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Feature 2 circle"/>
          <p:cNvSpPr/>
          <p:nvPr/>
        </p:nvSpPr>
        <p:spPr>
          <a:xfrm>
            <a:off x="461253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783080"/>
            <a:ext cx="274320" cy="274320"/>
          </a:xfrm>
          <a:prstGeom prst="rect">
            <a:avLst/>
          </a:prstGeom>
        </p:spPr>
      </p:pic>
      <p:sp>
        <p:nvSpPr>
          <p:cNvPr id="11" name="Feature 2 title"/>
          <p:cNvSpPr txBox="1"/>
          <p:nvPr/>
        </p:nvSpPr>
        <p:spPr>
          <a:xfrm>
            <a:off x="5344058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Link analyser</a:t>
            </a:r>
            <a:endParaRPr lang="en-US" sz="1800" dirty="0"/>
          </a:p>
        </p:txBody>
      </p:sp>
      <p:sp>
        <p:nvSpPr>
          <p:cNvPr id="12" name="Feature 2 text"/>
          <p:cNvSpPr txBox="1"/>
          <p:nvPr/>
        </p:nvSpPr>
        <p:spPr>
          <a:xfrm>
            <a:off x="4612538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28 lexical features: IP host, @ trick, punycode, look-alike brands, cheap TLDs</a:t>
            </a:r>
            <a:endParaRPr lang="en-US" sz="1400" dirty="0"/>
          </a:p>
        </p:txBody>
      </p:sp>
      <p:sp>
        <p:nvSpPr>
          <p:cNvPr id="13" name="Feature 3 card"/>
          <p:cNvSpPr/>
          <p:nvPr/>
        </p:nvSpPr>
        <p:spPr>
          <a:xfrm>
            <a:off x="8127797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Feature 3 circle"/>
          <p:cNvSpPr/>
          <p:nvPr/>
        </p:nvSpPr>
        <p:spPr>
          <a:xfrm>
            <a:off x="8402117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1783080"/>
            <a:ext cx="274320" cy="274320"/>
          </a:xfrm>
          <a:prstGeom prst="rect">
            <a:avLst/>
          </a:prstGeom>
        </p:spPr>
      </p:pic>
      <p:sp>
        <p:nvSpPr>
          <p:cNvPr id="16" name="Feature 3 title"/>
          <p:cNvSpPr txBox="1"/>
          <p:nvPr/>
        </p:nvSpPr>
        <p:spPr>
          <a:xfrm>
            <a:off x="9133637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India-first rules</a:t>
            </a:r>
            <a:endParaRPr lang="en-US" sz="1800" dirty="0"/>
          </a:p>
        </p:txBody>
      </p:sp>
      <p:sp>
        <p:nvSpPr>
          <p:cNvPr id="17" name="Feature 3 text"/>
          <p:cNvSpPr txBox="1"/>
          <p:nvPr/>
        </p:nvSpPr>
        <p:spPr>
          <a:xfrm>
            <a:off x="8402117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KYC/PAN, EB cut, UPI collect, job fee, OTP, digital arrest; Tanglish/Hinglish</a:t>
            </a:r>
            <a:endParaRPr lang="en-US" sz="1400" dirty="0"/>
          </a:p>
        </p:txBody>
      </p:sp>
      <p:sp>
        <p:nvSpPr>
          <p:cNvPr id="18" name="Feature 4 card"/>
          <p:cNvSpPr/>
          <p:nvPr/>
        </p:nvSpPr>
        <p:spPr>
          <a:xfrm>
            <a:off x="548640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Feature 4 circle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ea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51960"/>
            <a:ext cx="274320" cy="274320"/>
          </a:xfrm>
          <a:prstGeom prst="rect">
            <a:avLst/>
          </a:prstGeom>
        </p:spPr>
      </p:pic>
      <p:sp>
        <p:nvSpPr>
          <p:cNvPr id="21" name="Feature 4 title"/>
          <p:cNvSpPr txBox="1"/>
          <p:nvPr/>
        </p:nvSpPr>
        <p:spPr>
          <a:xfrm>
            <a:off x="1554480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Bulk scan</a:t>
            </a:r>
            <a:endParaRPr lang="en-US" sz="1800" dirty="0"/>
          </a:p>
        </p:txBody>
      </p:sp>
      <p:sp>
        <p:nvSpPr>
          <p:cNvPr id="22" name="Feature 4 text"/>
          <p:cNvSpPr txBox="1"/>
          <p:nvPr/>
        </p:nvSpPr>
        <p:spPr>
          <a:xfrm>
            <a:off x="822960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Paste 200 lines, get a table of verdicts and main reasons in milliseconds</a:t>
            </a:r>
            <a:endParaRPr lang="en-US" sz="1400" dirty="0"/>
          </a:p>
        </p:txBody>
      </p:sp>
      <p:sp>
        <p:nvSpPr>
          <p:cNvPr id="23" name="Feature 5 card"/>
          <p:cNvSpPr/>
          <p:nvPr/>
        </p:nvSpPr>
        <p:spPr>
          <a:xfrm>
            <a:off x="4338218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Feature 5 circle"/>
          <p:cNvSpPr/>
          <p:nvPr/>
        </p:nvSpPr>
        <p:spPr>
          <a:xfrm>
            <a:off x="4612538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Featur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698" y="4251960"/>
            <a:ext cx="274320" cy="274320"/>
          </a:xfrm>
          <a:prstGeom prst="rect">
            <a:avLst/>
          </a:prstGeom>
        </p:spPr>
      </p:pic>
      <p:sp>
        <p:nvSpPr>
          <p:cNvPr id="26" name="Feature 5 title"/>
          <p:cNvSpPr txBox="1"/>
          <p:nvPr/>
        </p:nvSpPr>
        <p:spPr>
          <a:xfrm>
            <a:off x="5344058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Spot the scam quiz</a:t>
            </a:r>
            <a:endParaRPr lang="en-US" sz="1800" dirty="0"/>
          </a:p>
        </p:txBody>
      </p:sp>
      <p:sp>
        <p:nvSpPr>
          <p:cNvPr id="27" name="Feature 5 text"/>
          <p:cNvSpPr txBox="1"/>
          <p:nvPr/>
        </p:nvSpPr>
        <p:spPr>
          <a:xfrm>
            <a:off x="4612538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10-question awareness game with explanations and the model's verdict</a:t>
            </a:r>
            <a:endParaRPr lang="en-US" sz="1400" dirty="0"/>
          </a:p>
        </p:txBody>
      </p:sp>
      <p:sp>
        <p:nvSpPr>
          <p:cNvPr id="28" name="Feature 6 card"/>
          <p:cNvSpPr/>
          <p:nvPr/>
        </p:nvSpPr>
        <p:spPr>
          <a:xfrm>
            <a:off x="8127797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Feature 6 circle"/>
          <p:cNvSpPr/>
          <p:nvPr/>
        </p:nvSpPr>
        <p:spPr>
          <a:xfrm>
            <a:off x="8402117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Featur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277" y="4251960"/>
            <a:ext cx="274320" cy="274320"/>
          </a:xfrm>
          <a:prstGeom prst="rect">
            <a:avLst/>
          </a:prstGeom>
        </p:spPr>
      </p:pic>
      <p:sp>
        <p:nvSpPr>
          <p:cNvPr id="31" name="Feature 6 title"/>
          <p:cNvSpPr txBox="1"/>
          <p:nvPr/>
        </p:nvSpPr>
        <p:spPr>
          <a:xfrm>
            <a:off x="9133637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to do</a:t>
            </a:r>
            <a:endParaRPr lang="en-US" sz="1800" dirty="0"/>
          </a:p>
        </p:txBody>
      </p:sp>
      <p:sp>
        <p:nvSpPr>
          <p:cNvPr id="32" name="Feature 6 text"/>
          <p:cNvSpPr txBox="1"/>
          <p:nvPr/>
        </p:nvSpPr>
        <p:spPr>
          <a:xfrm>
            <a:off x="8402117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Clear next steps: call 1930, report on cybercrime.gov.in, block sender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Layer 1"/>
          <p:cNvSpPr/>
          <p:nvPr/>
        </p:nvSpPr>
        <p:spPr>
          <a:xfrm>
            <a:off x="548640" y="132588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4" name="Layer 1 text"/>
          <p:cNvSpPr txBox="1"/>
          <p:nvPr/>
        </p:nvSpPr>
        <p:spPr>
          <a:xfrm>
            <a:off x="822960" y="132588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Browser UI (vanilla JS, SVG charts)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JSON API on local Python server</a:t>
            </a:r>
            <a:endParaRPr lang="en-US" sz="1500" dirty="0"/>
          </a:p>
        </p:txBody>
      </p:sp>
      <p:sp>
        <p:nvSpPr>
          <p:cNvPr id="5" name="Arrow 1"/>
          <p:cNvSpPr/>
          <p:nvPr/>
        </p:nvSpPr>
        <p:spPr>
          <a:xfrm>
            <a:off x="4206240" y="1976628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6" name="Layer 2"/>
          <p:cNvSpPr/>
          <p:nvPr/>
        </p:nvSpPr>
        <p:spPr>
          <a:xfrm>
            <a:off x="548640" y="2159508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7" name="Layer 2 text"/>
          <p:cNvSpPr txBox="1"/>
          <p:nvPr/>
        </p:nvSpPr>
        <p:spPr>
          <a:xfrm>
            <a:off x="822960" y="2159508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extract.py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finds URLs, phone numbers, UPI IDs with character offsets</a:t>
            </a:r>
            <a:endParaRPr lang="en-US" sz="1500" dirty="0"/>
          </a:p>
        </p:txBody>
      </p:sp>
      <p:sp>
        <p:nvSpPr>
          <p:cNvPr id="8" name="Arrow 2"/>
          <p:cNvSpPr/>
          <p:nvPr/>
        </p:nvSpPr>
        <p:spPr>
          <a:xfrm>
            <a:off x="4206240" y="2810256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9" name="Layer 3"/>
          <p:cNvSpPr/>
          <p:nvPr/>
        </p:nvSpPr>
        <p:spPr>
          <a:xfrm>
            <a:off x="548640" y="2993136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0" name="Layer 3 text"/>
          <p:cNvSpPr txBox="1"/>
          <p:nvPr/>
        </p:nvSpPr>
        <p:spPr>
          <a:xfrm>
            <a:off x="822960" y="2993136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Multinomial Naive Bayes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text probability with per-token LLR</a:t>
            </a:r>
            <a:endParaRPr lang="en-US" sz="1500" dirty="0"/>
          </a:p>
        </p:txBody>
      </p:sp>
      <p:sp>
        <p:nvSpPr>
          <p:cNvPr id="11" name="Arrow 3"/>
          <p:cNvSpPr/>
          <p:nvPr/>
        </p:nvSpPr>
        <p:spPr>
          <a:xfrm>
            <a:off x="4206240" y="3643884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2" name="Layer 4"/>
          <p:cNvSpPr/>
          <p:nvPr/>
        </p:nvSpPr>
        <p:spPr>
          <a:xfrm>
            <a:off x="548640" y="3826764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3" name="Layer 4 text"/>
          <p:cNvSpPr txBox="1"/>
          <p:nvPr/>
        </p:nvSpPr>
        <p:spPr>
          <a:xfrm>
            <a:off x="822960" y="3826764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URL features + logistic regression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link probability with contributions</a:t>
            </a:r>
            <a:endParaRPr lang="en-US" sz="1500" dirty="0"/>
          </a:p>
        </p:txBody>
      </p:sp>
      <p:sp>
        <p:nvSpPr>
          <p:cNvPr id="14" name="Arrow 4"/>
          <p:cNvSpPr/>
          <p:nvPr/>
        </p:nvSpPr>
        <p:spPr>
          <a:xfrm>
            <a:off x="4206240" y="4477512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5" name="Layer 5"/>
          <p:cNvSpPr/>
          <p:nvPr/>
        </p:nvSpPr>
        <p:spPr>
          <a:xfrm>
            <a:off x="548640" y="4660392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6" name="Layer 5 text"/>
          <p:cNvSpPr txBox="1"/>
          <p:nvPr/>
        </p:nvSpPr>
        <p:spPr>
          <a:xfrm>
            <a:off x="822960" y="4660392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Rule layer + entity heuristics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India-specific scam patterns</a:t>
            </a:r>
            <a:endParaRPr lang="en-US" sz="1500" dirty="0"/>
          </a:p>
        </p:txBody>
      </p:sp>
      <p:sp>
        <p:nvSpPr>
          <p:cNvPr id="17" name="Arrow 5"/>
          <p:cNvSpPr/>
          <p:nvPr/>
        </p:nvSpPr>
        <p:spPr>
          <a:xfrm>
            <a:off x="4206240" y="5311140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8" name="Layer 6"/>
          <p:cNvSpPr/>
          <p:nvPr/>
        </p:nvSpPr>
        <p:spPr>
          <a:xfrm>
            <a:off x="548640" y="549402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9" name="Layer 6 text"/>
          <p:cNvSpPr txBox="1"/>
          <p:nvPr/>
        </p:nvSpPr>
        <p:spPr>
          <a:xfrm>
            <a:off x="822960" y="549402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Noisy-OR combiner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risk 0-100, verdict, highlights and advice</a:t>
            </a:r>
            <a:endParaRPr lang="en-US" sz="1500" dirty="0"/>
          </a:p>
        </p:txBody>
      </p:sp>
      <p:sp>
        <p:nvSpPr>
          <p:cNvPr id="20" name="Tech card"/>
          <p:cNvSpPr/>
          <p:nvPr/>
        </p:nvSpPr>
        <p:spPr>
          <a:xfrm>
            <a:off x="8412480" y="1325880"/>
            <a:ext cx="3230575" cy="4800600"/>
          </a:xfrm>
          <a:prstGeom prst="roundRect">
            <a:avLst>
              <a:gd name="adj" fmla="val 3397"/>
            </a:avLst>
          </a:prstGeom>
          <a:solidFill>
            <a:schemeClr val="tx2"/>
          </a:solidFill>
          <a:ln/>
        </p:spPr>
      </p:sp>
      <p:sp>
        <p:nvSpPr>
          <p:cNvPr id="21" name="Tech title"/>
          <p:cNvSpPr txBox="1"/>
          <p:nvPr/>
        </p:nvSpPr>
        <p:spPr>
          <a:xfrm>
            <a:off x="86868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Tech stack</a:t>
            </a:r>
            <a:endParaRPr lang="en-US" sz="1800" dirty="0"/>
          </a:p>
        </p:txBody>
      </p:sp>
      <p:sp>
        <p:nvSpPr>
          <p:cNvPr id="22" name="Tech list"/>
          <p:cNvSpPr txBox="1"/>
          <p:nvPr/>
        </p:nvSpPr>
        <p:spPr>
          <a:xfrm>
            <a:off x="8686800" y="21031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Python 3 stdlib (http.server, re, math)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Vanilla HTML/CSS/JS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Inline SVG charts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unittest (55 tests)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 CDN, no pip, no network</a:t>
            </a:r>
            <a:endParaRPr lang="en-US" sz="1400" dirty="0"/>
          </a:p>
        </p:txBody>
      </p:sp>
      <p:sp>
        <p:nvSpPr>
          <p:cNvPr id="23" name="Offline note"/>
          <p:cNvSpPr txBox="1"/>
          <p:nvPr/>
        </p:nvSpPr>
        <p:spPr>
          <a:xfrm>
            <a:off x="8686800" y="5120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Runs fully offline · no installs · python app.py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Algorithms built from scratch</a:t>
            </a:r>
            <a:endParaRPr lang="en-US" sz="3600" dirty="0"/>
          </a:p>
        </p:txBody>
      </p:sp>
      <p:sp>
        <p:nvSpPr>
          <p:cNvPr id="3" name="Algorithm 1 card"/>
          <p:cNvSpPr/>
          <p:nvPr/>
        </p:nvSpPr>
        <p:spPr>
          <a:xfrm>
            <a:off x="548640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4" name="Algorithm 1 number"/>
          <p:cNvSpPr txBox="1"/>
          <p:nvPr/>
        </p:nvSpPr>
        <p:spPr>
          <a:xfrm>
            <a:off x="777240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5" name="Algorithm 1 text"/>
          <p:cNvSpPr txBox="1"/>
          <p:nvPr/>
        </p:nvSpPr>
        <p:spPr>
          <a:xfrm>
            <a:off x="1554480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Multinomial Naive Bayes (words, bigrams, char 3-4-grams, Laplace)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text</a:t>
            </a:r>
            <a:endParaRPr lang="en-US" sz="1700" dirty="0"/>
          </a:p>
        </p:txBody>
      </p:sp>
      <p:sp>
        <p:nvSpPr>
          <p:cNvPr id="6" name="Algorithm 2 card"/>
          <p:cNvSpPr/>
          <p:nvPr/>
        </p:nvSpPr>
        <p:spPr>
          <a:xfrm>
            <a:off x="6233008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7" name="Algorithm 2 number"/>
          <p:cNvSpPr txBox="1"/>
          <p:nvPr/>
        </p:nvSpPr>
        <p:spPr>
          <a:xfrm>
            <a:off x="6461608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8" name="Algorithm 2 text"/>
          <p:cNvSpPr txBox="1"/>
          <p:nvPr/>
        </p:nvSpPr>
        <p:spPr>
          <a:xfrm>
            <a:off x="7238848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Logistic regression (gradient descent + L2) on 28 URL features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links</a:t>
            </a:r>
            <a:endParaRPr lang="en-US" sz="1700" dirty="0"/>
          </a:p>
        </p:txBody>
      </p:sp>
      <p:sp>
        <p:nvSpPr>
          <p:cNvPr id="9" name="Algorithm 3 card"/>
          <p:cNvSpPr/>
          <p:nvPr/>
        </p:nvSpPr>
        <p:spPr>
          <a:xfrm>
            <a:off x="548640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0" name="Algorithm 3 number"/>
          <p:cNvSpPr txBox="1"/>
          <p:nvPr/>
        </p:nvSpPr>
        <p:spPr>
          <a:xfrm>
            <a:off x="777240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11" name="Algorithm 3 text"/>
          <p:cNvSpPr txBox="1"/>
          <p:nvPr/>
        </p:nvSpPr>
        <p:spPr>
          <a:xfrm>
            <a:off x="1554480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Homoglyph map + edit distance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look-alike brand domains</a:t>
            </a:r>
            <a:endParaRPr lang="en-US" sz="1700" dirty="0"/>
          </a:p>
        </p:txBody>
      </p:sp>
      <p:sp>
        <p:nvSpPr>
          <p:cNvPr id="12" name="Algorithm 4 card"/>
          <p:cNvSpPr/>
          <p:nvPr/>
        </p:nvSpPr>
        <p:spPr>
          <a:xfrm>
            <a:off x="6233008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3" name="Algorithm 4 number"/>
          <p:cNvSpPr txBox="1"/>
          <p:nvPr/>
        </p:nvSpPr>
        <p:spPr>
          <a:xfrm>
            <a:off x="6461608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04</a:t>
            </a:r>
            <a:endParaRPr lang="en-US" sz="2800" dirty="0"/>
          </a:p>
        </p:txBody>
      </p:sp>
      <p:sp>
        <p:nvSpPr>
          <p:cNvPr id="14" name="Algorithm 4 text"/>
          <p:cNvSpPr txBox="1"/>
          <p:nvPr/>
        </p:nvSpPr>
        <p:spPr>
          <a:xfrm>
            <a:off x="7238848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Negation-aware regex rules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India-specific scam patterns</a:t>
            </a:r>
            <a:endParaRPr lang="en-US" sz="1700" dirty="0"/>
          </a:p>
        </p:txBody>
      </p:sp>
      <p:sp>
        <p:nvSpPr>
          <p:cNvPr id="15" name="Algorithm 5 card"/>
          <p:cNvSpPr/>
          <p:nvPr/>
        </p:nvSpPr>
        <p:spPr>
          <a:xfrm>
            <a:off x="548640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6" name="Algorithm 5 number"/>
          <p:cNvSpPr txBox="1"/>
          <p:nvPr/>
        </p:nvSpPr>
        <p:spPr>
          <a:xfrm>
            <a:off x="777240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05</a:t>
            </a:r>
            <a:endParaRPr lang="en-US" sz="2800" dirty="0"/>
          </a:p>
        </p:txBody>
      </p:sp>
      <p:sp>
        <p:nvSpPr>
          <p:cNvPr id="17" name="Algorithm 5 text"/>
          <p:cNvSpPr txBox="1"/>
          <p:nvPr/>
        </p:nvSpPr>
        <p:spPr>
          <a:xfrm>
            <a:off x="1554480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Noisy-OR evidence fusion with temperature + prior calibration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makes it different</a:t>
            </a:r>
            <a:endParaRPr lang="en-US" sz="3600" dirty="0"/>
          </a:p>
        </p:txBody>
      </p:sp>
      <p:sp>
        <p:nvSpPr>
          <p:cNvPr id="3" name="Innovation 1 card"/>
          <p:cNvSpPr/>
          <p:nvPr/>
        </p:nvSpPr>
        <p:spPr>
          <a:xfrm>
            <a:off x="548640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4" name="Innovation 1 circle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nnovati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274570"/>
            <a:ext cx="342900" cy="342900"/>
          </a:xfrm>
          <a:prstGeom prst="rect">
            <a:avLst/>
          </a:prstGeom>
        </p:spPr>
      </p:pic>
      <p:sp>
        <p:nvSpPr>
          <p:cNvPr id="6" name="Innovation 1 text"/>
          <p:cNvSpPr txBox="1"/>
          <p:nvPr/>
        </p:nvSpPr>
        <p:spPr>
          <a:xfrm>
            <a:off x="1783080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Every score decomposes into visible parts - no black box</a:t>
            </a:r>
            <a:endParaRPr lang="en-US" sz="2000" dirty="0"/>
          </a:p>
        </p:txBody>
      </p:sp>
      <p:sp>
        <p:nvSpPr>
          <p:cNvPr id="7" name="Innovation 2 card"/>
          <p:cNvSpPr/>
          <p:nvPr/>
        </p:nvSpPr>
        <p:spPr>
          <a:xfrm>
            <a:off x="6233008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Innovation 2 circle"/>
          <p:cNvSpPr/>
          <p:nvPr/>
        </p:nvSpPr>
        <p:spPr>
          <a:xfrm>
            <a:off x="6553048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nnovati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274570"/>
            <a:ext cx="342900" cy="342900"/>
          </a:xfrm>
          <a:prstGeom prst="rect">
            <a:avLst/>
          </a:prstGeom>
        </p:spPr>
      </p:pic>
      <p:sp>
        <p:nvSpPr>
          <p:cNvPr id="10" name="Innovation 2 text"/>
          <p:cNvSpPr txBox="1"/>
          <p:nvPr/>
        </p:nvSpPr>
        <p:spPr>
          <a:xfrm>
            <a:off x="7467448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Built for Indian scams and Tanglish/Hinglish text</a:t>
            </a:r>
            <a:endParaRPr lang="en-US" sz="2000" dirty="0"/>
          </a:p>
        </p:txBody>
      </p:sp>
      <p:sp>
        <p:nvSpPr>
          <p:cNvPr id="11" name="Innovation 3 card"/>
          <p:cNvSpPr/>
          <p:nvPr/>
        </p:nvSpPr>
        <p:spPr>
          <a:xfrm>
            <a:off x="548640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2" name="Innovation 3 circle"/>
          <p:cNvSpPr/>
          <p:nvPr/>
        </p:nvSpPr>
        <p:spPr>
          <a:xfrm>
            <a:off x="868680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nnovati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697730"/>
            <a:ext cx="342900" cy="342900"/>
          </a:xfrm>
          <a:prstGeom prst="rect">
            <a:avLst/>
          </a:prstGeom>
        </p:spPr>
      </p:pic>
      <p:sp>
        <p:nvSpPr>
          <p:cNvPr id="14" name="Innovation 3 text"/>
          <p:cNvSpPr txBox="1"/>
          <p:nvPr/>
        </p:nvSpPr>
        <p:spPr>
          <a:xfrm>
            <a:off x="1783080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URL risk from characters alone: works on brand-new domains, offline</a:t>
            </a:r>
            <a:endParaRPr lang="en-US" sz="2000" dirty="0"/>
          </a:p>
        </p:txBody>
      </p:sp>
      <p:sp>
        <p:nvSpPr>
          <p:cNvPr id="15" name="Innovation 4 card"/>
          <p:cNvSpPr/>
          <p:nvPr/>
        </p:nvSpPr>
        <p:spPr>
          <a:xfrm>
            <a:off x="6233008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16" name="Innovation 4 circle"/>
          <p:cNvSpPr/>
          <p:nvPr/>
        </p:nvSpPr>
        <p:spPr>
          <a:xfrm>
            <a:off x="6553048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nnovati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498" y="4697730"/>
            <a:ext cx="342900" cy="342900"/>
          </a:xfrm>
          <a:prstGeom prst="rect">
            <a:avLst/>
          </a:prstGeom>
        </p:spPr>
      </p:pic>
      <p:sp>
        <p:nvSpPr>
          <p:cNvPr id="18" name="Innovation 4 text"/>
          <p:cNvSpPr txBox="1"/>
          <p:nvPr/>
        </p:nvSpPr>
        <p:spPr>
          <a:xfrm>
            <a:off x="7467448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Honest evaluation on unseen message templates, not just a random split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Measured results</a:t>
            </a:r>
            <a:endParaRPr lang="en-US" sz="3600" dirty="0"/>
          </a:p>
        </p:txBody>
      </p:sp>
      <p:sp>
        <p:nvSpPr>
          <p:cNvPr id="3" name="Result 1 card"/>
          <p:cNvSpPr/>
          <p:nvPr/>
        </p:nvSpPr>
        <p:spPr>
          <a:xfrm>
            <a:off x="548640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Result 1 value"/>
          <p:cNvSpPr txBox="1"/>
          <p:nvPr/>
        </p:nvSpPr>
        <p:spPr>
          <a:xfrm>
            <a:off x="777240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97%</a:t>
            </a:r>
            <a:endParaRPr lang="en-US" sz="4000" dirty="0"/>
          </a:p>
        </p:txBody>
      </p:sp>
      <p:sp>
        <p:nvSpPr>
          <p:cNvPr id="5" name="Result 1 label"/>
          <p:cNvSpPr txBox="1"/>
          <p:nvPr/>
        </p:nvSpPr>
        <p:spPr>
          <a:xfrm>
            <a:off x="777240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accuracy on unseen message templates (n=168)</a:t>
            </a:r>
            <a:endParaRPr lang="en-US" sz="1400" dirty="0"/>
          </a:p>
        </p:txBody>
      </p:sp>
      <p:sp>
        <p:nvSpPr>
          <p:cNvPr id="6" name="Result 2 card"/>
          <p:cNvSpPr/>
          <p:nvPr/>
        </p:nvSpPr>
        <p:spPr>
          <a:xfrm>
            <a:off x="3390824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Result 2 value"/>
          <p:cNvSpPr txBox="1"/>
          <p:nvPr/>
        </p:nvSpPr>
        <p:spPr>
          <a:xfrm>
            <a:off x="3619424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94%</a:t>
            </a:r>
            <a:endParaRPr lang="en-US" sz="4000" dirty="0"/>
          </a:p>
        </p:txBody>
      </p:sp>
      <p:sp>
        <p:nvSpPr>
          <p:cNvPr id="8" name="Result 2 label"/>
          <p:cNvSpPr txBox="1"/>
          <p:nvPr/>
        </p:nvSpPr>
        <p:spPr>
          <a:xfrm>
            <a:off x="3619424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URL model accuracy, 100% precision (n=110)</a:t>
            </a:r>
            <a:endParaRPr lang="en-US" sz="1400" dirty="0"/>
          </a:p>
        </p:txBody>
      </p:sp>
      <p:sp>
        <p:nvSpPr>
          <p:cNvPr id="9" name="Result 3 card"/>
          <p:cNvSpPr/>
          <p:nvPr/>
        </p:nvSpPr>
        <p:spPr>
          <a:xfrm>
            <a:off x="6233008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Result 3 value"/>
          <p:cNvSpPr txBox="1"/>
          <p:nvPr/>
        </p:nvSpPr>
        <p:spPr>
          <a:xfrm>
            <a:off x="6461608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~1 ms</a:t>
            </a:r>
            <a:endParaRPr lang="en-US" sz="4000" dirty="0"/>
          </a:p>
        </p:txBody>
      </p:sp>
      <p:sp>
        <p:nvSpPr>
          <p:cNvPr id="11" name="Result 3 label"/>
          <p:cNvSpPr txBox="1"/>
          <p:nvPr/>
        </p:nvSpPr>
        <p:spPr>
          <a:xfrm>
            <a:off x="6461608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full analysis per message (p50, pure Python)</a:t>
            </a:r>
            <a:endParaRPr lang="en-US" sz="1400" dirty="0"/>
          </a:p>
        </p:txBody>
      </p:sp>
      <p:sp>
        <p:nvSpPr>
          <p:cNvPr id="12" name="Result 4 card"/>
          <p:cNvSpPr/>
          <p:nvPr/>
        </p:nvSpPr>
        <p:spPr>
          <a:xfrm>
            <a:off x="9075191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Result 4 value"/>
          <p:cNvSpPr txBox="1"/>
          <p:nvPr/>
        </p:nvSpPr>
        <p:spPr>
          <a:xfrm>
            <a:off x="9303791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~1 s</a:t>
            </a:r>
            <a:endParaRPr lang="en-US" sz="4000" dirty="0"/>
          </a:p>
        </p:txBody>
      </p:sp>
      <p:sp>
        <p:nvSpPr>
          <p:cNvPr id="14" name="Result 4 label"/>
          <p:cNvSpPr txBox="1"/>
          <p:nvPr/>
        </p:nvSpPr>
        <p:spPr>
          <a:xfrm>
            <a:off x="9303791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training both models from scratch</a:t>
            </a:r>
            <a:endParaRPr lang="en-US" sz="1400" dirty="0"/>
          </a:p>
        </p:txBody>
      </p:sp>
      <p:sp>
        <p:nvSpPr>
          <p:cNvPr id="15" name="Results caveat"/>
          <p:cNvSpPr txBox="1"/>
          <p:nvPr/>
        </p:nvSpPr>
        <p:spPr>
          <a:xfrm>
            <a:off x="548640" y="4160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Measured on held-out data generated by the project (see REPORT.md for method). Real-world performance needs field validation.</a:t>
            </a:r>
            <a:endParaRPr lang="en-US" sz="1200" dirty="0"/>
          </a:p>
        </p:txBody>
      </p:sp>
      <p:sp>
        <p:nvSpPr>
          <p:cNvPr id="16" name="Impact strip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17" name="Impact circle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pac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5280660"/>
            <a:ext cx="320040" cy="320040"/>
          </a:xfrm>
          <a:prstGeom prst="rect">
            <a:avLst/>
          </a:prstGeom>
        </p:spPr>
      </p:pic>
      <p:sp>
        <p:nvSpPr>
          <p:cNvPr id="19" name="Impact text"/>
          <p:cNvSpPr txBox="1"/>
          <p:nvPr/>
        </p:nvSpPr>
        <p:spPr>
          <a:xfrm>
            <a:off x="1737360" y="4754880"/>
            <a:ext cx="9631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Impact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Teaches why a message is a scam, so users spot the next variant  ·  Protects first-time smartphone users, elders and students  ·  Private by design: personal messages are never uploaded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Live demo in 3 minutes</a:t>
            </a:r>
            <a:endParaRPr lang="en-US" sz="3600" dirty="0"/>
          </a:p>
        </p:txBody>
      </p:sp>
      <p:sp>
        <p:nvSpPr>
          <p:cNvPr id="3" name="Step 1 dot"/>
          <p:cNvSpPr/>
          <p:nvPr/>
        </p:nvSpPr>
        <p:spPr>
          <a:xfrm>
            <a:off x="548640" y="1472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tep 1 number"/>
          <p:cNvSpPr txBox="1"/>
          <p:nvPr/>
        </p:nvSpPr>
        <p:spPr>
          <a:xfrm>
            <a:off x="548640" y="1472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 text"/>
          <p:cNvSpPr txBox="1"/>
          <p:nvPr/>
        </p:nvSpPr>
        <p:spPr>
          <a:xfrm>
            <a:off x="1234440" y="137160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Run demo: KYC SMS scores 99 Dangerous with highlighted reasons</a:t>
            </a:r>
            <a:endParaRPr lang="en-US" sz="1600" dirty="0"/>
          </a:p>
        </p:txBody>
      </p:sp>
      <p:sp>
        <p:nvSpPr>
          <p:cNvPr id="6" name="Step 2 dot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 2 number"/>
          <p:cNvSpPr txBox="1"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2 text"/>
          <p:cNvSpPr txBox="1"/>
          <p:nvPr/>
        </p:nvSpPr>
        <p:spPr>
          <a:xfrm>
            <a:off x="1234440" y="213969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Bank OTP SMS: 'do not share' negation keeps it Safe</a:t>
            </a:r>
            <a:endParaRPr lang="en-US" sz="1600" dirty="0"/>
          </a:p>
        </p:txBody>
      </p:sp>
      <p:sp>
        <p:nvSpPr>
          <p:cNvPr id="9" name="Step 3 dot"/>
          <p:cNvSpPr/>
          <p:nvPr/>
        </p:nvSpPr>
        <p:spPr>
          <a:xfrm>
            <a:off x="548640" y="30083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3 number"/>
          <p:cNvSpPr txBox="1"/>
          <p:nvPr/>
        </p:nvSpPr>
        <p:spPr>
          <a:xfrm>
            <a:off x="54864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3 text"/>
          <p:cNvSpPr txBox="1"/>
          <p:nvPr/>
        </p:nvSpPr>
        <p:spPr>
          <a:xfrm>
            <a:off x="1234440" y="290779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Tanglish scam and UPI collect trick explained</a:t>
            </a:r>
            <a:endParaRPr lang="en-US" sz="1600" dirty="0"/>
          </a:p>
        </p:txBody>
      </p:sp>
      <p:sp>
        <p:nvSpPr>
          <p:cNvPr id="12" name="Step 4 dot"/>
          <p:cNvSpPr/>
          <p:nvPr/>
        </p:nvSpPr>
        <p:spPr>
          <a:xfrm>
            <a:off x="548640" y="37764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ep 4 number"/>
          <p:cNvSpPr txBox="1"/>
          <p:nvPr/>
        </p:nvSpPr>
        <p:spPr>
          <a:xfrm>
            <a:off x="54864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tep 4 text"/>
          <p:cNvSpPr txBox="1"/>
          <p:nvPr/>
        </p:nvSpPr>
        <p:spPr>
          <a:xfrm>
            <a:off x="1234440" y="367588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Bulk scan 15 lines, click a row for its explanation</a:t>
            </a:r>
            <a:endParaRPr lang="en-US" sz="1600" dirty="0"/>
          </a:p>
        </p:txBody>
      </p:sp>
      <p:sp>
        <p:nvSpPr>
          <p:cNvPr id="15" name="Step 5 dot"/>
          <p:cNvSpPr/>
          <p:nvPr/>
        </p:nvSpPr>
        <p:spPr>
          <a:xfrm>
            <a:off x="548640" y="45445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5 number"/>
          <p:cNvSpPr txBox="1"/>
          <p:nvPr/>
        </p:nvSpPr>
        <p:spPr>
          <a:xfrm>
            <a:off x="54864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Step 5 text"/>
          <p:cNvSpPr txBox="1"/>
          <p:nvPr/>
        </p:nvSpPr>
        <p:spPr>
          <a:xfrm>
            <a:off x="1234440" y="444398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Spot the scam quiz question</a:t>
            </a:r>
            <a:endParaRPr lang="en-US" sz="1600" dirty="0"/>
          </a:p>
        </p:txBody>
      </p:sp>
      <p:sp>
        <p:nvSpPr>
          <p:cNvPr id="18" name="Step 6 dot"/>
          <p:cNvSpPr/>
          <p:nvPr/>
        </p:nvSpPr>
        <p:spPr>
          <a:xfrm>
            <a:off x="548640" y="53126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tep 6 number"/>
          <p:cNvSpPr txBox="1"/>
          <p:nvPr/>
        </p:nvSpPr>
        <p:spPr>
          <a:xfrm>
            <a:off x="548640" y="5312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Step 6 text"/>
          <p:cNvSpPr txBox="1"/>
          <p:nvPr/>
        </p:nvSpPr>
        <p:spPr>
          <a:xfrm>
            <a:off x="1234440" y="521208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Model stats: confusion matrices and honest unseen-template score</a:t>
            </a:r>
            <a:endParaRPr lang="en-US" sz="1600" dirty="0"/>
          </a:p>
        </p:txBody>
      </p:sp>
      <p:sp>
        <p:nvSpPr>
          <p:cNvPr id="21" name="Demo screenshot frame"/>
          <p:cNvSpPr/>
          <p:nvPr/>
        </p:nvSpPr>
        <p:spPr>
          <a:xfrm>
            <a:off x="6528816" y="1545336"/>
            <a:ext cx="5138928" cy="3252978"/>
          </a:xfrm>
          <a:prstGeom prst="roundRect">
            <a:avLst>
              <a:gd name="adj" fmla="val 224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Demo screenshot" descr="PhishGu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00200"/>
            <a:ext cx="5029200" cy="3143250"/>
          </a:xfrm>
          <a:prstGeom prst="rect">
            <a:avLst/>
          </a:prstGeom>
        </p:spPr>
      </p:pic>
      <p:sp>
        <p:nvSpPr>
          <p:cNvPr id="23" name="Run command"/>
          <p:cNvSpPr txBox="1"/>
          <p:nvPr/>
        </p:nvSpPr>
        <p:spPr>
          <a:xfrm>
            <a:off x="6583680" y="5029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  →  http://localhost:8007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Feasibility, business model &amp; roadmap</a:t>
            </a:r>
            <a:endParaRPr lang="en-US" sz="3600" dirty="0"/>
          </a:p>
        </p:txBody>
      </p:sp>
      <p:sp>
        <p:nvSpPr>
          <p:cNvPr id="3" name="Business model card"/>
          <p:cNvSpPr/>
          <p:nvPr/>
        </p:nvSpPr>
        <p:spPr>
          <a:xfrm>
            <a:off x="548640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Business model circle"/>
          <p:cNvSpPr/>
          <p:nvPr/>
        </p:nvSpPr>
        <p:spPr>
          <a:xfrm>
            <a:off x="86868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Business mode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274320" cy="274320"/>
          </a:xfrm>
          <a:prstGeom prst="rect">
            <a:avLst/>
          </a:prstGeom>
        </p:spPr>
      </p:pic>
      <p:sp>
        <p:nvSpPr>
          <p:cNvPr id="6" name="Business model title"/>
          <p:cNvSpPr txBox="1"/>
          <p:nvPr/>
        </p:nvSpPr>
        <p:spPr>
          <a:xfrm>
            <a:off x="1600200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Business model</a:t>
            </a:r>
            <a:endParaRPr lang="en-US" sz="2000" dirty="0"/>
          </a:p>
        </p:txBody>
      </p:sp>
      <p:sp>
        <p:nvSpPr>
          <p:cNvPr id="7" name="Business model list"/>
          <p:cNvSpPr txBox="1"/>
          <p:nvPr/>
        </p:nvSpPr>
        <p:spPr>
          <a:xfrm>
            <a:off x="914400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Free consumer app and awareness kit for colleges and NGOs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B2B SDK for banks, telcos and wallets: explainable in-app warnings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White-label security-awareness training for companies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Opt-in message reporting builds a real labelled dataset</a:t>
            </a:r>
            <a:endParaRPr lang="en-US" sz="1600" dirty="0"/>
          </a:p>
        </p:txBody>
      </p:sp>
      <p:sp>
        <p:nvSpPr>
          <p:cNvPr id="8" name="Future scope card"/>
          <p:cNvSpPr/>
          <p:nvPr/>
        </p:nvSpPr>
        <p:spPr>
          <a:xfrm>
            <a:off x="6233008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accent2"/>
          </a:solidFill>
          <a:ln/>
        </p:spPr>
      </p:sp>
      <p:sp>
        <p:nvSpPr>
          <p:cNvPr id="9" name="Future scope circle"/>
          <p:cNvSpPr/>
          <p:nvPr/>
        </p:nvSpPr>
        <p:spPr>
          <a:xfrm>
            <a:off x="655304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uture scop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1783080"/>
            <a:ext cx="274320" cy="274320"/>
          </a:xfrm>
          <a:prstGeom prst="rect">
            <a:avLst/>
          </a:prstGeom>
        </p:spPr>
      </p:pic>
      <p:sp>
        <p:nvSpPr>
          <p:cNvPr id="11" name="Future scope title"/>
          <p:cNvSpPr txBox="1"/>
          <p:nvPr/>
        </p:nvSpPr>
        <p:spPr>
          <a:xfrm>
            <a:off x="7284568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12" name="Future scope list"/>
          <p:cNvSpPr txBox="1"/>
          <p:nvPr/>
        </p:nvSpPr>
        <p:spPr>
          <a:xfrm>
            <a:off x="6598768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Retrain and calibrate on real, consented, labelled SMS data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Android app with on-device SMS warnings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Tamil and Hindi script support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QR-code and screenshot (OCR) checking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Optional user-approved domain-age and blocklist lookups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hanks tagline"/>
          <p:cNvSpPr txBox="1"/>
          <p:nvPr/>
        </p:nvSpPr>
        <p:spPr>
          <a:xfrm>
            <a:off x="54864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PhishGuard · Explainable scam &amp; phishing detector for SMS, email and links</a:t>
            </a:r>
            <a:endParaRPr lang="en-US" sz="2000" dirty="0"/>
          </a:p>
        </p:txBody>
      </p:sp>
      <p:sp>
        <p:nvSpPr>
          <p:cNvPr id="4" name="Links"/>
          <p:cNvSpPr txBox="1"/>
          <p:nvPr/>
        </p:nvSpPr>
        <p:spPr>
          <a:xfrm>
            <a:off x="548640" y="3931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Code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https://github.com/jayeskumar/a/tree/claude/confident-fermi-dpeh2g/projects/07-phishguard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Run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projects/07-phishguard &amp;&amp; python app.py</a:t>
            </a:r>
            <a:endParaRPr lang="en-US" sz="1500" dirty="0"/>
          </a:p>
        </p:txBody>
      </p:sp>
      <p:sp>
        <p:nvSpPr>
          <p:cNvPr id="5" name="Questions"/>
          <p:cNvSpPr txBox="1"/>
          <p:nvPr/>
        </p:nvSpPr>
        <p:spPr>
          <a:xfrm>
            <a:off x="548640" y="5303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Questions?</a:t>
            </a:r>
            <a:endParaRPr lang="en-US" sz="2600" dirty="0"/>
          </a:p>
        </p:txBody>
      </p:sp>
      <p:sp>
        <p:nvSpPr>
          <p:cNvPr id="6" name="QR card"/>
          <p:cNvSpPr/>
          <p:nvPr/>
        </p:nvSpPr>
        <p:spPr>
          <a:xfrm>
            <a:off x="9098280" y="1234440"/>
            <a:ext cx="251460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</p:spPr>
      </p:sp>
      <p:pic>
        <p:nvPicPr>
          <p:cNvPr id="7" name="QR code" descr="QR code linking to the project's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325880"/>
            <a:ext cx="2331720" cy="2331720"/>
          </a:xfrm>
          <a:prstGeom prst="rect">
            <a:avLst/>
          </a:prstGeom>
        </p:spPr>
      </p:pic>
      <p:sp>
        <p:nvSpPr>
          <p:cNvPr id="8" name="QR caption"/>
          <p:cNvSpPr txBox="1"/>
          <p:nvPr/>
        </p:nvSpPr>
        <p:spPr>
          <a:xfrm>
            <a:off x="9098280" y="37673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Scan for the code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ishGuard QUANTIX">
  <a:themeElements>
    <a:clrScheme name="PhishGuard QUANTIX">
      <a:dk1>
        <a:srgbClr val="141B34"/>
      </a:dk1>
      <a:lt1>
        <a:srgbClr val="FFFFFF"/>
      </a:lt1>
      <a:dk2>
        <a:srgbClr val="0B1026"/>
      </a:dk2>
      <a:lt2>
        <a:srgbClr val="F3F4F8"/>
      </a:lt2>
      <a:accent1>
        <a:srgbClr val="F59E0B"/>
      </a:accent1>
      <a:accent2>
        <a:srgbClr val="FEF3E2"/>
      </a:accent2>
      <a:accent3>
        <a:srgbClr val="9F6707"/>
      </a:accent3>
      <a:accent4>
        <a:srgbClr val="5B6478"/>
      </a:accent4>
      <a:accent5>
        <a:srgbClr val="3E2F20"/>
      </a:accent5>
      <a:accent6>
        <a:srgbClr val="FACA79"/>
      </a:accent6>
      <a:hlink>
        <a:srgbClr val="C47E09"/>
      </a:hlink>
      <a:folHlink>
        <a:srgbClr val="5B6478"/>
      </a:folHlink>
    </a:clrScheme>
    <a:fontScheme name="PhishGuard QUANTI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PhishGuard – Explainable scam &amp; phishing detector for SMS, email and links</dc:title>
  <dc:subject>QUANTIX 2K26 · Cybersecurity &amp; Blockchain Technology</dc:subject>
  <dc:creator>Your Team Name</dc:creator>
  <cp:lastModifiedBy>Your Team Name</cp:lastModifiedBy>
  <cp:revision>1</cp:revision>
  <dcterms:created xsi:type="dcterms:W3CDTF">2026-10-20T08:08:40Z</dcterms:created>
  <dcterms:modified xsi:type="dcterms:W3CDTF">2026-10-20T08:08:40Z</dcterms:modified>
</cp:coreProperties>
</file>