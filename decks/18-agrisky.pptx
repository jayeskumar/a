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2a830f1-15d1-5910-b9d5-7b128f5cd0af}">
          <p14:sldIdLst>
            <p14:sldId id="256"/>
          </p14:sldIdLst>
        </p14:section>
        <p14:section name="Problem &amp; solution" id="{c065d37c-cd94-3493-2cf0-e06ea23677ec}">
          <p14:sldIdLst>
            <p14:sldId id="257"/>
            <p14:sldId id="258"/>
          </p14:sldIdLst>
        </p14:section>
        <p14:section name="Product" id="{a6656546-b816-e019-6333-93856b857bcf}">
          <p14:sldIdLst>
            <p14:sldId id="259"/>
            <p14:sldId id="260"/>
            <p14:sldId id="261"/>
          </p14:sldIdLst>
        </p14:section>
        <p14:section name="Why us" id="{6896736c-d3df-345f-df9c-f1954eb23b97}">
          <p14:sldIdLst>
            <p14:sldId id="262"/>
            <p14:sldId id="263"/>
          </p14:sldIdLst>
        </p14:section>
        <p14:section name="Demo" id="{556bc681-afbe-050a-ce81-49911cc3da3e}">
          <p14:sldIdLst>
            <p14:sldId id="264"/>
          </p14:sldIdLst>
        </p14:section>
        <p14:section name="Roadmap" id="{92e2fd7f-ce4f-b717-b222-b132e3656bc4}">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Drone crop-health maps and spray only where the crop needs it. Introduce the team, then go straight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Pesticide and urea are sprayed over the whole field, though stress is patchy Wasted chemical costs money and harms soil, water and the sprayer's health Stress shows from above days before the eye sees it Imagery analytics tools are costly, online-only black boxes Key numbers: ~86% Indian farm holdings small/marginal (Agri Census 2015-16, approx.); ₹266.50 MRP of a 45-kg bag of subsidised urea (approx.); 10 L typical agri-drone tank class (approx.).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Multispectral flights → NDVI/NDRE/NDWI maps and management zones Explainable rules diagnose water stress, nitrogen deficiency or pest Change detection warns when a pest patch starts spreading Prescription + drone mission sprays only the zones that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Crop-health maps: NDVI, NDRE, GNDVI, SAVI, NDWI, colour-IR and ΔNDVI heat maps. Zones + diagnosis: k-means zones, rule trace per zone, 98.6% accuracy on unseen fields. Early warning: Pest front speed, √area trend and days until it covers 10% of crop. Variable-rate Rx: Spot spray + urea by NDRE deficit: ~89% pesticide saved, ₹ shown. Spray mission: Boustrophedon lanes, fewest turns, tank/battery sorties, animated. Farmer report: Printable English + Tamil report, CSV and GeoJSON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top to bottom: Browser UI -&gt; vanilla JS, canvas maps, SVG charts, path animation. app.py -&gt; stdlib ThreadingHTTPServer, JSON API, validation. field.py -&gt; seeded 4-band field generator with ground truth. analysis -&gt; indices, masks, k-means, mode filter, components. classify / change -&gt; rule list, ΔNDVI, spread trend, alert. prescription / planner -&gt; VRA doses, coverage path, sorties. Stack: Python 3 stdlib only, Vanilla HTML/CSS/JS, Canvas + inline SVG, No CDN, no internet, unittest (77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Algorithms: NDVI / GNDVI / NDRE / SAVI / NDWI – vegetation and water indices. k-means++ with restarts – management zones on crop cells. Mode filter + connected components – clean, contiguous zones. Ordered rule list vs reference canopy – explainable diagnosis. ΔNDVI + p90 front advance + OLS on √area – spread rate, warning. Boustrophedon coverage + orientation search – fewest turns, sorties. Stress that nothing is a black box: every decision can be explained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Differentiators: Diagnosis explains itself: every rule, value and threshold shown Plans the drone path from the prescription, not just a map Warns on spread speed, not only on today's damage Fully offline on a ₹15k laptop, Tamil farmer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98.6% zone accuracy vs truth, 20 unseen fields × 5 flights; 89% pesticide saved vs blanket spray (urea 86%); 100% target cells sprayed exactly once, every field; 6.9% error of pest front-speed estimate. Impact: Less pesticide and urea per spray round lowers input cost Less chemical reaching soil, channels and groundwater Less operator exposure: drone sprays only small patches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now. 1. Open dashboard on phone + projector, Wi-Fi off 2. Play Weeks: pest patch grows from the corner 3. Flight 5: red early warning, 0.9 m/day, 10% in ~4 days 4. Click the pest zone: read the rule trace 5. Prescription: 91% less pesticide, ₹766 saved 6. Run demo: drone flies 1 sortie vs 2 for whole field 7. Print the English + Tamil farmer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Per-acre service for drone operators and custom hiring centres SaaS for FPOs / agri-input dealers to plan spray rounds B2G: crop-health monitoring for KVKs and agriculture departments Add-on prescription export for drone and sprayer makers Next: Real multispectral imagery (orthomosaic import, calibration panels) Train the rules / a Naive Bayes on field-scouted labels Nozzle-section control to cut edge overspray Weather-aware spray windows (wind, rain) and drift buffers Export to drone-controller mission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impact line, invite questions. Keep the demo tab open in case judges want to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QUANTIX 2K26 · AgriSky</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omain"/>
          <p:cNvSpPr txBox="1"/>
          <p:nvPr/>
        </p:nvSpPr>
        <p:spPr>
          <a:xfrm>
            <a:off x="548640" y="1097280"/>
            <a:ext cx="5669280" cy="365760"/>
          </a:xfrm>
          <a:prstGeom prst="rect">
            <a:avLst/>
          </a:prstGeom>
          <a:noFill/>
          <a:ln/>
        </p:spPr>
        <p:txBody>
          <a:bodyPr wrap="square" lIns="0" tIns="0" rIns="0" bIns="0" rtlCol="0" anchor="ctr"/>
          <a:lstStyle/>
          <a:p>
            <a:pPr indent="0" marL="0">
              <a:buNone/>
            </a:pPr>
            <a:r>
              <a:rPr lang="en-US" sz="1200" b="1" spc="200" kern="0" dirty="0">
                <a:solidFill>
                  <a:schemeClr val="accent6"/>
                </a:solidFill>
              </a:rPr>
              <a:t>SMART AGRICULTURE &amp; RURAL DEVELOPMENT (AGRITECH)</a:t>
            </a:r>
            <a:endParaRPr lang="en-US" sz="1200" dirty="0"/>
          </a:p>
        </p:txBody>
      </p:sp>
      <p:sp>
        <p:nvSpPr>
          <p:cNvPr id="3" name="Product name"/>
          <p:cNvSpPr txBox="1"/>
          <p:nvPr/>
        </p:nvSpPr>
        <p:spPr>
          <a:xfrm>
            <a:off x="548640" y="1554480"/>
            <a:ext cx="5852160" cy="1188720"/>
          </a:xfrm>
          <a:prstGeom prst="rect">
            <a:avLst/>
          </a:prstGeom>
          <a:noFill/>
          <a:ln/>
        </p:spPr>
        <p:txBody>
          <a:bodyPr wrap="square" lIns="0" tIns="0" rIns="0" bIns="0" rtlCol="0" anchor="ctr"/>
          <a:lstStyle/>
          <a:p>
            <a:pPr indent="0" marL="0">
              <a:buNone/>
            </a:pPr>
            <a:r>
              <a:rPr lang="en-US" sz="6000" b="1" dirty="0">
                <a:solidFill>
                  <a:schemeClr val="bg1"/>
                </a:solidFill>
                <a:latin typeface="Calibri" pitchFamily="34" charset="0"/>
                <a:ea typeface="Calibri" pitchFamily="34" charset="-122"/>
                <a:cs typeface="Calibri" pitchFamily="34" charset="-120"/>
              </a:rPr>
              <a:t>AgriSky</a:t>
            </a:r>
            <a:endParaRPr lang="en-US" sz="6000" dirty="0"/>
          </a:p>
        </p:txBody>
      </p:sp>
      <p:sp>
        <p:nvSpPr>
          <p:cNvPr id="4" name="Tagline"/>
          <p:cNvSpPr txBox="1"/>
          <p:nvPr/>
        </p:nvSpPr>
        <p:spPr>
          <a:xfrm>
            <a:off x="548640" y="2788920"/>
            <a:ext cx="5486400" cy="1005840"/>
          </a:xfrm>
          <a:prstGeom prst="rect">
            <a:avLst/>
          </a:prstGeom>
          <a:noFill/>
          <a:ln/>
        </p:spPr>
        <p:txBody>
          <a:bodyPr wrap="square" lIns="0" tIns="0" rIns="0" bIns="0" rtlCol="0" anchor="t"/>
          <a:lstStyle/>
          <a:p>
            <a:pPr indent="0" marL="0">
              <a:buNone/>
            </a:pPr>
            <a:r>
              <a:rPr lang="en-US" sz="2200" dirty="0">
                <a:solidFill>
                  <a:schemeClr val="bg1"/>
                </a:solidFill>
              </a:rPr>
              <a:t>Drone crop-health maps and spray only where the crop needs it</a:t>
            </a:r>
            <a:endParaRPr lang="en-US" sz="2200" dirty="0"/>
          </a:p>
        </p:txBody>
      </p:sp>
      <p:sp>
        <p:nvSpPr>
          <p:cNvPr id="5" name="Team"/>
          <p:cNvSpPr txBox="1"/>
          <p:nvPr/>
        </p:nvSpPr>
        <p:spPr>
          <a:xfrm>
            <a:off x="548640" y="5120640"/>
            <a:ext cx="5669280" cy="731520"/>
          </a:xfrm>
          <a:prstGeom prst="rect">
            <a:avLst/>
          </a:prstGeom>
          <a:noFill/>
          <a:ln/>
        </p:spPr>
        <p:txBody>
          <a:bodyPr wrap="square" lIns="0" tIns="0" rIns="0" bIns="0" rtlCol="0" anchor="b"/>
          <a:lstStyle/>
          <a:p>
            <a:pPr indent="0" marL="0">
              <a:buNone/>
            </a:pPr>
            <a:r>
              <a:rPr lang="en-US" sz="1400" b="1" dirty="0">
                <a:solidFill>
                  <a:schemeClr val="accent6"/>
                </a:solidFill>
              </a:rPr>
              <a:t>Your Team Name</a:t>
            </a:r>
            <a:endParaRPr lang="en-US" sz="1400" dirty="0"/>
          </a:p>
          <a:p>
            <a:pPr indent="0" marL="0">
              <a:buNone/>
            </a:pPr>
            <a:r>
              <a:rPr lang="en-US" sz="1400" dirty="0">
                <a:solidFill>
                  <a:schemeClr val="accent6"/>
                </a:solidFill>
              </a:rPr>
              <a:t>QUANTIX 2K26 · 24-hour hackathon · K.S.R. College of Engineering</a:t>
            </a:r>
            <a:endParaRPr lang="en-US" sz="1400" dirty="0"/>
          </a:p>
        </p:txBody>
      </p:sp>
      <p:sp>
        <p:nvSpPr>
          <p:cNvPr id="6" name="Hero screenshot frame"/>
          <p:cNvSpPr/>
          <p:nvPr/>
        </p:nvSpPr>
        <p:spPr>
          <a:xfrm>
            <a:off x="6620256" y="1682496"/>
            <a:ext cx="5047488" cy="3195828"/>
          </a:xfrm>
          <a:prstGeom prst="roundRect">
            <a:avLst>
              <a:gd name="adj" fmla="val 2289"/>
            </a:avLst>
          </a:prstGeom>
          <a:solidFill>
            <a:schemeClr val="bg1"/>
          </a:solidFill>
          <a:ln w="12700">
            <a:solidFill>
              <a:schemeClr val="bg2"/>
            </a:solidFill>
            <a:prstDash val="solid"/>
          </a:ln>
          <a:effectLst>
            <a:outerShdw sx="100000" sy="100000" kx="0" ky="0" algn="bl" rotWithShape="0" blurRad="101600" dist="25400" dir="5400000">
              <a:srgbClr val="000000">
                <a:alpha val="14000"/>
              </a:srgbClr>
            </a:outerShdw>
          </a:effectLst>
        </p:spPr>
      </p:sp>
      <p:pic>
        <p:nvPicPr>
          <p:cNvPr id="7" name="Hero screenshot" descr="AgriSky screenshot">    </p:cNvPr>
          <p:cNvPicPr>
            <a:picLocks noChangeAspect="1"/>
          </p:cNvPicPr>
          <p:nvPr/>
        </p:nvPicPr>
        <p:blipFill>
          <a:blip r:embed="rId1"/>
          <a:stretch>
            <a:fillRect/>
          </a:stretch>
        </p:blipFill>
        <p:spPr>
          <a:xfrm>
            <a:off x="6675120" y="1737360"/>
            <a:ext cx="4937760" cy="3086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The problem</a:t>
            </a:r>
            <a:endParaRPr lang="en-US" sz="3600" dirty="0"/>
          </a:p>
        </p:txBody>
      </p:sp>
      <p:sp>
        <p:nvSpPr>
          <p:cNvPr id="3" name="Problem circle"/>
          <p:cNvSpPr/>
          <p:nvPr/>
        </p:nvSpPr>
        <p:spPr>
          <a:xfrm>
            <a:off x="548640" y="3246120"/>
            <a:ext cx="548640" cy="548640"/>
          </a:xfrm>
          <a:prstGeom prst="ellipse">
            <a:avLst/>
          </a:prstGeom>
          <a:solidFill>
            <a:schemeClr val="accent1"/>
          </a:solidFill>
          <a:ln/>
        </p:spPr>
      </p:sp>
      <p:pic>
        <p:nvPicPr>
          <p:cNvPr id="4" name="Problem icon" descr="preencoded.png">    </p:cNvPr>
          <p:cNvPicPr>
            <a:picLocks noChangeAspect="1"/>
          </p:cNvPicPr>
          <p:nvPr/>
        </p:nvPicPr>
        <p:blipFill>
          <a:blip r:embed="rId1"/>
          <a:stretch>
            <a:fillRect/>
          </a:stretch>
        </p:blipFill>
        <p:spPr>
          <a:xfrm>
            <a:off x="685800" y="3383280"/>
            <a:ext cx="274320" cy="274320"/>
          </a:xfrm>
          <a:prstGeom prst="rect">
            <a:avLst/>
          </a:prstGeom>
        </p:spPr>
      </p:pic>
      <p:sp>
        <p:nvSpPr>
          <p:cNvPr id="5" name="Problem bullets"/>
          <p:cNvSpPr txBox="1"/>
          <p:nvPr/>
        </p:nvSpPr>
        <p:spPr>
          <a:xfrm>
            <a:off x="1325880" y="1325880"/>
            <a:ext cx="5852160" cy="4389120"/>
          </a:xfrm>
          <a:prstGeom prst="rect">
            <a:avLst/>
          </a:prstGeom>
          <a:noFill/>
          <a:ln/>
        </p:spPr>
        <p:txBody>
          <a:bodyPr wrap="square" lIns="0" tIns="0" rIns="0" bIns="0" rtlCol="0" anchor="ctr"/>
          <a:lstStyle/>
          <a:p>
            <a:pPr marL="228600" indent="-228600">
              <a:spcAft>
                <a:spcPts val="1000"/>
              </a:spcAft>
              <a:buSzPct val="100000"/>
              <a:buChar char="•"/>
            </a:pPr>
            <a:r>
              <a:rPr lang="en-US" sz="2000" dirty="0">
                <a:solidFill>
                  <a:schemeClr val="tx1"/>
                </a:solidFill>
              </a:rPr>
              <a:t>Pesticide and urea are sprayed over the whole field, though stress is patchy</a:t>
            </a:r>
            <a:endParaRPr lang="en-US" sz="2000" dirty="0"/>
          </a:p>
          <a:p>
            <a:pPr marL="228600" indent="-228600">
              <a:spcAft>
                <a:spcPts val="1000"/>
              </a:spcAft>
              <a:buSzPct val="100000"/>
              <a:buChar char="•"/>
            </a:pPr>
            <a:r>
              <a:rPr lang="en-US" sz="2000" dirty="0">
                <a:solidFill>
                  <a:schemeClr val="tx1"/>
                </a:solidFill>
              </a:rPr>
              <a:t>Wasted chemical costs money and harms soil, water and the sprayer's health</a:t>
            </a:r>
            <a:endParaRPr lang="en-US" sz="2000" dirty="0"/>
          </a:p>
          <a:p>
            <a:pPr marL="228600" indent="-228600">
              <a:spcAft>
                <a:spcPts val="1000"/>
              </a:spcAft>
              <a:buSzPct val="100000"/>
              <a:buChar char="•"/>
            </a:pPr>
            <a:r>
              <a:rPr lang="en-US" sz="2000" dirty="0">
                <a:solidFill>
                  <a:schemeClr val="tx1"/>
                </a:solidFill>
              </a:rPr>
              <a:t>Stress shows from above days before the eye sees it</a:t>
            </a:r>
            <a:endParaRPr lang="en-US" sz="2000" dirty="0"/>
          </a:p>
          <a:p>
            <a:pPr marL="228600" indent="-228600">
              <a:spcAft>
                <a:spcPts val="1000"/>
              </a:spcAft>
              <a:buSzPct val="100000"/>
              <a:buChar char="•"/>
            </a:pPr>
            <a:r>
              <a:rPr lang="en-US" sz="2000" dirty="0">
                <a:solidFill>
                  <a:schemeClr val="tx1"/>
                </a:solidFill>
              </a:rPr>
              <a:t>Imagery analytics tools are costly, online-only black boxes</a:t>
            </a:r>
            <a:endParaRPr lang="en-US" sz="2000" dirty="0"/>
          </a:p>
        </p:txBody>
      </p:sp>
      <p:sp>
        <p:nvSpPr>
          <p:cNvPr id="6" name="Stat 1 card"/>
          <p:cNvSpPr/>
          <p:nvPr/>
        </p:nvSpPr>
        <p:spPr>
          <a:xfrm>
            <a:off x="7589520" y="1120140"/>
            <a:ext cx="4023360" cy="1417320"/>
          </a:xfrm>
          <a:prstGeom prst="roundRect">
            <a:avLst>
              <a:gd name="adj" fmla="val 7742"/>
            </a:avLst>
          </a:prstGeom>
          <a:solidFill>
            <a:schemeClr val="accent2"/>
          </a:solidFill>
          <a:ln/>
        </p:spPr>
      </p:sp>
      <p:sp>
        <p:nvSpPr>
          <p:cNvPr id="7" name="Stat 1 value"/>
          <p:cNvSpPr txBox="1"/>
          <p:nvPr/>
        </p:nvSpPr>
        <p:spPr>
          <a:xfrm>
            <a:off x="7818120" y="1229868"/>
            <a:ext cx="3566160" cy="731520"/>
          </a:xfrm>
          <a:prstGeom prst="rect">
            <a:avLst/>
          </a:prstGeom>
          <a:noFill/>
          <a:ln/>
        </p:spPr>
        <p:txBody>
          <a:bodyPr wrap="square" lIns="0" tIns="0" rIns="0" bIns="0" rtlCol="0" anchor="ctr"/>
          <a:lstStyle/>
          <a:p>
            <a:pPr indent="0" marL="0">
              <a:buNone/>
            </a:pPr>
            <a:r>
              <a:rPr lang="en-US" sz="4000" b="1" dirty="0">
                <a:solidFill>
                  <a:schemeClr val="accent3"/>
                </a:solidFill>
              </a:rPr>
              <a:t>~86%</a:t>
            </a:r>
            <a:endParaRPr lang="en-US" sz="4000" dirty="0"/>
          </a:p>
        </p:txBody>
      </p:sp>
      <p:sp>
        <p:nvSpPr>
          <p:cNvPr id="8" name="Stat 1 label"/>
          <p:cNvSpPr txBox="1"/>
          <p:nvPr/>
        </p:nvSpPr>
        <p:spPr>
          <a:xfrm>
            <a:off x="7818120" y="1961388"/>
            <a:ext cx="3566160" cy="502920"/>
          </a:xfrm>
          <a:prstGeom prst="rect">
            <a:avLst/>
          </a:prstGeom>
          <a:noFill/>
          <a:ln/>
        </p:spPr>
        <p:txBody>
          <a:bodyPr wrap="square" lIns="0" tIns="0" rIns="0" bIns="0" rtlCol="0" anchor="t"/>
          <a:lstStyle/>
          <a:p>
            <a:pPr indent="0" marL="0">
              <a:buNone/>
            </a:pPr>
            <a:r>
              <a:rPr lang="en-US" sz="1300" dirty="0">
                <a:solidFill>
                  <a:schemeClr val="tx1"/>
                </a:solidFill>
              </a:rPr>
              <a:t>Indian farm holdings small/marginal (Agri Census 2015-16, approx.)</a:t>
            </a:r>
            <a:endParaRPr lang="en-US" sz="1300" dirty="0"/>
          </a:p>
        </p:txBody>
      </p:sp>
      <p:sp>
        <p:nvSpPr>
          <p:cNvPr id="9" name="Stat 2 card"/>
          <p:cNvSpPr/>
          <p:nvPr/>
        </p:nvSpPr>
        <p:spPr>
          <a:xfrm>
            <a:off x="7589520" y="2811780"/>
            <a:ext cx="4023360" cy="1417320"/>
          </a:xfrm>
          <a:prstGeom prst="roundRect">
            <a:avLst>
              <a:gd name="adj" fmla="val 7742"/>
            </a:avLst>
          </a:prstGeom>
          <a:solidFill>
            <a:schemeClr val="accent2"/>
          </a:solidFill>
          <a:ln/>
        </p:spPr>
      </p:sp>
      <p:sp>
        <p:nvSpPr>
          <p:cNvPr id="10" name="Stat 2 value"/>
          <p:cNvSpPr txBox="1"/>
          <p:nvPr/>
        </p:nvSpPr>
        <p:spPr>
          <a:xfrm>
            <a:off x="7818120" y="2921508"/>
            <a:ext cx="3566160" cy="731520"/>
          </a:xfrm>
          <a:prstGeom prst="rect">
            <a:avLst/>
          </a:prstGeom>
          <a:noFill/>
          <a:ln/>
        </p:spPr>
        <p:txBody>
          <a:bodyPr wrap="square" lIns="0" tIns="0" rIns="0" bIns="0" rtlCol="0" anchor="ctr"/>
          <a:lstStyle/>
          <a:p>
            <a:pPr indent="0" marL="0">
              <a:buNone/>
            </a:pPr>
            <a:r>
              <a:rPr lang="en-US" sz="4000" b="1" dirty="0">
                <a:solidFill>
                  <a:schemeClr val="accent3"/>
                </a:solidFill>
              </a:rPr>
              <a:t>₹266.50</a:t>
            </a:r>
            <a:endParaRPr lang="en-US" sz="4000" dirty="0"/>
          </a:p>
        </p:txBody>
      </p:sp>
      <p:sp>
        <p:nvSpPr>
          <p:cNvPr id="11" name="Stat 2 label"/>
          <p:cNvSpPr txBox="1"/>
          <p:nvPr/>
        </p:nvSpPr>
        <p:spPr>
          <a:xfrm>
            <a:off x="7818120" y="3653028"/>
            <a:ext cx="3566160" cy="502920"/>
          </a:xfrm>
          <a:prstGeom prst="rect">
            <a:avLst/>
          </a:prstGeom>
          <a:noFill/>
          <a:ln/>
        </p:spPr>
        <p:txBody>
          <a:bodyPr wrap="square" lIns="0" tIns="0" rIns="0" bIns="0" rtlCol="0" anchor="t"/>
          <a:lstStyle/>
          <a:p>
            <a:pPr indent="0" marL="0">
              <a:buNone/>
            </a:pPr>
            <a:r>
              <a:rPr lang="en-US" sz="1300" dirty="0">
                <a:solidFill>
                  <a:schemeClr val="tx1"/>
                </a:solidFill>
              </a:rPr>
              <a:t>MRP of a 45-kg bag of subsidised urea (approx.)</a:t>
            </a:r>
            <a:endParaRPr lang="en-US" sz="1300" dirty="0"/>
          </a:p>
        </p:txBody>
      </p:sp>
      <p:sp>
        <p:nvSpPr>
          <p:cNvPr id="12" name="Stat 3 card"/>
          <p:cNvSpPr/>
          <p:nvPr/>
        </p:nvSpPr>
        <p:spPr>
          <a:xfrm>
            <a:off x="7589520" y="4503420"/>
            <a:ext cx="4023360" cy="1417320"/>
          </a:xfrm>
          <a:prstGeom prst="roundRect">
            <a:avLst>
              <a:gd name="adj" fmla="val 7742"/>
            </a:avLst>
          </a:prstGeom>
          <a:solidFill>
            <a:schemeClr val="accent2"/>
          </a:solidFill>
          <a:ln/>
        </p:spPr>
      </p:sp>
      <p:sp>
        <p:nvSpPr>
          <p:cNvPr id="13" name="Stat 3 value"/>
          <p:cNvSpPr txBox="1"/>
          <p:nvPr/>
        </p:nvSpPr>
        <p:spPr>
          <a:xfrm>
            <a:off x="7818120" y="4613148"/>
            <a:ext cx="3566160" cy="731520"/>
          </a:xfrm>
          <a:prstGeom prst="rect">
            <a:avLst/>
          </a:prstGeom>
          <a:noFill/>
          <a:ln/>
        </p:spPr>
        <p:txBody>
          <a:bodyPr wrap="square" lIns="0" tIns="0" rIns="0" bIns="0" rtlCol="0" anchor="ctr"/>
          <a:lstStyle/>
          <a:p>
            <a:pPr indent="0" marL="0">
              <a:buNone/>
            </a:pPr>
            <a:r>
              <a:rPr lang="en-US" sz="4000" b="1" dirty="0">
                <a:solidFill>
                  <a:schemeClr val="accent3"/>
                </a:solidFill>
              </a:rPr>
              <a:t>10 L</a:t>
            </a:r>
            <a:endParaRPr lang="en-US" sz="4000" dirty="0"/>
          </a:p>
        </p:txBody>
      </p:sp>
      <p:sp>
        <p:nvSpPr>
          <p:cNvPr id="14" name="Stat 3 label"/>
          <p:cNvSpPr txBox="1"/>
          <p:nvPr/>
        </p:nvSpPr>
        <p:spPr>
          <a:xfrm>
            <a:off x="7818120" y="5344668"/>
            <a:ext cx="3566160" cy="502920"/>
          </a:xfrm>
          <a:prstGeom prst="rect">
            <a:avLst/>
          </a:prstGeom>
          <a:noFill/>
          <a:ln/>
        </p:spPr>
        <p:txBody>
          <a:bodyPr wrap="square" lIns="0" tIns="0" rIns="0" bIns="0" rtlCol="0" anchor="t"/>
          <a:lstStyle/>
          <a:p>
            <a:pPr indent="0" marL="0">
              <a:buNone/>
            </a:pPr>
            <a:r>
              <a:rPr lang="en-US" sz="1300" dirty="0">
                <a:solidFill>
                  <a:schemeClr val="tx1"/>
                </a:solidFill>
              </a:rPr>
              <a:t>typical agri-drone tank class (approx.)</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Our solution: AgriSky</a:t>
            </a:r>
            <a:endParaRPr lang="en-US" sz="3600" dirty="0"/>
          </a:p>
        </p:txBody>
      </p:sp>
      <p:sp>
        <p:nvSpPr>
          <p:cNvPr id="3" name="Solution circle"/>
          <p:cNvSpPr/>
          <p:nvPr/>
        </p:nvSpPr>
        <p:spPr>
          <a:xfrm>
            <a:off x="548640" y="3246120"/>
            <a:ext cx="548640" cy="548640"/>
          </a:xfrm>
          <a:prstGeom prst="ellipse">
            <a:avLst/>
          </a:prstGeom>
          <a:solidFill>
            <a:schemeClr val="accent1"/>
          </a:solidFill>
          <a:ln/>
        </p:spPr>
      </p:sp>
      <p:pic>
        <p:nvPicPr>
          <p:cNvPr id="4" name="Solution icon" descr="preencoded.png">    </p:cNvPr>
          <p:cNvPicPr>
            <a:picLocks noChangeAspect="1"/>
          </p:cNvPicPr>
          <p:nvPr/>
        </p:nvPicPr>
        <p:blipFill>
          <a:blip r:embed="rId1"/>
          <a:stretch>
            <a:fillRect/>
          </a:stretch>
        </p:blipFill>
        <p:spPr>
          <a:xfrm>
            <a:off x="685800" y="3383280"/>
            <a:ext cx="274320" cy="274320"/>
          </a:xfrm>
          <a:prstGeom prst="rect">
            <a:avLst/>
          </a:prstGeom>
        </p:spPr>
      </p:pic>
      <p:sp>
        <p:nvSpPr>
          <p:cNvPr id="5" name="Solution bullets"/>
          <p:cNvSpPr txBox="1"/>
          <p:nvPr/>
        </p:nvSpPr>
        <p:spPr>
          <a:xfrm>
            <a:off x="1325880" y="1325880"/>
            <a:ext cx="4754880" cy="4389120"/>
          </a:xfrm>
          <a:prstGeom prst="rect">
            <a:avLst/>
          </a:prstGeom>
          <a:noFill/>
          <a:ln/>
        </p:spPr>
        <p:txBody>
          <a:bodyPr wrap="square" lIns="0" tIns="0" rIns="0" bIns="0" rtlCol="0" anchor="ctr"/>
          <a:lstStyle/>
          <a:p>
            <a:pPr marL="228600" indent="-228600">
              <a:spcAft>
                <a:spcPts val="1000"/>
              </a:spcAft>
              <a:buSzPct val="100000"/>
              <a:buChar char="•"/>
            </a:pPr>
            <a:r>
              <a:rPr lang="en-US" sz="2000" dirty="0">
                <a:solidFill>
                  <a:schemeClr val="tx1"/>
                </a:solidFill>
              </a:rPr>
              <a:t>Multispectral flights → NDVI/NDRE/NDWI maps and management zones</a:t>
            </a:r>
            <a:endParaRPr lang="en-US" sz="2000" dirty="0"/>
          </a:p>
          <a:p>
            <a:pPr marL="228600" indent="-228600">
              <a:spcAft>
                <a:spcPts val="1000"/>
              </a:spcAft>
              <a:buSzPct val="100000"/>
              <a:buChar char="•"/>
            </a:pPr>
            <a:r>
              <a:rPr lang="en-US" sz="2000" dirty="0">
                <a:solidFill>
                  <a:schemeClr val="tx1"/>
                </a:solidFill>
              </a:rPr>
              <a:t>Explainable rules diagnose water stress, nitrogen deficiency or pest</a:t>
            </a:r>
            <a:endParaRPr lang="en-US" sz="2000" dirty="0"/>
          </a:p>
          <a:p>
            <a:pPr marL="228600" indent="-228600">
              <a:spcAft>
                <a:spcPts val="1000"/>
              </a:spcAft>
              <a:buSzPct val="100000"/>
              <a:buChar char="•"/>
            </a:pPr>
            <a:r>
              <a:rPr lang="en-US" sz="2000" dirty="0">
                <a:solidFill>
                  <a:schemeClr val="tx1"/>
                </a:solidFill>
              </a:rPr>
              <a:t>Change detection warns when a pest patch starts spreading</a:t>
            </a:r>
            <a:endParaRPr lang="en-US" sz="2000" dirty="0"/>
          </a:p>
          <a:p>
            <a:pPr marL="228600" indent="-228600">
              <a:spcAft>
                <a:spcPts val="1000"/>
              </a:spcAft>
              <a:buSzPct val="100000"/>
              <a:buChar char="•"/>
            </a:pPr>
            <a:r>
              <a:rPr lang="en-US" sz="2000" dirty="0">
                <a:solidFill>
                  <a:schemeClr val="tx1"/>
                </a:solidFill>
              </a:rPr>
              <a:t>Prescription + drone mission sprays only the zones that need it</a:t>
            </a:r>
            <a:endParaRPr lang="en-US" sz="2000" dirty="0"/>
          </a:p>
        </p:txBody>
      </p:sp>
      <p:sp>
        <p:nvSpPr>
          <p:cNvPr id="6" name="Solution screenshot frame"/>
          <p:cNvSpPr/>
          <p:nvPr/>
        </p:nvSpPr>
        <p:spPr>
          <a:xfrm>
            <a:off x="6391656" y="1545336"/>
            <a:ext cx="5276088" cy="3338703"/>
          </a:xfrm>
          <a:prstGeom prst="roundRect">
            <a:avLst>
              <a:gd name="adj" fmla="val 2191"/>
            </a:avLst>
          </a:prstGeom>
          <a:solidFill>
            <a:schemeClr val="bg1"/>
          </a:solidFill>
          <a:ln w="12700">
            <a:solidFill>
              <a:schemeClr val="bg2"/>
            </a:solidFill>
            <a:prstDash val="solid"/>
          </a:ln>
          <a:effectLst>
            <a:outerShdw sx="100000" sy="100000" kx="0" ky="0" algn="bl" rotWithShape="0" blurRad="101600" dist="25400" dir="5400000">
              <a:srgbClr val="000000">
                <a:alpha val="14000"/>
              </a:srgbClr>
            </a:outerShdw>
          </a:effectLst>
        </p:spPr>
      </p:sp>
      <p:pic>
        <p:nvPicPr>
          <p:cNvPr id="7" name="Solution screenshot" descr="AgriSky screenshot">    </p:cNvPr>
          <p:cNvPicPr>
            <a:picLocks noChangeAspect="1"/>
          </p:cNvPicPr>
          <p:nvPr/>
        </p:nvPicPr>
        <p:blipFill>
          <a:blip r:embed="rId2"/>
          <a:stretch>
            <a:fillRect/>
          </a:stretch>
        </p:blipFill>
        <p:spPr>
          <a:xfrm>
            <a:off x="6446520" y="1600200"/>
            <a:ext cx="5166360" cy="3228975"/>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Key features</a:t>
            </a:r>
            <a:endParaRPr lang="en-US" sz="3600" dirty="0"/>
          </a:p>
        </p:txBody>
      </p:sp>
      <p:sp>
        <p:nvSpPr>
          <p:cNvPr id="3" name="Feature 1 card"/>
          <p:cNvSpPr/>
          <p:nvPr/>
        </p:nvSpPr>
        <p:spPr>
          <a:xfrm>
            <a:off x="548640" y="1371600"/>
            <a:ext cx="3515258" cy="2194560"/>
          </a:xfrm>
          <a:prstGeom prst="roundRect">
            <a:avLst>
              <a:gd name="adj" fmla="val 5000"/>
            </a:avLst>
          </a:prstGeom>
          <a:solidFill>
            <a:schemeClr val="bg2"/>
          </a:solidFill>
          <a:ln/>
        </p:spPr>
      </p:sp>
      <p:sp>
        <p:nvSpPr>
          <p:cNvPr id="4" name="Feature 1 circle"/>
          <p:cNvSpPr/>
          <p:nvPr/>
        </p:nvSpPr>
        <p:spPr>
          <a:xfrm>
            <a:off x="822960" y="1645920"/>
            <a:ext cx="548640" cy="548640"/>
          </a:xfrm>
          <a:prstGeom prst="ellipse">
            <a:avLst/>
          </a:prstGeom>
          <a:solidFill>
            <a:schemeClr val="accent1"/>
          </a:solidFill>
          <a:ln/>
        </p:spPr>
      </p:sp>
      <p:pic>
        <p:nvPicPr>
          <p:cNvPr id="5" name="Feature 1 icon" descr="preencoded.png">    </p:cNvPr>
          <p:cNvPicPr>
            <a:picLocks noChangeAspect="1"/>
          </p:cNvPicPr>
          <p:nvPr/>
        </p:nvPicPr>
        <p:blipFill>
          <a:blip r:embed="rId1"/>
          <a:stretch>
            <a:fillRect/>
          </a:stretch>
        </p:blipFill>
        <p:spPr>
          <a:xfrm>
            <a:off x="960120" y="1783080"/>
            <a:ext cx="274320" cy="274320"/>
          </a:xfrm>
          <a:prstGeom prst="rect">
            <a:avLst/>
          </a:prstGeom>
        </p:spPr>
      </p:pic>
      <p:sp>
        <p:nvSpPr>
          <p:cNvPr id="6" name="Feature 1 title"/>
          <p:cNvSpPr txBox="1"/>
          <p:nvPr/>
        </p:nvSpPr>
        <p:spPr>
          <a:xfrm>
            <a:off x="1554480" y="164592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Crop-health maps</a:t>
            </a:r>
            <a:endParaRPr lang="en-US" sz="1800" dirty="0"/>
          </a:p>
        </p:txBody>
      </p:sp>
      <p:sp>
        <p:nvSpPr>
          <p:cNvPr id="7" name="Feature 1 text"/>
          <p:cNvSpPr txBox="1"/>
          <p:nvPr/>
        </p:nvSpPr>
        <p:spPr>
          <a:xfrm>
            <a:off x="822960" y="233172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NDVI, NDRE, GNDVI, SAVI, NDWI, colour-IR and ΔNDVI heat maps</a:t>
            </a:r>
            <a:endParaRPr lang="en-US" sz="1400" dirty="0"/>
          </a:p>
        </p:txBody>
      </p:sp>
      <p:sp>
        <p:nvSpPr>
          <p:cNvPr id="8" name="Feature 2 card"/>
          <p:cNvSpPr/>
          <p:nvPr/>
        </p:nvSpPr>
        <p:spPr>
          <a:xfrm>
            <a:off x="4338218" y="1371600"/>
            <a:ext cx="3515258" cy="2194560"/>
          </a:xfrm>
          <a:prstGeom prst="roundRect">
            <a:avLst>
              <a:gd name="adj" fmla="val 5000"/>
            </a:avLst>
          </a:prstGeom>
          <a:solidFill>
            <a:schemeClr val="bg2"/>
          </a:solidFill>
          <a:ln/>
        </p:spPr>
      </p:sp>
      <p:sp>
        <p:nvSpPr>
          <p:cNvPr id="9" name="Feature 2 circle"/>
          <p:cNvSpPr/>
          <p:nvPr/>
        </p:nvSpPr>
        <p:spPr>
          <a:xfrm>
            <a:off x="4612538" y="1645920"/>
            <a:ext cx="548640" cy="548640"/>
          </a:xfrm>
          <a:prstGeom prst="ellipse">
            <a:avLst/>
          </a:prstGeom>
          <a:solidFill>
            <a:schemeClr val="accent1"/>
          </a:solidFill>
          <a:ln/>
        </p:spPr>
      </p:sp>
      <p:pic>
        <p:nvPicPr>
          <p:cNvPr id="10" name="Feature 2 icon" descr="preencoded.png">    </p:cNvPr>
          <p:cNvPicPr>
            <a:picLocks noChangeAspect="1"/>
          </p:cNvPicPr>
          <p:nvPr/>
        </p:nvPicPr>
        <p:blipFill>
          <a:blip r:embed="rId2"/>
          <a:stretch>
            <a:fillRect/>
          </a:stretch>
        </p:blipFill>
        <p:spPr>
          <a:xfrm>
            <a:off x="4749698" y="1783080"/>
            <a:ext cx="274320" cy="274320"/>
          </a:xfrm>
          <a:prstGeom prst="rect">
            <a:avLst/>
          </a:prstGeom>
        </p:spPr>
      </p:pic>
      <p:sp>
        <p:nvSpPr>
          <p:cNvPr id="11" name="Feature 2 title"/>
          <p:cNvSpPr txBox="1"/>
          <p:nvPr/>
        </p:nvSpPr>
        <p:spPr>
          <a:xfrm>
            <a:off x="5344058" y="164592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Zones + diagnosis</a:t>
            </a:r>
            <a:endParaRPr lang="en-US" sz="1800" dirty="0"/>
          </a:p>
        </p:txBody>
      </p:sp>
      <p:sp>
        <p:nvSpPr>
          <p:cNvPr id="12" name="Feature 2 text"/>
          <p:cNvSpPr txBox="1"/>
          <p:nvPr/>
        </p:nvSpPr>
        <p:spPr>
          <a:xfrm>
            <a:off x="4612538" y="233172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k-means zones, rule trace per zone, 98.6% accuracy on unseen fields</a:t>
            </a:r>
            <a:endParaRPr lang="en-US" sz="1400" dirty="0"/>
          </a:p>
        </p:txBody>
      </p:sp>
      <p:sp>
        <p:nvSpPr>
          <p:cNvPr id="13" name="Feature 3 card"/>
          <p:cNvSpPr/>
          <p:nvPr/>
        </p:nvSpPr>
        <p:spPr>
          <a:xfrm>
            <a:off x="8127797" y="1371600"/>
            <a:ext cx="3515258" cy="2194560"/>
          </a:xfrm>
          <a:prstGeom prst="roundRect">
            <a:avLst>
              <a:gd name="adj" fmla="val 5000"/>
            </a:avLst>
          </a:prstGeom>
          <a:solidFill>
            <a:schemeClr val="bg2"/>
          </a:solidFill>
          <a:ln/>
        </p:spPr>
      </p:sp>
      <p:sp>
        <p:nvSpPr>
          <p:cNvPr id="14" name="Feature 3 circle"/>
          <p:cNvSpPr/>
          <p:nvPr/>
        </p:nvSpPr>
        <p:spPr>
          <a:xfrm>
            <a:off x="8402117" y="1645920"/>
            <a:ext cx="548640" cy="548640"/>
          </a:xfrm>
          <a:prstGeom prst="ellipse">
            <a:avLst/>
          </a:prstGeom>
          <a:solidFill>
            <a:schemeClr val="accent1"/>
          </a:solidFill>
          <a:ln/>
        </p:spPr>
      </p:sp>
      <p:pic>
        <p:nvPicPr>
          <p:cNvPr id="15" name="Feature 3 icon" descr="preencoded.png">    </p:cNvPr>
          <p:cNvPicPr>
            <a:picLocks noChangeAspect="1"/>
          </p:cNvPicPr>
          <p:nvPr/>
        </p:nvPicPr>
        <p:blipFill>
          <a:blip r:embed="rId3"/>
          <a:stretch>
            <a:fillRect/>
          </a:stretch>
        </p:blipFill>
        <p:spPr>
          <a:xfrm>
            <a:off x="8539277" y="1783080"/>
            <a:ext cx="274320" cy="274320"/>
          </a:xfrm>
          <a:prstGeom prst="rect">
            <a:avLst/>
          </a:prstGeom>
        </p:spPr>
      </p:pic>
      <p:sp>
        <p:nvSpPr>
          <p:cNvPr id="16" name="Feature 3 title"/>
          <p:cNvSpPr txBox="1"/>
          <p:nvPr/>
        </p:nvSpPr>
        <p:spPr>
          <a:xfrm>
            <a:off x="9133637" y="164592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Early warning</a:t>
            </a:r>
            <a:endParaRPr lang="en-US" sz="1800" dirty="0"/>
          </a:p>
        </p:txBody>
      </p:sp>
      <p:sp>
        <p:nvSpPr>
          <p:cNvPr id="17" name="Feature 3 text"/>
          <p:cNvSpPr txBox="1"/>
          <p:nvPr/>
        </p:nvSpPr>
        <p:spPr>
          <a:xfrm>
            <a:off x="8402117" y="233172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Pest front speed, √area trend and days until it covers 10% of crop</a:t>
            </a:r>
            <a:endParaRPr lang="en-US" sz="1400" dirty="0"/>
          </a:p>
        </p:txBody>
      </p:sp>
      <p:sp>
        <p:nvSpPr>
          <p:cNvPr id="18" name="Feature 4 card"/>
          <p:cNvSpPr/>
          <p:nvPr/>
        </p:nvSpPr>
        <p:spPr>
          <a:xfrm>
            <a:off x="548640" y="3840480"/>
            <a:ext cx="3515258" cy="2194560"/>
          </a:xfrm>
          <a:prstGeom prst="roundRect">
            <a:avLst>
              <a:gd name="adj" fmla="val 5000"/>
            </a:avLst>
          </a:prstGeom>
          <a:solidFill>
            <a:schemeClr val="bg2"/>
          </a:solidFill>
          <a:ln/>
        </p:spPr>
      </p:sp>
      <p:sp>
        <p:nvSpPr>
          <p:cNvPr id="19" name="Feature 4 circle"/>
          <p:cNvSpPr/>
          <p:nvPr/>
        </p:nvSpPr>
        <p:spPr>
          <a:xfrm>
            <a:off x="822960" y="4114800"/>
            <a:ext cx="548640" cy="548640"/>
          </a:xfrm>
          <a:prstGeom prst="ellipse">
            <a:avLst/>
          </a:prstGeom>
          <a:solidFill>
            <a:schemeClr val="accent1"/>
          </a:solidFill>
          <a:ln/>
        </p:spPr>
      </p:sp>
      <p:pic>
        <p:nvPicPr>
          <p:cNvPr id="20" name="Feature 4 icon" descr="preencoded.png">    </p:cNvPr>
          <p:cNvPicPr>
            <a:picLocks noChangeAspect="1"/>
          </p:cNvPicPr>
          <p:nvPr/>
        </p:nvPicPr>
        <p:blipFill>
          <a:blip r:embed="rId4"/>
          <a:stretch>
            <a:fillRect/>
          </a:stretch>
        </p:blipFill>
        <p:spPr>
          <a:xfrm>
            <a:off x="960120" y="4251960"/>
            <a:ext cx="274320" cy="274320"/>
          </a:xfrm>
          <a:prstGeom prst="rect">
            <a:avLst/>
          </a:prstGeom>
        </p:spPr>
      </p:pic>
      <p:sp>
        <p:nvSpPr>
          <p:cNvPr id="21" name="Feature 4 title"/>
          <p:cNvSpPr txBox="1"/>
          <p:nvPr/>
        </p:nvSpPr>
        <p:spPr>
          <a:xfrm>
            <a:off x="1554480" y="411480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Variable-rate Rx</a:t>
            </a:r>
            <a:endParaRPr lang="en-US" sz="1800" dirty="0"/>
          </a:p>
        </p:txBody>
      </p:sp>
      <p:sp>
        <p:nvSpPr>
          <p:cNvPr id="22" name="Feature 4 text"/>
          <p:cNvSpPr txBox="1"/>
          <p:nvPr/>
        </p:nvSpPr>
        <p:spPr>
          <a:xfrm>
            <a:off x="822960" y="480060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Spot spray + urea by NDRE deficit: ~89% pesticide saved, ₹ shown</a:t>
            </a:r>
            <a:endParaRPr lang="en-US" sz="1400" dirty="0"/>
          </a:p>
        </p:txBody>
      </p:sp>
      <p:sp>
        <p:nvSpPr>
          <p:cNvPr id="23" name="Feature 5 card"/>
          <p:cNvSpPr/>
          <p:nvPr/>
        </p:nvSpPr>
        <p:spPr>
          <a:xfrm>
            <a:off x="4338218" y="3840480"/>
            <a:ext cx="3515258" cy="2194560"/>
          </a:xfrm>
          <a:prstGeom prst="roundRect">
            <a:avLst>
              <a:gd name="adj" fmla="val 5000"/>
            </a:avLst>
          </a:prstGeom>
          <a:solidFill>
            <a:schemeClr val="bg2"/>
          </a:solidFill>
          <a:ln/>
        </p:spPr>
      </p:sp>
      <p:sp>
        <p:nvSpPr>
          <p:cNvPr id="24" name="Feature 5 circle"/>
          <p:cNvSpPr/>
          <p:nvPr/>
        </p:nvSpPr>
        <p:spPr>
          <a:xfrm>
            <a:off x="4612538" y="4114800"/>
            <a:ext cx="548640" cy="548640"/>
          </a:xfrm>
          <a:prstGeom prst="ellipse">
            <a:avLst/>
          </a:prstGeom>
          <a:solidFill>
            <a:schemeClr val="accent1"/>
          </a:solidFill>
          <a:ln/>
        </p:spPr>
      </p:sp>
      <p:pic>
        <p:nvPicPr>
          <p:cNvPr id="25" name="Feature 5 icon" descr="preencoded.png">    </p:cNvPr>
          <p:cNvPicPr>
            <a:picLocks noChangeAspect="1"/>
          </p:cNvPicPr>
          <p:nvPr/>
        </p:nvPicPr>
        <p:blipFill>
          <a:blip r:embed="rId5"/>
          <a:stretch>
            <a:fillRect/>
          </a:stretch>
        </p:blipFill>
        <p:spPr>
          <a:xfrm>
            <a:off x="4749698" y="4251960"/>
            <a:ext cx="274320" cy="274320"/>
          </a:xfrm>
          <a:prstGeom prst="rect">
            <a:avLst/>
          </a:prstGeom>
        </p:spPr>
      </p:pic>
      <p:sp>
        <p:nvSpPr>
          <p:cNvPr id="26" name="Feature 5 title"/>
          <p:cNvSpPr txBox="1"/>
          <p:nvPr/>
        </p:nvSpPr>
        <p:spPr>
          <a:xfrm>
            <a:off x="5344058" y="411480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Spray mission</a:t>
            </a:r>
            <a:endParaRPr lang="en-US" sz="1800" dirty="0"/>
          </a:p>
        </p:txBody>
      </p:sp>
      <p:sp>
        <p:nvSpPr>
          <p:cNvPr id="27" name="Feature 5 text"/>
          <p:cNvSpPr txBox="1"/>
          <p:nvPr/>
        </p:nvSpPr>
        <p:spPr>
          <a:xfrm>
            <a:off x="4612538" y="480060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Boustrophedon lanes, fewest turns, tank/battery sorties, animated</a:t>
            </a:r>
            <a:endParaRPr lang="en-US" sz="1400" dirty="0"/>
          </a:p>
        </p:txBody>
      </p:sp>
      <p:sp>
        <p:nvSpPr>
          <p:cNvPr id="28" name="Feature 6 card"/>
          <p:cNvSpPr/>
          <p:nvPr/>
        </p:nvSpPr>
        <p:spPr>
          <a:xfrm>
            <a:off x="8127797" y="3840480"/>
            <a:ext cx="3515258" cy="2194560"/>
          </a:xfrm>
          <a:prstGeom prst="roundRect">
            <a:avLst>
              <a:gd name="adj" fmla="val 5000"/>
            </a:avLst>
          </a:prstGeom>
          <a:solidFill>
            <a:schemeClr val="bg2"/>
          </a:solidFill>
          <a:ln/>
        </p:spPr>
      </p:sp>
      <p:sp>
        <p:nvSpPr>
          <p:cNvPr id="29" name="Feature 6 circle"/>
          <p:cNvSpPr/>
          <p:nvPr/>
        </p:nvSpPr>
        <p:spPr>
          <a:xfrm>
            <a:off x="8402117" y="4114800"/>
            <a:ext cx="548640" cy="548640"/>
          </a:xfrm>
          <a:prstGeom prst="ellipse">
            <a:avLst/>
          </a:prstGeom>
          <a:solidFill>
            <a:schemeClr val="accent1"/>
          </a:solidFill>
          <a:ln/>
        </p:spPr>
      </p:sp>
      <p:pic>
        <p:nvPicPr>
          <p:cNvPr id="30" name="Feature 6 icon" descr="preencoded.png">    </p:cNvPr>
          <p:cNvPicPr>
            <a:picLocks noChangeAspect="1"/>
          </p:cNvPicPr>
          <p:nvPr/>
        </p:nvPicPr>
        <p:blipFill>
          <a:blip r:embed="rId6"/>
          <a:stretch>
            <a:fillRect/>
          </a:stretch>
        </p:blipFill>
        <p:spPr>
          <a:xfrm>
            <a:off x="8539277" y="4251960"/>
            <a:ext cx="274320" cy="274320"/>
          </a:xfrm>
          <a:prstGeom prst="rect">
            <a:avLst/>
          </a:prstGeom>
        </p:spPr>
      </p:pic>
      <p:sp>
        <p:nvSpPr>
          <p:cNvPr id="31" name="Feature 6 title"/>
          <p:cNvSpPr txBox="1"/>
          <p:nvPr/>
        </p:nvSpPr>
        <p:spPr>
          <a:xfrm>
            <a:off x="9133637" y="411480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Farmer report</a:t>
            </a:r>
            <a:endParaRPr lang="en-US" sz="1800" dirty="0"/>
          </a:p>
        </p:txBody>
      </p:sp>
      <p:sp>
        <p:nvSpPr>
          <p:cNvPr id="32" name="Feature 6 text"/>
          <p:cNvSpPr txBox="1"/>
          <p:nvPr/>
        </p:nvSpPr>
        <p:spPr>
          <a:xfrm>
            <a:off x="8402117" y="480060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Printable English + Tamil report, CSV and GeoJSON export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System architecture</a:t>
            </a:r>
            <a:endParaRPr lang="en-US" sz="3600" dirty="0"/>
          </a:p>
        </p:txBody>
      </p:sp>
      <p:sp>
        <p:nvSpPr>
          <p:cNvPr id="3" name="Layer 1"/>
          <p:cNvSpPr/>
          <p:nvPr/>
        </p:nvSpPr>
        <p:spPr>
          <a:xfrm>
            <a:off x="548640" y="1325880"/>
            <a:ext cx="7498080" cy="632460"/>
          </a:xfrm>
          <a:prstGeom prst="roundRect">
            <a:avLst>
              <a:gd name="adj" fmla="val 14458"/>
            </a:avLst>
          </a:prstGeom>
          <a:solidFill>
            <a:schemeClr val="accent2"/>
          </a:solidFill>
          <a:ln/>
        </p:spPr>
      </p:sp>
      <p:sp>
        <p:nvSpPr>
          <p:cNvPr id="4" name="Layer 1 text"/>
          <p:cNvSpPr txBox="1"/>
          <p:nvPr/>
        </p:nvSpPr>
        <p:spPr>
          <a:xfrm>
            <a:off x="822960" y="1325880"/>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Browser UI</a:t>
            </a:r>
            <a:pPr indent="0" marL="0">
              <a:buNone/>
            </a:pPr>
            <a:r>
              <a:rPr lang="en-US" sz="1500" dirty="0">
                <a:solidFill>
                  <a:schemeClr val="tx1"/>
                </a:solidFill>
              </a:rPr>
              <a:t>   vanilla JS, canvas maps, SVG charts, path animation</a:t>
            </a:r>
            <a:endParaRPr lang="en-US" sz="1500" dirty="0"/>
          </a:p>
        </p:txBody>
      </p:sp>
      <p:sp>
        <p:nvSpPr>
          <p:cNvPr id="5" name="Arrow 1"/>
          <p:cNvSpPr/>
          <p:nvPr/>
        </p:nvSpPr>
        <p:spPr>
          <a:xfrm>
            <a:off x="4206240" y="1976628"/>
            <a:ext cx="201168" cy="164592"/>
          </a:xfrm>
          <a:prstGeom prst="downArrow">
            <a:avLst/>
          </a:prstGeom>
          <a:solidFill>
            <a:schemeClr val="accent4"/>
          </a:solidFill>
          <a:ln/>
        </p:spPr>
      </p:sp>
      <p:sp>
        <p:nvSpPr>
          <p:cNvPr id="6" name="Layer 2"/>
          <p:cNvSpPr/>
          <p:nvPr/>
        </p:nvSpPr>
        <p:spPr>
          <a:xfrm>
            <a:off x="548640" y="2159508"/>
            <a:ext cx="7498080" cy="632460"/>
          </a:xfrm>
          <a:prstGeom prst="roundRect">
            <a:avLst>
              <a:gd name="adj" fmla="val 14458"/>
            </a:avLst>
          </a:prstGeom>
          <a:solidFill>
            <a:schemeClr val="bg2"/>
          </a:solidFill>
          <a:ln/>
        </p:spPr>
      </p:sp>
      <p:sp>
        <p:nvSpPr>
          <p:cNvPr id="7" name="Layer 2 text"/>
          <p:cNvSpPr txBox="1"/>
          <p:nvPr/>
        </p:nvSpPr>
        <p:spPr>
          <a:xfrm>
            <a:off x="822960" y="2159508"/>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app.py</a:t>
            </a:r>
            <a:pPr indent="0" marL="0">
              <a:buNone/>
            </a:pPr>
            <a:r>
              <a:rPr lang="en-US" sz="1500" dirty="0">
                <a:solidFill>
                  <a:schemeClr val="tx1"/>
                </a:solidFill>
              </a:rPr>
              <a:t>   stdlib ThreadingHTTPServer, JSON API, validation</a:t>
            </a:r>
            <a:endParaRPr lang="en-US" sz="1500" dirty="0"/>
          </a:p>
        </p:txBody>
      </p:sp>
      <p:sp>
        <p:nvSpPr>
          <p:cNvPr id="8" name="Arrow 2"/>
          <p:cNvSpPr/>
          <p:nvPr/>
        </p:nvSpPr>
        <p:spPr>
          <a:xfrm>
            <a:off x="4206240" y="2810256"/>
            <a:ext cx="201168" cy="164592"/>
          </a:xfrm>
          <a:prstGeom prst="downArrow">
            <a:avLst/>
          </a:prstGeom>
          <a:solidFill>
            <a:schemeClr val="accent4"/>
          </a:solidFill>
          <a:ln/>
        </p:spPr>
      </p:sp>
      <p:sp>
        <p:nvSpPr>
          <p:cNvPr id="9" name="Layer 3"/>
          <p:cNvSpPr/>
          <p:nvPr/>
        </p:nvSpPr>
        <p:spPr>
          <a:xfrm>
            <a:off x="548640" y="2993136"/>
            <a:ext cx="7498080" cy="632460"/>
          </a:xfrm>
          <a:prstGeom prst="roundRect">
            <a:avLst>
              <a:gd name="adj" fmla="val 14458"/>
            </a:avLst>
          </a:prstGeom>
          <a:solidFill>
            <a:schemeClr val="accent2"/>
          </a:solidFill>
          <a:ln/>
        </p:spPr>
      </p:sp>
      <p:sp>
        <p:nvSpPr>
          <p:cNvPr id="10" name="Layer 3 text"/>
          <p:cNvSpPr txBox="1"/>
          <p:nvPr/>
        </p:nvSpPr>
        <p:spPr>
          <a:xfrm>
            <a:off x="822960" y="2993136"/>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field.py</a:t>
            </a:r>
            <a:pPr indent="0" marL="0">
              <a:buNone/>
            </a:pPr>
            <a:r>
              <a:rPr lang="en-US" sz="1500" dirty="0">
                <a:solidFill>
                  <a:schemeClr val="tx1"/>
                </a:solidFill>
              </a:rPr>
              <a:t>   seeded 4-band field generator with ground truth</a:t>
            </a:r>
            <a:endParaRPr lang="en-US" sz="1500" dirty="0"/>
          </a:p>
        </p:txBody>
      </p:sp>
      <p:sp>
        <p:nvSpPr>
          <p:cNvPr id="11" name="Arrow 3"/>
          <p:cNvSpPr/>
          <p:nvPr/>
        </p:nvSpPr>
        <p:spPr>
          <a:xfrm>
            <a:off x="4206240" y="3643884"/>
            <a:ext cx="201168" cy="164592"/>
          </a:xfrm>
          <a:prstGeom prst="downArrow">
            <a:avLst/>
          </a:prstGeom>
          <a:solidFill>
            <a:schemeClr val="accent4"/>
          </a:solidFill>
          <a:ln/>
        </p:spPr>
      </p:sp>
      <p:sp>
        <p:nvSpPr>
          <p:cNvPr id="12" name="Layer 4"/>
          <p:cNvSpPr/>
          <p:nvPr/>
        </p:nvSpPr>
        <p:spPr>
          <a:xfrm>
            <a:off x="548640" y="3826764"/>
            <a:ext cx="7498080" cy="632460"/>
          </a:xfrm>
          <a:prstGeom prst="roundRect">
            <a:avLst>
              <a:gd name="adj" fmla="val 14458"/>
            </a:avLst>
          </a:prstGeom>
          <a:solidFill>
            <a:schemeClr val="bg2"/>
          </a:solidFill>
          <a:ln/>
        </p:spPr>
      </p:sp>
      <p:sp>
        <p:nvSpPr>
          <p:cNvPr id="13" name="Layer 4 text"/>
          <p:cNvSpPr txBox="1"/>
          <p:nvPr/>
        </p:nvSpPr>
        <p:spPr>
          <a:xfrm>
            <a:off x="822960" y="3826764"/>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analysis</a:t>
            </a:r>
            <a:pPr indent="0" marL="0">
              <a:buNone/>
            </a:pPr>
            <a:r>
              <a:rPr lang="en-US" sz="1500" dirty="0">
                <a:solidFill>
                  <a:schemeClr val="tx1"/>
                </a:solidFill>
              </a:rPr>
              <a:t>   indices, masks, k-means, mode filter, components</a:t>
            </a:r>
            <a:endParaRPr lang="en-US" sz="1500" dirty="0"/>
          </a:p>
        </p:txBody>
      </p:sp>
      <p:sp>
        <p:nvSpPr>
          <p:cNvPr id="14" name="Arrow 4"/>
          <p:cNvSpPr/>
          <p:nvPr/>
        </p:nvSpPr>
        <p:spPr>
          <a:xfrm>
            <a:off x="4206240" y="4477512"/>
            <a:ext cx="201168" cy="164592"/>
          </a:xfrm>
          <a:prstGeom prst="downArrow">
            <a:avLst/>
          </a:prstGeom>
          <a:solidFill>
            <a:schemeClr val="accent4"/>
          </a:solidFill>
          <a:ln/>
        </p:spPr>
      </p:sp>
      <p:sp>
        <p:nvSpPr>
          <p:cNvPr id="15" name="Layer 5"/>
          <p:cNvSpPr/>
          <p:nvPr/>
        </p:nvSpPr>
        <p:spPr>
          <a:xfrm>
            <a:off x="548640" y="4660392"/>
            <a:ext cx="7498080" cy="632460"/>
          </a:xfrm>
          <a:prstGeom prst="roundRect">
            <a:avLst>
              <a:gd name="adj" fmla="val 14458"/>
            </a:avLst>
          </a:prstGeom>
          <a:solidFill>
            <a:schemeClr val="accent2"/>
          </a:solidFill>
          <a:ln/>
        </p:spPr>
      </p:sp>
      <p:sp>
        <p:nvSpPr>
          <p:cNvPr id="16" name="Layer 5 text"/>
          <p:cNvSpPr txBox="1"/>
          <p:nvPr/>
        </p:nvSpPr>
        <p:spPr>
          <a:xfrm>
            <a:off x="822960" y="4660392"/>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classify / change</a:t>
            </a:r>
            <a:pPr indent="0" marL="0">
              <a:buNone/>
            </a:pPr>
            <a:r>
              <a:rPr lang="en-US" sz="1500" dirty="0">
                <a:solidFill>
                  <a:schemeClr val="tx1"/>
                </a:solidFill>
              </a:rPr>
              <a:t>   rule list, ΔNDVI, spread trend, alert</a:t>
            </a:r>
            <a:endParaRPr lang="en-US" sz="1500" dirty="0"/>
          </a:p>
        </p:txBody>
      </p:sp>
      <p:sp>
        <p:nvSpPr>
          <p:cNvPr id="17" name="Arrow 5"/>
          <p:cNvSpPr/>
          <p:nvPr/>
        </p:nvSpPr>
        <p:spPr>
          <a:xfrm>
            <a:off x="4206240" y="5311140"/>
            <a:ext cx="201168" cy="164592"/>
          </a:xfrm>
          <a:prstGeom prst="downArrow">
            <a:avLst/>
          </a:prstGeom>
          <a:solidFill>
            <a:schemeClr val="accent4"/>
          </a:solidFill>
          <a:ln/>
        </p:spPr>
      </p:sp>
      <p:sp>
        <p:nvSpPr>
          <p:cNvPr id="18" name="Layer 6"/>
          <p:cNvSpPr/>
          <p:nvPr/>
        </p:nvSpPr>
        <p:spPr>
          <a:xfrm>
            <a:off x="548640" y="5494020"/>
            <a:ext cx="7498080" cy="632460"/>
          </a:xfrm>
          <a:prstGeom prst="roundRect">
            <a:avLst>
              <a:gd name="adj" fmla="val 14458"/>
            </a:avLst>
          </a:prstGeom>
          <a:solidFill>
            <a:schemeClr val="bg2"/>
          </a:solidFill>
          <a:ln/>
        </p:spPr>
      </p:sp>
      <p:sp>
        <p:nvSpPr>
          <p:cNvPr id="19" name="Layer 6 text"/>
          <p:cNvSpPr txBox="1"/>
          <p:nvPr/>
        </p:nvSpPr>
        <p:spPr>
          <a:xfrm>
            <a:off x="822960" y="5494020"/>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prescription / planner</a:t>
            </a:r>
            <a:pPr indent="0" marL="0">
              <a:buNone/>
            </a:pPr>
            <a:r>
              <a:rPr lang="en-US" sz="1500" dirty="0">
                <a:solidFill>
                  <a:schemeClr val="tx1"/>
                </a:solidFill>
              </a:rPr>
              <a:t>   VRA doses, coverage path, sorties</a:t>
            </a:r>
            <a:endParaRPr lang="en-US" sz="1500" dirty="0"/>
          </a:p>
        </p:txBody>
      </p:sp>
      <p:sp>
        <p:nvSpPr>
          <p:cNvPr id="20" name="Tech card"/>
          <p:cNvSpPr/>
          <p:nvPr/>
        </p:nvSpPr>
        <p:spPr>
          <a:xfrm>
            <a:off x="8412480" y="1325880"/>
            <a:ext cx="3230575" cy="4800600"/>
          </a:xfrm>
          <a:prstGeom prst="roundRect">
            <a:avLst>
              <a:gd name="adj" fmla="val 3397"/>
            </a:avLst>
          </a:prstGeom>
          <a:solidFill>
            <a:schemeClr val="tx2"/>
          </a:solidFill>
          <a:ln/>
        </p:spPr>
      </p:sp>
      <p:sp>
        <p:nvSpPr>
          <p:cNvPr id="21" name="Tech title"/>
          <p:cNvSpPr txBox="1"/>
          <p:nvPr/>
        </p:nvSpPr>
        <p:spPr>
          <a:xfrm>
            <a:off x="8686800" y="1554480"/>
            <a:ext cx="2743200" cy="457200"/>
          </a:xfrm>
          <a:prstGeom prst="rect">
            <a:avLst/>
          </a:prstGeom>
          <a:noFill/>
          <a:ln/>
        </p:spPr>
        <p:txBody>
          <a:bodyPr wrap="square" lIns="0" tIns="0" rIns="0" bIns="0" rtlCol="0" anchor="ctr"/>
          <a:lstStyle/>
          <a:p>
            <a:pPr indent="0" marL="0">
              <a:buNone/>
            </a:pPr>
            <a:r>
              <a:rPr lang="en-US" sz="1800" b="1" dirty="0">
                <a:solidFill>
                  <a:schemeClr val="bg1"/>
                </a:solidFill>
              </a:rPr>
              <a:t>Tech stack</a:t>
            </a:r>
            <a:endParaRPr lang="en-US" sz="1800" dirty="0"/>
          </a:p>
        </p:txBody>
      </p:sp>
      <p:sp>
        <p:nvSpPr>
          <p:cNvPr id="22" name="Tech list"/>
          <p:cNvSpPr txBox="1"/>
          <p:nvPr/>
        </p:nvSpPr>
        <p:spPr>
          <a:xfrm>
            <a:off x="8686800" y="2103120"/>
            <a:ext cx="2743200" cy="274320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chemeClr val="bg1"/>
                </a:solidFill>
              </a:rPr>
              <a:t>Python 3 stdlib only</a:t>
            </a:r>
            <a:endParaRPr lang="en-US" sz="1400" dirty="0"/>
          </a:p>
          <a:p>
            <a:pPr marL="228600" indent="-228600">
              <a:spcAft>
                <a:spcPts val="1000"/>
              </a:spcAft>
              <a:buSzPct val="100000"/>
              <a:buChar char="•"/>
            </a:pPr>
            <a:r>
              <a:rPr lang="en-US" sz="1400" dirty="0">
                <a:solidFill>
                  <a:schemeClr val="bg1"/>
                </a:solidFill>
              </a:rPr>
              <a:t>Vanilla HTML/CSS/JS</a:t>
            </a:r>
            <a:endParaRPr lang="en-US" sz="1400" dirty="0"/>
          </a:p>
          <a:p>
            <a:pPr marL="228600" indent="-228600">
              <a:spcAft>
                <a:spcPts val="1000"/>
              </a:spcAft>
              <a:buSzPct val="100000"/>
              <a:buChar char="•"/>
            </a:pPr>
            <a:r>
              <a:rPr lang="en-US" sz="1400" dirty="0">
                <a:solidFill>
                  <a:schemeClr val="bg1"/>
                </a:solidFill>
              </a:rPr>
              <a:t>Canvas + inline SVG</a:t>
            </a:r>
            <a:endParaRPr lang="en-US" sz="1400" dirty="0"/>
          </a:p>
          <a:p>
            <a:pPr marL="228600" indent="-228600">
              <a:spcAft>
                <a:spcPts val="1000"/>
              </a:spcAft>
              <a:buSzPct val="100000"/>
              <a:buChar char="•"/>
            </a:pPr>
            <a:r>
              <a:rPr lang="en-US" sz="1400" dirty="0">
                <a:solidFill>
                  <a:schemeClr val="bg1"/>
                </a:solidFill>
              </a:rPr>
              <a:t>No CDN, no internet</a:t>
            </a:r>
            <a:endParaRPr lang="en-US" sz="1400" dirty="0"/>
          </a:p>
          <a:p>
            <a:pPr marL="228600" indent="-228600">
              <a:spcAft>
                <a:spcPts val="1000"/>
              </a:spcAft>
              <a:buSzPct val="100000"/>
              <a:buChar char="•"/>
            </a:pPr>
            <a:r>
              <a:rPr lang="en-US" sz="1400" dirty="0">
                <a:solidFill>
                  <a:schemeClr val="bg1"/>
                </a:solidFill>
              </a:rPr>
              <a:t>unittest (77 tests)</a:t>
            </a:r>
            <a:endParaRPr lang="en-US" sz="1400" dirty="0"/>
          </a:p>
        </p:txBody>
      </p:sp>
      <p:sp>
        <p:nvSpPr>
          <p:cNvPr id="23" name="Offline note"/>
          <p:cNvSpPr txBox="1"/>
          <p:nvPr/>
        </p:nvSpPr>
        <p:spPr>
          <a:xfrm>
            <a:off x="8686800" y="5120640"/>
            <a:ext cx="2743200" cy="777240"/>
          </a:xfrm>
          <a:prstGeom prst="rect">
            <a:avLst/>
          </a:prstGeom>
          <a:noFill/>
          <a:ln/>
        </p:spPr>
        <p:txBody>
          <a:bodyPr wrap="square" lIns="0" tIns="0" rIns="0" bIns="0" rtlCol="0" anchor="b"/>
          <a:lstStyle/>
          <a:p>
            <a:pPr indent="0" marL="0">
              <a:buNone/>
            </a:pPr>
            <a:r>
              <a:rPr lang="en-US" sz="1300" i="1" dirty="0">
                <a:solidFill>
                  <a:schemeClr val="accent6"/>
                </a:solidFill>
              </a:rPr>
              <a:t>Runs fully offline · no installs · python app.py</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Algorithms built from scratch</a:t>
            </a:r>
            <a:endParaRPr lang="en-US" sz="3600" dirty="0"/>
          </a:p>
        </p:txBody>
      </p:sp>
      <p:sp>
        <p:nvSpPr>
          <p:cNvPr id="3" name="Algorithm 1 card"/>
          <p:cNvSpPr/>
          <p:nvPr/>
        </p:nvSpPr>
        <p:spPr>
          <a:xfrm>
            <a:off x="548640" y="1371600"/>
            <a:ext cx="5410048" cy="1432560"/>
          </a:xfrm>
          <a:prstGeom prst="roundRect">
            <a:avLst>
              <a:gd name="adj" fmla="val 6383"/>
            </a:avLst>
          </a:prstGeom>
          <a:solidFill>
            <a:schemeClr val="bg2"/>
          </a:solidFill>
          <a:ln/>
        </p:spPr>
      </p:sp>
      <p:sp>
        <p:nvSpPr>
          <p:cNvPr id="4" name="Algorithm 1 number"/>
          <p:cNvSpPr txBox="1"/>
          <p:nvPr/>
        </p:nvSpPr>
        <p:spPr>
          <a:xfrm>
            <a:off x="777240" y="137160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01</a:t>
            </a:r>
            <a:endParaRPr lang="en-US" sz="2800" dirty="0"/>
          </a:p>
        </p:txBody>
      </p:sp>
      <p:sp>
        <p:nvSpPr>
          <p:cNvPr id="5" name="Algorithm 1 text"/>
          <p:cNvSpPr txBox="1"/>
          <p:nvPr/>
        </p:nvSpPr>
        <p:spPr>
          <a:xfrm>
            <a:off x="1554480" y="137160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NDVI / GNDVI / NDRE / SAVI / NDWI</a:t>
            </a:r>
            <a:endParaRPr lang="en-US" sz="1700" dirty="0"/>
          </a:p>
          <a:p>
            <a:pPr indent="0" marL="0">
              <a:buNone/>
            </a:pPr>
            <a:r>
              <a:rPr lang="en-US" sz="1400" dirty="0">
                <a:solidFill>
                  <a:schemeClr val="accent4"/>
                </a:solidFill>
              </a:rPr>
              <a:t>vegetation and water indices</a:t>
            </a:r>
            <a:endParaRPr lang="en-US" sz="1700" dirty="0"/>
          </a:p>
        </p:txBody>
      </p:sp>
      <p:sp>
        <p:nvSpPr>
          <p:cNvPr id="6" name="Algorithm 2 card"/>
          <p:cNvSpPr/>
          <p:nvPr/>
        </p:nvSpPr>
        <p:spPr>
          <a:xfrm>
            <a:off x="6233008" y="1371600"/>
            <a:ext cx="5410048" cy="1432560"/>
          </a:xfrm>
          <a:prstGeom prst="roundRect">
            <a:avLst>
              <a:gd name="adj" fmla="val 6383"/>
            </a:avLst>
          </a:prstGeom>
          <a:solidFill>
            <a:schemeClr val="bg2"/>
          </a:solidFill>
          <a:ln/>
        </p:spPr>
      </p:sp>
      <p:sp>
        <p:nvSpPr>
          <p:cNvPr id="7" name="Algorithm 2 number"/>
          <p:cNvSpPr txBox="1"/>
          <p:nvPr/>
        </p:nvSpPr>
        <p:spPr>
          <a:xfrm>
            <a:off x="6461608" y="137160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02</a:t>
            </a:r>
            <a:endParaRPr lang="en-US" sz="2800" dirty="0"/>
          </a:p>
        </p:txBody>
      </p:sp>
      <p:sp>
        <p:nvSpPr>
          <p:cNvPr id="8" name="Algorithm 2 text"/>
          <p:cNvSpPr txBox="1"/>
          <p:nvPr/>
        </p:nvSpPr>
        <p:spPr>
          <a:xfrm>
            <a:off x="7238848" y="137160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k-means++ with restarts</a:t>
            </a:r>
            <a:endParaRPr lang="en-US" sz="1700" dirty="0"/>
          </a:p>
          <a:p>
            <a:pPr indent="0" marL="0">
              <a:buNone/>
            </a:pPr>
            <a:r>
              <a:rPr lang="en-US" sz="1400" dirty="0">
                <a:solidFill>
                  <a:schemeClr val="accent4"/>
                </a:solidFill>
              </a:rPr>
              <a:t>management zones on crop cells</a:t>
            </a:r>
            <a:endParaRPr lang="en-US" sz="1700" dirty="0"/>
          </a:p>
        </p:txBody>
      </p:sp>
      <p:sp>
        <p:nvSpPr>
          <p:cNvPr id="9" name="Algorithm 3 card"/>
          <p:cNvSpPr/>
          <p:nvPr/>
        </p:nvSpPr>
        <p:spPr>
          <a:xfrm>
            <a:off x="548640" y="3032760"/>
            <a:ext cx="5410048" cy="1432560"/>
          </a:xfrm>
          <a:prstGeom prst="roundRect">
            <a:avLst>
              <a:gd name="adj" fmla="val 6383"/>
            </a:avLst>
          </a:prstGeom>
          <a:solidFill>
            <a:schemeClr val="bg2"/>
          </a:solidFill>
          <a:ln/>
        </p:spPr>
      </p:sp>
      <p:sp>
        <p:nvSpPr>
          <p:cNvPr id="10" name="Algorithm 3 number"/>
          <p:cNvSpPr txBox="1"/>
          <p:nvPr/>
        </p:nvSpPr>
        <p:spPr>
          <a:xfrm>
            <a:off x="777240" y="303276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03</a:t>
            </a:r>
            <a:endParaRPr lang="en-US" sz="2800" dirty="0"/>
          </a:p>
        </p:txBody>
      </p:sp>
      <p:sp>
        <p:nvSpPr>
          <p:cNvPr id="11" name="Algorithm 3 text"/>
          <p:cNvSpPr txBox="1"/>
          <p:nvPr/>
        </p:nvSpPr>
        <p:spPr>
          <a:xfrm>
            <a:off x="1554480" y="303276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Mode filter + connected components</a:t>
            </a:r>
            <a:endParaRPr lang="en-US" sz="1700" dirty="0"/>
          </a:p>
          <a:p>
            <a:pPr indent="0" marL="0">
              <a:buNone/>
            </a:pPr>
            <a:r>
              <a:rPr lang="en-US" sz="1400" dirty="0">
                <a:solidFill>
                  <a:schemeClr val="accent4"/>
                </a:solidFill>
              </a:rPr>
              <a:t>clean, contiguous zones</a:t>
            </a:r>
            <a:endParaRPr lang="en-US" sz="1700" dirty="0"/>
          </a:p>
        </p:txBody>
      </p:sp>
      <p:sp>
        <p:nvSpPr>
          <p:cNvPr id="12" name="Algorithm 4 card"/>
          <p:cNvSpPr/>
          <p:nvPr/>
        </p:nvSpPr>
        <p:spPr>
          <a:xfrm>
            <a:off x="6233008" y="3032760"/>
            <a:ext cx="5410048" cy="1432560"/>
          </a:xfrm>
          <a:prstGeom prst="roundRect">
            <a:avLst>
              <a:gd name="adj" fmla="val 6383"/>
            </a:avLst>
          </a:prstGeom>
          <a:solidFill>
            <a:schemeClr val="bg2"/>
          </a:solidFill>
          <a:ln/>
        </p:spPr>
      </p:sp>
      <p:sp>
        <p:nvSpPr>
          <p:cNvPr id="13" name="Algorithm 4 number"/>
          <p:cNvSpPr txBox="1"/>
          <p:nvPr/>
        </p:nvSpPr>
        <p:spPr>
          <a:xfrm>
            <a:off x="6461608" y="303276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04</a:t>
            </a:r>
            <a:endParaRPr lang="en-US" sz="2800" dirty="0"/>
          </a:p>
        </p:txBody>
      </p:sp>
      <p:sp>
        <p:nvSpPr>
          <p:cNvPr id="14" name="Algorithm 4 text"/>
          <p:cNvSpPr txBox="1"/>
          <p:nvPr/>
        </p:nvSpPr>
        <p:spPr>
          <a:xfrm>
            <a:off x="7238848" y="303276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Ordered rule list vs reference canopy</a:t>
            </a:r>
            <a:endParaRPr lang="en-US" sz="1700" dirty="0"/>
          </a:p>
          <a:p>
            <a:pPr indent="0" marL="0">
              <a:buNone/>
            </a:pPr>
            <a:r>
              <a:rPr lang="en-US" sz="1400" dirty="0">
                <a:solidFill>
                  <a:schemeClr val="accent4"/>
                </a:solidFill>
              </a:rPr>
              <a:t>explainable diagnosis</a:t>
            </a:r>
            <a:endParaRPr lang="en-US" sz="1700" dirty="0"/>
          </a:p>
        </p:txBody>
      </p:sp>
      <p:sp>
        <p:nvSpPr>
          <p:cNvPr id="15" name="Algorithm 5 card"/>
          <p:cNvSpPr/>
          <p:nvPr/>
        </p:nvSpPr>
        <p:spPr>
          <a:xfrm>
            <a:off x="548640" y="4693920"/>
            <a:ext cx="5410048" cy="1432560"/>
          </a:xfrm>
          <a:prstGeom prst="roundRect">
            <a:avLst>
              <a:gd name="adj" fmla="val 6383"/>
            </a:avLst>
          </a:prstGeom>
          <a:solidFill>
            <a:schemeClr val="bg2"/>
          </a:solidFill>
          <a:ln/>
        </p:spPr>
      </p:sp>
      <p:sp>
        <p:nvSpPr>
          <p:cNvPr id="16" name="Algorithm 5 number"/>
          <p:cNvSpPr txBox="1"/>
          <p:nvPr/>
        </p:nvSpPr>
        <p:spPr>
          <a:xfrm>
            <a:off x="777240" y="469392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05</a:t>
            </a:r>
            <a:endParaRPr lang="en-US" sz="2800" dirty="0"/>
          </a:p>
        </p:txBody>
      </p:sp>
      <p:sp>
        <p:nvSpPr>
          <p:cNvPr id="17" name="Algorithm 5 text"/>
          <p:cNvSpPr txBox="1"/>
          <p:nvPr/>
        </p:nvSpPr>
        <p:spPr>
          <a:xfrm>
            <a:off x="1554480" y="469392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ΔNDVI + p90 front advance + OLS on √area</a:t>
            </a:r>
            <a:endParaRPr lang="en-US" sz="1700" dirty="0"/>
          </a:p>
          <a:p>
            <a:pPr indent="0" marL="0">
              <a:buNone/>
            </a:pPr>
            <a:r>
              <a:rPr lang="en-US" sz="1400" dirty="0">
                <a:solidFill>
                  <a:schemeClr val="accent4"/>
                </a:solidFill>
              </a:rPr>
              <a:t>spread rate, warning</a:t>
            </a:r>
            <a:endParaRPr lang="en-US" sz="1700" dirty="0"/>
          </a:p>
        </p:txBody>
      </p:sp>
      <p:sp>
        <p:nvSpPr>
          <p:cNvPr id="18" name="Algorithm 6 card"/>
          <p:cNvSpPr/>
          <p:nvPr/>
        </p:nvSpPr>
        <p:spPr>
          <a:xfrm>
            <a:off x="6233008" y="4693920"/>
            <a:ext cx="5410048" cy="1432560"/>
          </a:xfrm>
          <a:prstGeom prst="roundRect">
            <a:avLst>
              <a:gd name="adj" fmla="val 6383"/>
            </a:avLst>
          </a:prstGeom>
          <a:solidFill>
            <a:schemeClr val="bg2"/>
          </a:solidFill>
          <a:ln/>
        </p:spPr>
      </p:sp>
      <p:sp>
        <p:nvSpPr>
          <p:cNvPr id="19" name="Algorithm 6 number"/>
          <p:cNvSpPr txBox="1"/>
          <p:nvPr/>
        </p:nvSpPr>
        <p:spPr>
          <a:xfrm>
            <a:off x="6461608" y="469392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06</a:t>
            </a:r>
            <a:endParaRPr lang="en-US" sz="2800" dirty="0"/>
          </a:p>
        </p:txBody>
      </p:sp>
      <p:sp>
        <p:nvSpPr>
          <p:cNvPr id="20" name="Algorithm 6 text"/>
          <p:cNvSpPr txBox="1"/>
          <p:nvPr/>
        </p:nvSpPr>
        <p:spPr>
          <a:xfrm>
            <a:off x="7238848" y="469392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Boustrophedon coverage + orientation search</a:t>
            </a:r>
            <a:endParaRPr lang="en-US" sz="1700" dirty="0"/>
          </a:p>
          <a:p>
            <a:pPr indent="0" marL="0">
              <a:buNone/>
            </a:pPr>
            <a:r>
              <a:rPr lang="en-US" sz="1400" dirty="0">
                <a:solidFill>
                  <a:schemeClr val="accent4"/>
                </a:solidFill>
              </a:rPr>
              <a:t>fewest turns, sorties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What makes it different</a:t>
            </a:r>
            <a:endParaRPr lang="en-US" sz="3600" dirty="0"/>
          </a:p>
        </p:txBody>
      </p:sp>
      <p:sp>
        <p:nvSpPr>
          <p:cNvPr id="3" name="Innovation 1 card"/>
          <p:cNvSpPr/>
          <p:nvPr/>
        </p:nvSpPr>
        <p:spPr>
          <a:xfrm>
            <a:off x="548640" y="1371600"/>
            <a:ext cx="5410048" cy="2148840"/>
          </a:xfrm>
          <a:prstGeom prst="roundRect">
            <a:avLst>
              <a:gd name="adj" fmla="val 5106"/>
            </a:avLst>
          </a:prstGeom>
          <a:solidFill>
            <a:schemeClr val="accent2"/>
          </a:solidFill>
          <a:ln/>
        </p:spPr>
      </p:sp>
      <p:sp>
        <p:nvSpPr>
          <p:cNvPr id="4" name="Innovation 1 circle"/>
          <p:cNvSpPr/>
          <p:nvPr/>
        </p:nvSpPr>
        <p:spPr>
          <a:xfrm>
            <a:off x="868680" y="2103120"/>
            <a:ext cx="685800" cy="685800"/>
          </a:xfrm>
          <a:prstGeom prst="ellipse">
            <a:avLst/>
          </a:prstGeom>
          <a:solidFill>
            <a:schemeClr val="accent1"/>
          </a:solidFill>
          <a:ln/>
        </p:spPr>
      </p:sp>
      <p:pic>
        <p:nvPicPr>
          <p:cNvPr id="5" name="Innovation 1 icon" descr="preencoded.png">    </p:cNvPr>
          <p:cNvPicPr>
            <a:picLocks noChangeAspect="1"/>
          </p:cNvPicPr>
          <p:nvPr/>
        </p:nvPicPr>
        <p:blipFill>
          <a:blip r:embed="rId1"/>
          <a:stretch>
            <a:fillRect/>
          </a:stretch>
        </p:blipFill>
        <p:spPr>
          <a:xfrm>
            <a:off x="1040130" y="2274570"/>
            <a:ext cx="342900" cy="342900"/>
          </a:xfrm>
          <a:prstGeom prst="rect">
            <a:avLst/>
          </a:prstGeom>
        </p:spPr>
      </p:pic>
      <p:sp>
        <p:nvSpPr>
          <p:cNvPr id="6" name="Innovation 1 text"/>
          <p:cNvSpPr txBox="1"/>
          <p:nvPr/>
        </p:nvSpPr>
        <p:spPr>
          <a:xfrm>
            <a:off x="1783080" y="1371600"/>
            <a:ext cx="3901288" cy="2148840"/>
          </a:xfrm>
          <a:prstGeom prst="rect">
            <a:avLst/>
          </a:prstGeom>
          <a:noFill/>
          <a:ln/>
        </p:spPr>
        <p:txBody>
          <a:bodyPr wrap="square" lIns="0" tIns="0" rIns="0" bIns="0" rtlCol="0" anchor="ctr"/>
          <a:lstStyle/>
          <a:p>
            <a:pPr indent="0" marL="0">
              <a:buNone/>
            </a:pPr>
            <a:r>
              <a:rPr lang="en-US" sz="2000" dirty="0">
                <a:solidFill>
                  <a:schemeClr val="tx1"/>
                </a:solidFill>
              </a:rPr>
              <a:t>Diagnosis explains itself: every rule, value and threshold shown</a:t>
            </a:r>
            <a:endParaRPr lang="en-US" sz="2000" dirty="0"/>
          </a:p>
        </p:txBody>
      </p:sp>
      <p:sp>
        <p:nvSpPr>
          <p:cNvPr id="7" name="Innovation 2 card"/>
          <p:cNvSpPr/>
          <p:nvPr/>
        </p:nvSpPr>
        <p:spPr>
          <a:xfrm>
            <a:off x="6233008" y="1371600"/>
            <a:ext cx="5410048" cy="2148840"/>
          </a:xfrm>
          <a:prstGeom prst="roundRect">
            <a:avLst>
              <a:gd name="adj" fmla="val 5106"/>
            </a:avLst>
          </a:prstGeom>
          <a:solidFill>
            <a:schemeClr val="bg2"/>
          </a:solidFill>
          <a:ln/>
        </p:spPr>
      </p:sp>
      <p:sp>
        <p:nvSpPr>
          <p:cNvPr id="8" name="Innovation 2 circle"/>
          <p:cNvSpPr/>
          <p:nvPr/>
        </p:nvSpPr>
        <p:spPr>
          <a:xfrm>
            <a:off x="6553048" y="2103120"/>
            <a:ext cx="685800" cy="685800"/>
          </a:xfrm>
          <a:prstGeom prst="ellipse">
            <a:avLst/>
          </a:prstGeom>
          <a:solidFill>
            <a:schemeClr val="accent1"/>
          </a:solidFill>
          <a:ln/>
        </p:spPr>
      </p:sp>
      <p:pic>
        <p:nvPicPr>
          <p:cNvPr id="9" name="Innovation 2 icon" descr="preencoded.png">    </p:cNvPr>
          <p:cNvPicPr>
            <a:picLocks noChangeAspect="1"/>
          </p:cNvPicPr>
          <p:nvPr/>
        </p:nvPicPr>
        <p:blipFill>
          <a:blip r:embed="rId2"/>
          <a:stretch>
            <a:fillRect/>
          </a:stretch>
        </p:blipFill>
        <p:spPr>
          <a:xfrm>
            <a:off x="6724498" y="2274570"/>
            <a:ext cx="342900" cy="342900"/>
          </a:xfrm>
          <a:prstGeom prst="rect">
            <a:avLst/>
          </a:prstGeom>
        </p:spPr>
      </p:pic>
      <p:sp>
        <p:nvSpPr>
          <p:cNvPr id="10" name="Innovation 2 text"/>
          <p:cNvSpPr txBox="1"/>
          <p:nvPr/>
        </p:nvSpPr>
        <p:spPr>
          <a:xfrm>
            <a:off x="7467448" y="1371600"/>
            <a:ext cx="3901288" cy="2148840"/>
          </a:xfrm>
          <a:prstGeom prst="rect">
            <a:avLst/>
          </a:prstGeom>
          <a:noFill/>
          <a:ln/>
        </p:spPr>
        <p:txBody>
          <a:bodyPr wrap="square" lIns="0" tIns="0" rIns="0" bIns="0" rtlCol="0" anchor="ctr"/>
          <a:lstStyle/>
          <a:p>
            <a:pPr indent="0" marL="0">
              <a:buNone/>
            </a:pPr>
            <a:r>
              <a:rPr lang="en-US" sz="2000" dirty="0">
                <a:solidFill>
                  <a:schemeClr val="tx1"/>
                </a:solidFill>
              </a:rPr>
              <a:t>Plans the drone path from the prescription, not just a map</a:t>
            </a:r>
            <a:endParaRPr lang="en-US" sz="2000" dirty="0"/>
          </a:p>
        </p:txBody>
      </p:sp>
      <p:sp>
        <p:nvSpPr>
          <p:cNvPr id="11" name="Innovation 3 card"/>
          <p:cNvSpPr/>
          <p:nvPr/>
        </p:nvSpPr>
        <p:spPr>
          <a:xfrm>
            <a:off x="548640" y="3794760"/>
            <a:ext cx="5410048" cy="2148840"/>
          </a:xfrm>
          <a:prstGeom prst="roundRect">
            <a:avLst>
              <a:gd name="adj" fmla="val 5106"/>
            </a:avLst>
          </a:prstGeom>
          <a:solidFill>
            <a:schemeClr val="bg2"/>
          </a:solidFill>
          <a:ln/>
        </p:spPr>
      </p:sp>
      <p:sp>
        <p:nvSpPr>
          <p:cNvPr id="12" name="Innovation 3 circle"/>
          <p:cNvSpPr/>
          <p:nvPr/>
        </p:nvSpPr>
        <p:spPr>
          <a:xfrm>
            <a:off x="868680" y="4526280"/>
            <a:ext cx="685800" cy="685800"/>
          </a:xfrm>
          <a:prstGeom prst="ellipse">
            <a:avLst/>
          </a:prstGeom>
          <a:solidFill>
            <a:schemeClr val="accent1"/>
          </a:solidFill>
          <a:ln/>
        </p:spPr>
      </p:sp>
      <p:pic>
        <p:nvPicPr>
          <p:cNvPr id="13" name="Innovation 3 icon" descr="preencoded.png">    </p:cNvPr>
          <p:cNvPicPr>
            <a:picLocks noChangeAspect="1"/>
          </p:cNvPicPr>
          <p:nvPr/>
        </p:nvPicPr>
        <p:blipFill>
          <a:blip r:embed="rId3"/>
          <a:stretch>
            <a:fillRect/>
          </a:stretch>
        </p:blipFill>
        <p:spPr>
          <a:xfrm>
            <a:off x="1040130" y="4697730"/>
            <a:ext cx="342900" cy="342900"/>
          </a:xfrm>
          <a:prstGeom prst="rect">
            <a:avLst/>
          </a:prstGeom>
        </p:spPr>
      </p:pic>
      <p:sp>
        <p:nvSpPr>
          <p:cNvPr id="14" name="Innovation 3 text"/>
          <p:cNvSpPr txBox="1"/>
          <p:nvPr/>
        </p:nvSpPr>
        <p:spPr>
          <a:xfrm>
            <a:off x="1783080" y="3794760"/>
            <a:ext cx="3901288" cy="2148840"/>
          </a:xfrm>
          <a:prstGeom prst="rect">
            <a:avLst/>
          </a:prstGeom>
          <a:noFill/>
          <a:ln/>
        </p:spPr>
        <p:txBody>
          <a:bodyPr wrap="square" lIns="0" tIns="0" rIns="0" bIns="0" rtlCol="0" anchor="ctr"/>
          <a:lstStyle/>
          <a:p>
            <a:pPr indent="0" marL="0">
              <a:buNone/>
            </a:pPr>
            <a:r>
              <a:rPr lang="en-US" sz="2000" dirty="0">
                <a:solidFill>
                  <a:schemeClr val="tx1"/>
                </a:solidFill>
              </a:rPr>
              <a:t>Warns on spread speed, not only on today's damage</a:t>
            </a:r>
            <a:endParaRPr lang="en-US" sz="2000" dirty="0"/>
          </a:p>
        </p:txBody>
      </p:sp>
      <p:sp>
        <p:nvSpPr>
          <p:cNvPr id="15" name="Innovation 4 card"/>
          <p:cNvSpPr/>
          <p:nvPr/>
        </p:nvSpPr>
        <p:spPr>
          <a:xfrm>
            <a:off x="6233008" y="3794760"/>
            <a:ext cx="5410048" cy="2148840"/>
          </a:xfrm>
          <a:prstGeom prst="roundRect">
            <a:avLst>
              <a:gd name="adj" fmla="val 5106"/>
            </a:avLst>
          </a:prstGeom>
          <a:solidFill>
            <a:schemeClr val="accent2"/>
          </a:solidFill>
          <a:ln/>
        </p:spPr>
      </p:sp>
      <p:sp>
        <p:nvSpPr>
          <p:cNvPr id="16" name="Innovation 4 circle"/>
          <p:cNvSpPr/>
          <p:nvPr/>
        </p:nvSpPr>
        <p:spPr>
          <a:xfrm>
            <a:off x="6553048" y="4526280"/>
            <a:ext cx="685800" cy="685800"/>
          </a:xfrm>
          <a:prstGeom prst="ellipse">
            <a:avLst/>
          </a:prstGeom>
          <a:solidFill>
            <a:schemeClr val="accent1"/>
          </a:solidFill>
          <a:ln/>
        </p:spPr>
      </p:sp>
      <p:pic>
        <p:nvPicPr>
          <p:cNvPr id="17" name="Innovation 4 icon" descr="preencoded.png">    </p:cNvPr>
          <p:cNvPicPr>
            <a:picLocks noChangeAspect="1"/>
          </p:cNvPicPr>
          <p:nvPr/>
        </p:nvPicPr>
        <p:blipFill>
          <a:blip r:embed="rId4"/>
          <a:stretch>
            <a:fillRect/>
          </a:stretch>
        </p:blipFill>
        <p:spPr>
          <a:xfrm>
            <a:off x="6724498" y="4697730"/>
            <a:ext cx="342900" cy="342900"/>
          </a:xfrm>
          <a:prstGeom prst="rect">
            <a:avLst/>
          </a:prstGeom>
        </p:spPr>
      </p:pic>
      <p:sp>
        <p:nvSpPr>
          <p:cNvPr id="18" name="Innovation 4 text"/>
          <p:cNvSpPr txBox="1"/>
          <p:nvPr/>
        </p:nvSpPr>
        <p:spPr>
          <a:xfrm>
            <a:off x="7467448" y="3794760"/>
            <a:ext cx="3901288" cy="2148840"/>
          </a:xfrm>
          <a:prstGeom prst="rect">
            <a:avLst/>
          </a:prstGeom>
          <a:noFill/>
          <a:ln/>
        </p:spPr>
        <p:txBody>
          <a:bodyPr wrap="square" lIns="0" tIns="0" rIns="0" bIns="0" rtlCol="0" anchor="ctr"/>
          <a:lstStyle/>
          <a:p>
            <a:pPr indent="0" marL="0">
              <a:buNone/>
            </a:pPr>
            <a:r>
              <a:rPr lang="en-US" sz="2000" dirty="0">
                <a:solidFill>
                  <a:schemeClr val="tx1"/>
                </a:solidFill>
              </a:rPr>
              <a:t>Fully offline on a ₹15k laptop, Tamil farmer report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Measured results</a:t>
            </a:r>
            <a:endParaRPr lang="en-US" sz="3600" dirty="0"/>
          </a:p>
        </p:txBody>
      </p:sp>
      <p:sp>
        <p:nvSpPr>
          <p:cNvPr id="3" name="Result 1 card"/>
          <p:cNvSpPr/>
          <p:nvPr/>
        </p:nvSpPr>
        <p:spPr>
          <a:xfrm>
            <a:off x="548640" y="1463040"/>
            <a:ext cx="2567864" cy="2377440"/>
          </a:xfrm>
          <a:prstGeom prst="roundRect">
            <a:avLst>
              <a:gd name="adj" fmla="val 4615"/>
            </a:avLst>
          </a:prstGeom>
          <a:solidFill>
            <a:schemeClr val="tx2"/>
          </a:solidFill>
          <a:ln/>
          <a:effectLst>
            <a:outerShdw sx="100000" sy="100000" kx="0" ky="0" algn="bl" rotWithShape="0" blurRad="101600" dist="25400" dir="5400000">
              <a:srgbClr val="000000">
                <a:alpha val="14000"/>
              </a:srgbClr>
            </a:outerShdw>
          </a:effectLst>
        </p:spPr>
      </p:sp>
      <p:sp>
        <p:nvSpPr>
          <p:cNvPr id="4" name="Result 1 value"/>
          <p:cNvSpPr txBox="1"/>
          <p:nvPr/>
        </p:nvSpPr>
        <p:spPr>
          <a:xfrm>
            <a:off x="777240" y="1645920"/>
            <a:ext cx="2110664" cy="1097280"/>
          </a:xfrm>
          <a:prstGeom prst="rect">
            <a:avLst/>
          </a:prstGeom>
          <a:noFill/>
          <a:ln/>
        </p:spPr>
        <p:txBody>
          <a:bodyPr wrap="square" lIns="0" tIns="0" rIns="0" bIns="0" rtlCol="0" anchor="ctr">
            <a:normAutofit/>
          </a:bodyPr>
          <a:lstStyle/>
          <a:p>
            <a:pPr algn="ctr" indent="0" marL="0">
              <a:buNone/>
            </a:pPr>
            <a:r>
              <a:rPr lang="en-US" sz="4000" b="1" dirty="0">
                <a:solidFill>
                  <a:schemeClr val="accent6"/>
                </a:solidFill>
              </a:rPr>
              <a:t>98.6%</a:t>
            </a:r>
            <a:endParaRPr lang="en-US" sz="4000" dirty="0"/>
          </a:p>
        </p:txBody>
      </p:sp>
      <p:sp>
        <p:nvSpPr>
          <p:cNvPr id="5" name="Result 1 label"/>
          <p:cNvSpPr txBox="1"/>
          <p:nvPr/>
        </p:nvSpPr>
        <p:spPr>
          <a:xfrm>
            <a:off x="777240" y="2743200"/>
            <a:ext cx="2110664" cy="914400"/>
          </a:xfrm>
          <a:prstGeom prst="rect">
            <a:avLst/>
          </a:prstGeom>
          <a:noFill/>
          <a:ln/>
        </p:spPr>
        <p:txBody>
          <a:bodyPr wrap="square" lIns="0" tIns="0" rIns="0" bIns="0" rtlCol="0" anchor="t"/>
          <a:lstStyle/>
          <a:p>
            <a:pPr algn="ctr" indent="0" marL="0">
              <a:buNone/>
            </a:pPr>
            <a:r>
              <a:rPr lang="en-US" sz="1400" dirty="0">
                <a:solidFill>
                  <a:schemeClr val="bg1"/>
                </a:solidFill>
              </a:rPr>
              <a:t>zone accuracy vs truth, 20 unseen fields × 5 flights</a:t>
            </a:r>
            <a:endParaRPr lang="en-US" sz="1400" dirty="0"/>
          </a:p>
        </p:txBody>
      </p:sp>
      <p:sp>
        <p:nvSpPr>
          <p:cNvPr id="6" name="Result 2 card"/>
          <p:cNvSpPr/>
          <p:nvPr/>
        </p:nvSpPr>
        <p:spPr>
          <a:xfrm>
            <a:off x="3390824" y="1463040"/>
            <a:ext cx="2567864" cy="2377440"/>
          </a:xfrm>
          <a:prstGeom prst="roundRect">
            <a:avLst>
              <a:gd name="adj" fmla="val 4615"/>
            </a:avLst>
          </a:prstGeom>
          <a:solidFill>
            <a:schemeClr val="tx2"/>
          </a:solidFill>
          <a:ln/>
          <a:effectLst>
            <a:outerShdw sx="100000" sy="100000" kx="0" ky="0" algn="bl" rotWithShape="0" blurRad="101600" dist="25400" dir="5400000">
              <a:srgbClr val="000000">
                <a:alpha val="14000"/>
              </a:srgbClr>
            </a:outerShdw>
          </a:effectLst>
        </p:spPr>
      </p:sp>
      <p:sp>
        <p:nvSpPr>
          <p:cNvPr id="7" name="Result 2 value"/>
          <p:cNvSpPr txBox="1"/>
          <p:nvPr/>
        </p:nvSpPr>
        <p:spPr>
          <a:xfrm>
            <a:off x="3619424" y="1645920"/>
            <a:ext cx="2110664" cy="1097280"/>
          </a:xfrm>
          <a:prstGeom prst="rect">
            <a:avLst/>
          </a:prstGeom>
          <a:noFill/>
          <a:ln/>
        </p:spPr>
        <p:txBody>
          <a:bodyPr wrap="square" lIns="0" tIns="0" rIns="0" bIns="0" rtlCol="0" anchor="ctr">
            <a:normAutofit/>
          </a:bodyPr>
          <a:lstStyle/>
          <a:p>
            <a:pPr algn="ctr" indent="0" marL="0">
              <a:buNone/>
            </a:pPr>
            <a:r>
              <a:rPr lang="en-US" sz="4000" b="1" dirty="0">
                <a:solidFill>
                  <a:schemeClr val="accent6"/>
                </a:solidFill>
              </a:rPr>
              <a:t>89%</a:t>
            </a:r>
            <a:endParaRPr lang="en-US" sz="4000" dirty="0"/>
          </a:p>
        </p:txBody>
      </p:sp>
      <p:sp>
        <p:nvSpPr>
          <p:cNvPr id="8" name="Result 2 label"/>
          <p:cNvSpPr txBox="1"/>
          <p:nvPr/>
        </p:nvSpPr>
        <p:spPr>
          <a:xfrm>
            <a:off x="3619424" y="2743200"/>
            <a:ext cx="2110664" cy="914400"/>
          </a:xfrm>
          <a:prstGeom prst="rect">
            <a:avLst/>
          </a:prstGeom>
          <a:noFill/>
          <a:ln/>
        </p:spPr>
        <p:txBody>
          <a:bodyPr wrap="square" lIns="0" tIns="0" rIns="0" bIns="0" rtlCol="0" anchor="t"/>
          <a:lstStyle/>
          <a:p>
            <a:pPr algn="ctr" indent="0" marL="0">
              <a:buNone/>
            </a:pPr>
            <a:r>
              <a:rPr lang="en-US" sz="1400" dirty="0">
                <a:solidFill>
                  <a:schemeClr val="bg1"/>
                </a:solidFill>
              </a:rPr>
              <a:t>pesticide saved vs blanket spray (urea 86%)</a:t>
            </a:r>
            <a:endParaRPr lang="en-US" sz="1400" dirty="0"/>
          </a:p>
        </p:txBody>
      </p:sp>
      <p:sp>
        <p:nvSpPr>
          <p:cNvPr id="9" name="Result 3 card"/>
          <p:cNvSpPr/>
          <p:nvPr/>
        </p:nvSpPr>
        <p:spPr>
          <a:xfrm>
            <a:off x="6233008" y="1463040"/>
            <a:ext cx="2567864" cy="2377440"/>
          </a:xfrm>
          <a:prstGeom prst="roundRect">
            <a:avLst>
              <a:gd name="adj" fmla="val 4615"/>
            </a:avLst>
          </a:prstGeom>
          <a:solidFill>
            <a:schemeClr val="tx2"/>
          </a:solidFill>
          <a:ln/>
          <a:effectLst>
            <a:outerShdw sx="100000" sy="100000" kx="0" ky="0" algn="bl" rotWithShape="0" blurRad="101600" dist="25400" dir="5400000">
              <a:srgbClr val="000000">
                <a:alpha val="14000"/>
              </a:srgbClr>
            </a:outerShdw>
          </a:effectLst>
        </p:spPr>
      </p:sp>
      <p:sp>
        <p:nvSpPr>
          <p:cNvPr id="10" name="Result 3 value"/>
          <p:cNvSpPr txBox="1"/>
          <p:nvPr/>
        </p:nvSpPr>
        <p:spPr>
          <a:xfrm>
            <a:off x="6461608" y="1645920"/>
            <a:ext cx="2110664" cy="1097280"/>
          </a:xfrm>
          <a:prstGeom prst="rect">
            <a:avLst/>
          </a:prstGeom>
          <a:noFill/>
          <a:ln/>
        </p:spPr>
        <p:txBody>
          <a:bodyPr wrap="square" lIns="0" tIns="0" rIns="0" bIns="0" rtlCol="0" anchor="ctr">
            <a:normAutofit/>
          </a:bodyPr>
          <a:lstStyle/>
          <a:p>
            <a:pPr algn="ctr" indent="0" marL="0">
              <a:buNone/>
            </a:pPr>
            <a:r>
              <a:rPr lang="en-US" sz="4000" b="1" dirty="0">
                <a:solidFill>
                  <a:schemeClr val="accent6"/>
                </a:solidFill>
              </a:rPr>
              <a:t>100%</a:t>
            </a:r>
            <a:endParaRPr lang="en-US" sz="4000" dirty="0"/>
          </a:p>
        </p:txBody>
      </p:sp>
      <p:sp>
        <p:nvSpPr>
          <p:cNvPr id="11" name="Result 3 label"/>
          <p:cNvSpPr txBox="1"/>
          <p:nvPr/>
        </p:nvSpPr>
        <p:spPr>
          <a:xfrm>
            <a:off x="6461608" y="2743200"/>
            <a:ext cx="2110664" cy="914400"/>
          </a:xfrm>
          <a:prstGeom prst="rect">
            <a:avLst/>
          </a:prstGeom>
          <a:noFill/>
          <a:ln/>
        </p:spPr>
        <p:txBody>
          <a:bodyPr wrap="square" lIns="0" tIns="0" rIns="0" bIns="0" rtlCol="0" anchor="t"/>
          <a:lstStyle/>
          <a:p>
            <a:pPr algn="ctr" indent="0" marL="0">
              <a:buNone/>
            </a:pPr>
            <a:r>
              <a:rPr lang="en-US" sz="1400" dirty="0">
                <a:solidFill>
                  <a:schemeClr val="bg1"/>
                </a:solidFill>
              </a:rPr>
              <a:t>target cells sprayed exactly once, every field</a:t>
            </a:r>
            <a:endParaRPr lang="en-US" sz="1400" dirty="0"/>
          </a:p>
        </p:txBody>
      </p:sp>
      <p:sp>
        <p:nvSpPr>
          <p:cNvPr id="12" name="Result 4 card"/>
          <p:cNvSpPr/>
          <p:nvPr/>
        </p:nvSpPr>
        <p:spPr>
          <a:xfrm>
            <a:off x="9075191" y="1463040"/>
            <a:ext cx="2567864" cy="2377440"/>
          </a:xfrm>
          <a:prstGeom prst="roundRect">
            <a:avLst>
              <a:gd name="adj" fmla="val 4615"/>
            </a:avLst>
          </a:prstGeom>
          <a:solidFill>
            <a:schemeClr val="tx2"/>
          </a:solidFill>
          <a:ln/>
          <a:effectLst>
            <a:outerShdw sx="100000" sy="100000" kx="0" ky="0" algn="bl" rotWithShape="0" blurRad="101600" dist="25400" dir="5400000">
              <a:srgbClr val="000000">
                <a:alpha val="14000"/>
              </a:srgbClr>
            </a:outerShdw>
          </a:effectLst>
        </p:spPr>
      </p:sp>
      <p:sp>
        <p:nvSpPr>
          <p:cNvPr id="13" name="Result 4 value"/>
          <p:cNvSpPr txBox="1"/>
          <p:nvPr/>
        </p:nvSpPr>
        <p:spPr>
          <a:xfrm>
            <a:off x="9303791" y="1645920"/>
            <a:ext cx="2110664" cy="1097280"/>
          </a:xfrm>
          <a:prstGeom prst="rect">
            <a:avLst/>
          </a:prstGeom>
          <a:noFill/>
          <a:ln/>
        </p:spPr>
        <p:txBody>
          <a:bodyPr wrap="square" lIns="0" tIns="0" rIns="0" bIns="0" rtlCol="0" anchor="ctr">
            <a:normAutofit/>
          </a:bodyPr>
          <a:lstStyle/>
          <a:p>
            <a:pPr algn="ctr" indent="0" marL="0">
              <a:buNone/>
            </a:pPr>
            <a:r>
              <a:rPr lang="en-US" sz="4000" b="1" dirty="0">
                <a:solidFill>
                  <a:schemeClr val="accent6"/>
                </a:solidFill>
              </a:rPr>
              <a:t>6.9%</a:t>
            </a:r>
            <a:endParaRPr lang="en-US" sz="4000" dirty="0"/>
          </a:p>
        </p:txBody>
      </p:sp>
      <p:sp>
        <p:nvSpPr>
          <p:cNvPr id="14" name="Result 4 label"/>
          <p:cNvSpPr txBox="1"/>
          <p:nvPr/>
        </p:nvSpPr>
        <p:spPr>
          <a:xfrm>
            <a:off x="9303791" y="2743200"/>
            <a:ext cx="2110664" cy="914400"/>
          </a:xfrm>
          <a:prstGeom prst="rect">
            <a:avLst/>
          </a:prstGeom>
          <a:noFill/>
          <a:ln/>
        </p:spPr>
        <p:txBody>
          <a:bodyPr wrap="square" lIns="0" tIns="0" rIns="0" bIns="0" rtlCol="0" anchor="t"/>
          <a:lstStyle/>
          <a:p>
            <a:pPr algn="ctr" indent="0" marL="0">
              <a:buNone/>
            </a:pPr>
            <a:r>
              <a:rPr lang="en-US" sz="1400" dirty="0">
                <a:solidFill>
                  <a:schemeClr val="bg1"/>
                </a:solidFill>
              </a:rPr>
              <a:t>error of pest front-speed estimate</a:t>
            </a:r>
            <a:endParaRPr lang="en-US" sz="1400" dirty="0"/>
          </a:p>
        </p:txBody>
      </p:sp>
      <p:sp>
        <p:nvSpPr>
          <p:cNvPr id="15" name="Results caveat"/>
          <p:cNvSpPr txBox="1"/>
          <p:nvPr/>
        </p:nvSpPr>
        <p:spPr>
          <a:xfrm>
            <a:off x="548640" y="4160520"/>
            <a:ext cx="11094415" cy="457200"/>
          </a:xfrm>
          <a:prstGeom prst="rect">
            <a:avLst/>
          </a:prstGeom>
          <a:noFill/>
          <a:ln/>
        </p:spPr>
        <p:txBody>
          <a:bodyPr wrap="square" lIns="0" tIns="0" rIns="0" bIns="0" rtlCol="0" anchor="ctr"/>
          <a:lstStyle/>
          <a:p>
            <a:pPr indent="0" marL="0">
              <a:buNone/>
            </a:pPr>
            <a:r>
              <a:rPr lang="en-US" sz="1200" i="1" dirty="0">
                <a:solidFill>
                  <a:schemeClr val="accent4"/>
                </a:solidFill>
              </a:rPr>
              <a:t>Measured on held-out data generated by the project (see REPORT.md for method). Real-world performance needs field validation.</a:t>
            </a:r>
            <a:endParaRPr lang="en-US" sz="1200" dirty="0"/>
          </a:p>
        </p:txBody>
      </p:sp>
      <p:sp>
        <p:nvSpPr>
          <p:cNvPr id="16" name="Impact strip"/>
          <p:cNvSpPr/>
          <p:nvPr/>
        </p:nvSpPr>
        <p:spPr>
          <a:xfrm>
            <a:off x="548640" y="4754880"/>
            <a:ext cx="11094415" cy="1371600"/>
          </a:xfrm>
          <a:prstGeom prst="roundRect">
            <a:avLst>
              <a:gd name="adj" fmla="val 8000"/>
            </a:avLst>
          </a:prstGeom>
          <a:solidFill>
            <a:schemeClr val="accent2"/>
          </a:solidFill>
          <a:ln/>
        </p:spPr>
      </p:sp>
      <p:sp>
        <p:nvSpPr>
          <p:cNvPr id="17" name="Impact circle"/>
          <p:cNvSpPr/>
          <p:nvPr/>
        </p:nvSpPr>
        <p:spPr>
          <a:xfrm>
            <a:off x="822960" y="5120640"/>
            <a:ext cx="640080" cy="640080"/>
          </a:xfrm>
          <a:prstGeom prst="ellipse">
            <a:avLst/>
          </a:prstGeom>
          <a:solidFill>
            <a:schemeClr val="accent1"/>
          </a:solidFill>
          <a:ln/>
        </p:spPr>
      </p:sp>
      <p:pic>
        <p:nvPicPr>
          <p:cNvPr id="18" name="Impact icon" descr="preencoded.png">    </p:cNvPr>
          <p:cNvPicPr>
            <a:picLocks noChangeAspect="1"/>
          </p:cNvPicPr>
          <p:nvPr/>
        </p:nvPicPr>
        <p:blipFill>
          <a:blip r:embed="rId1"/>
          <a:stretch>
            <a:fillRect/>
          </a:stretch>
        </p:blipFill>
        <p:spPr>
          <a:xfrm>
            <a:off x="982980" y="5280660"/>
            <a:ext cx="320040" cy="320040"/>
          </a:xfrm>
          <a:prstGeom prst="rect">
            <a:avLst/>
          </a:prstGeom>
        </p:spPr>
      </p:pic>
      <p:sp>
        <p:nvSpPr>
          <p:cNvPr id="19" name="Impact text"/>
          <p:cNvSpPr txBox="1"/>
          <p:nvPr/>
        </p:nvSpPr>
        <p:spPr>
          <a:xfrm>
            <a:off x="1737360" y="4754880"/>
            <a:ext cx="9631375" cy="1371600"/>
          </a:xfrm>
          <a:prstGeom prst="rect">
            <a:avLst/>
          </a:prstGeom>
          <a:noFill/>
          <a:ln/>
        </p:spPr>
        <p:txBody>
          <a:bodyPr wrap="square" lIns="0" tIns="0" rIns="0" bIns="0" rtlCol="0" anchor="ctr"/>
          <a:lstStyle/>
          <a:p>
            <a:pPr indent="0" marL="0">
              <a:buNone/>
            </a:pPr>
            <a:r>
              <a:rPr lang="en-US" sz="1500" b="1" dirty="0">
                <a:solidFill>
                  <a:schemeClr val="accent3"/>
                </a:solidFill>
              </a:rPr>
              <a:t>Impact  </a:t>
            </a:r>
            <a:pPr indent="0" marL="0">
              <a:buNone/>
            </a:pPr>
            <a:r>
              <a:rPr lang="en-US" sz="1500" dirty="0">
                <a:solidFill>
                  <a:schemeClr val="tx1"/>
                </a:solidFill>
              </a:rPr>
              <a:t>Less pesticide and urea per spray round lowers input cost  ·  Less chemical reaching soil, channels and groundwater  ·  Less operator exposure: drone sprays only small patches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Live demo in 3 minutes</a:t>
            </a:r>
            <a:endParaRPr lang="en-US" sz="3600" dirty="0"/>
          </a:p>
        </p:txBody>
      </p:sp>
      <p:sp>
        <p:nvSpPr>
          <p:cNvPr id="3" name="Step 1 dot"/>
          <p:cNvSpPr/>
          <p:nvPr/>
        </p:nvSpPr>
        <p:spPr>
          <a:xfrm>
            <a:off x="548640" y="1435608"/>
            <a:ext cx="457200" cy="457200"/>
          </a:xfrm>
          <a:prstGeom prst="ellipse">
            <a:avLst/>
          </a:prstGeom>
          <a:solidFill>
            <a:schemeClr val="accent1"/>
          </a:solidFill>
          <a:ln/>
        </p:spPr>
      </p:sp>
      <p:sp>
        <p:nvSpPr>
          <p:cNvPr id="4" name="Step 1 number"/>
          <p:cNvSpPr txBox="1"/>
          <p:nvPr/>
        </p:nvSpPr>
        <p:spPr>
          <a:xfrm>
            <a:off x="548640" y="14356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Step 1 text"/>
          <p:cNvSpPr txBox="1"/>
          <p:nvPr/>
        </p:nvSpPr>
        <p:spPr>
          <a:xfrm>
            <a:off x="1234440" y="1371600"/>
            <a:ext cx="5120640" cy="585216"/>
          </a:xfrm>
          <a:prstGeom prst="rect">
            <a:avLst/>
          </a:prstGeom>
          <a:noFill/>
          <a:ln/>
        </p:spPr>
        <p:txBody>
          <a:bodyPr wrap="square" lIns="0" tIns="0" rIns="0" bIns="0" rtlCol="0" anchor="ctr"/>
          <a:lstStyle/>
          <a:p>
            <a:pPr indent="0" marL="0">
              <a:buNone/>
            </a:pPr>
            <a:r>
              <a:rPr lang="en-US" sz="1600" dirty="0">
                <a:solidFill>
                  <a:schemeClr val="tx1"/>
                </a:solidFill>
              </a:rPr>
              <a:t>Open dashboard on phone + projector, Wi-Fi off</a:t>
            </a:r>
            <a:endParaRPr lang="en-US" sz="1600" dirty="0"/>
          </a:p>
        </p:txBody>
      </p:sp>
      <p:sp>
        <p:nvSpPr>
          <p:cNvPr id="6" name="Step 2 dot"/>
          <p:cNvSpPr/>
          <p:nvPr/>
        </p:nvSpPr>
        <p:spPr>
          <a:xfrm>
            <a:off x="548640" y="2130552"/>
            <a:ext cx="457200" cy="457200"/>
          </a:xfrm>
          <a:prstGeom prst="ellipse">
            <a:avLst/>
          </a:prstGeom>
          <a:solidFill>
            <a:schemeClr val="accent1"/>
          </a:solidFill>
          <a:ln/>
        </p:spPr>
      </p:sp>
      <p:sp>
        <p:nvSpPr>
          <p:cNvPr id="7" name="Step 2 number"/>
          <p:cNvSpPr txBox="1"/>
          <p:nvPr/>
        </p:nvSpPr>
        <p:spPr>
          <a:xfrm>
            <a:off x="548640" y="21305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Step 2 text"/>
          <p:cNvSpPr txBox="1"/>
          <p:nvPr/>
        </p:nvSpPr>
        <p:spPr>
          <a:xfrm>
            <a:off x="1234440" y="2066544"/>
            <a:ext cx="5120640" cy="585216"/>
          </a:xfrm>
          <a:prstGeom prst="rect">
            <a:avLst/>
          </a:prstGeom>
          <a:noFill/>
          <a:ln/>
        </p:spPr>
        <p:txBody>
          <a:bodyPr wrap="square" lIns="0" tIns="0" rIns="0" bIns="0" rtlCol="0" anchor="ctr"/>
          <a:lstStyle/>
          <a:p>
            <a:pPr indent="0" marL="0">
              <a:buNone/>
            </a:pPr>
            <a:r>
              <a:rPr lang="en-US" sz="1600" dirty="0">
                <a:solidFill>
                  <a:schemeClr val="tx1"/>
                </a:solidFill>
              </a:rPr>
              <a:t>Play Weeks: pest patch grows from the corner</a:t>
            </a:r>
            <a:endParaRPr lang="en-US" sz="1600" dirty="0"/>
          </a:p>
        </p:txBody>
      </p:sp>
      <p:sp>
        <p:nvSpPr>
          <p:cNvPr id="9" name="Step 3 dot"/>
          <p:cNvSpPr/>
          <p:nvPr/>
        </p:nvSpPr>
        <p:spPr>
          <a:xfrm>
            <a:off x="548640" y="2825496"/>
            <a:ext cx="457200" cy="457200"/>
          </a:xfrm>
          <a:prstGeom prst="ellipse">
            <a:avLst/>
          </a:prstGeom>
          <a:solidFill>
            <a:schemeClr val="accent1"/>
          </a:solidFill>
          <a:ln/>
        </p:spPr>
      </p:sp>
      <p:sp>
        <p:nvSpPr>
          <p:cNvPr id="10" name="Step 3 number"/>
          <p:cNvSpPr txBox="1"/>
          <p:nvPr/>
        </p:nvSpPr>
        <p:spPr>
          <a:xfrm>
            <a:off x="548640" y="28254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Step 3 text"/>
          <p:cNvSpPr txBox="1"/>
          <p:nvPr/>
        </p:nvSpPr>
        <p:spPr>
          <a:xfrm>
            <a:off x="1234440" y="2761488"/>
            <a:ext cx="5120640" cy="585216"/>
          </a:xfrm>
          <a:prstGeom prst="rect">
            <a:avLst/>
          </a:prstGeom>
          <a:noFill/>
          <a:ln/>
        </p:spPr>
        <p:txBody>
          <a:bodyPr wrap="square" lIns="0" tIns="0" rIns="0" bIns="0" rtlCol="0" anchor="ctr"/>
          <a:lstStyle/>
          <a:p>
            <a:pPr indent="0" marL="0">
              <a:buNone/>
            </a:pPr>
            <a:r>
              <a:rPr lang="en-US" sz="1600" dirty="0">
                <a:solidFill>
                  <a:schemeClr val="tx1"/>
                </a:solidFill>
              </a:rPr>
              <a:t>Flight 5: red early warning, 0.9 m/day, 10% in ~4 days</a:t>
            </a:r>
            <a:endParaRPr lang="en-US" sz="1600" dirty="0"/>
          </a:p>
        </p:txBody>
      </p:sp>
      <p:sp>
        <p:nvSpPr>
          <p:cNvPr id="12" name="Step 4 dot"/>
          <p:cNvSpPr/>
          <p:nvPr/>
        </p:nvSpPr>
        <p:spPr>
          <a:xfrm>
            <a:off x="548640" y="3520440"/>
            <a:ext cx="457200" cy="457200"/>
          </a:xfrm>
          <a:prstGeom prst="ellipse">
            <a:avLst/>
          </a:prstGeom>
          <a:solidFill>
            <a:schemeClr val="accent1"/>
          </a:solidFill>
          <a:ln/>
        </p:spPr>
      </p:sp>
      <p:sp>
        <p:nvSpPr>
          <p:cNvPr id="13" name="Step 4 number"/>
          <p:cNvSpPr txBox="1"/>
          <p:nvPr/>
        </p:nvSpPr>
        <p:spPr>
          <a:xfrm>
            <a:off x="548640" y="3520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Step 4 text"/>
          <p:cNvSpPr txBox="1"/>
          <p:nvPr/>
        </p:nvSpPr>
        <p:spPr>
          <a:xfrm>
            <a:off x="1234440" y="3456432"/>
            <a:ext cx="5120640" cy="585216"/>
          </a:xfrm>
          <a:prstGeom prst="rect">
            <a:avLst/>
          </a:prstGeom>
          <a:noFill/>
          <a:ln/>
        </p:spPr>
        <p:txBody>
          <a:bodyPr wrap="square" lIns="0" tIns="0" rIns="0" bIns="0" rtlCol="0" anchor="ctr"/>
          <a:lstStyle/>
          <a:p>
            <a:pPr indent="0" marL="0">
              <a:buNone/>
            </a:pPr>
            <a:r>
              <a:rPr lang="en-US" sz="1600" dirty="0">
                <a:solidFill>
                  <a:schemeClr val="tx1"/>
                </a:solidFill>
              </a:rPr>
              <a:t>Click the pest zone: read the rule trace</a:t>
            </a:r>
            <a:endParaRPr lang="en-US" sz="1600" dirty="0"/>
          </a:p>
        </p:txBody>
      </p:sp>
      <p:sp>
        <p:nvSpPr>
          <p:cNvPr id="15" name="Step 5 dot"/>
          <p:cNvSpPr/>
          <p:nvPr/>
        </p:nvSpPr>
        <p:spPr>
          <a:xfrm>
            <a:off x="548640" y="4215384"/>
            <a:ext cx="457200" cy="457200"/>
          </a:xfrm>
          <a:prstGeom prst="ellipse">
            <a:avLst/>
          </a:prstGeom>
          <a:solidFill>
            <a:schemeClr val="accent1"/>
          </a:solidFill>
          <a:ln/>
        </p:spPr>
      </p:sp>
      <p:sp>
        <p:nvSpPr>
          <p:cNvPr id="16" name="Step 5 number"/>
          <p:cNvSpPr txBox="1"/>
          <p:nvPr/>
        </p:nvSpPr>
        <p:spPr>
          <a:xfrm>
            <a:off x="548640" y="42153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Step 5 text"/>
          <p:cNvSpPr txBox="1"/>
          <p:nvPr/>
        </p:nvSpPr>
        <p:spPr>
          <a:xfrm>
            <a:off x="1234440" y="4151376"/>
            <a:ext cx="5120640" cy="585216"/>
          </a:xfrm>
          <a:prstGeom prst="rect">
            <a:avLst/>
          </a:prstGeom>
          <a:noFill/>
          <a:ln/>
        </p:spPr>
        <p:txBody>
          <a:bodyPr wrap="square" lIns="0" tIns="0" rIns="0" bIns="0" rtlCol="0" anchor="ctr"/>
          <a:lstStyle/>
          <a:p>
            <a:pPr indent="0" marL="0">
              <a:buNone/>
            </a:pPr>
            <a:r>
              <a:rPr lang="en-US" sz="1600" dirty="0">
                <a:solidFill>
                  <a:schemeClr val="tx1"/>
                </a:solidFill>
              </a:rPr>
              <a:t>Prescription: 91% less pesticide, ₹766 saved</a:t>
            </a:r>
            <a:endParaRPr lang="en-US" sz="1600" dirty="0"/>
          </a:p>
        </p:txBody>
      </p:sp>
      <p:sp>
        <p:nvSpPr>
          <p:cNvPr id="18" name="Step 6 dot"/>
          <p:cNvSpPr/>
          <p:nvPr/>
        </p:nvSpPr>
        <p:spPr>
          <a:xfrm>
            <a:off x="548640" y="4910328"/>
            <a:ext cx="457200" cy="457200"/>
          </a:xfrm>
          <a:prstGeom prst="ellipse">
            <a:avLst/>
          </a:prstGeom>
          <a:solidFill>
            <a:schemeClr val="accent1"/>
          </a:solidFill>
          <a:ln/>
        </p:spPr>
      </p:sp>
      <p:sp>
        <p:nvSpPr>
          <p:cNvPr id="19" name="Step 6 number"/>
          <p:cNvSpPr txBox="1"/>
          <p:nvPr/>
        </p:nvSpPr>
        <p:spPr>
          <a:xfrm>
            <a:off x="548640" y="49103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Step 6 text"/>
          <p:cNvSpPr txBox="1"/>
          <p:nvPr/>
        </p:nvSpPr>
        <p:spPr>
          <a:xfrm>
            <a:off x="1234440" y="4846320"/>
            <a:ext cx="5120640" cy="585216"/>
          </a:xfrm>
          <a:prstGeom prst="rect">
            <a:avLst/>
          </a:prstGeom>
          <a:noFill/>
          <a:ln/>
        </p:spPr>
        <p:txBody>
          <a:bodyPr wrap="square" lIns="0" tIns="0" rIns="0" bIns="0" rtlCol="0" anchor="ctr"/>
          <a:lstStyle/>
          <a:p>
            <a:pPr indent="0" marL="0">
              <a:buNone/>
            </a:pPr>
            <a:r>
              <a:rPr lang="en-US" sz="1600" dirty="0">
                <a:solidFill>
                  <a:schemeClr val="tx1"/>
                </a:solidFill>
              </a:rPr>
              <a:t>Run demo: drone flies 1 sortie vs 2 for whole field</a:t>
            </a:r>
            <a:endParaRPr lang="en-US" sz="1600" dirty="0"/>
          </a:p>
        </p:txBody>
      </p:sp>
      <p:sp>
        <p:nvSpPr>
          <p:cNvPr id="21" name="Step 7 dot"/>
          <p:cNvSpPr/>
          <p:nvPr/>
        </p:nvSpPr>
        <p:spPr>
          <a:xfrm>
            <a:off x="548640" y="5605272"/>
            <a:ext cx="457200" cy="457200"/>
          </a:xfrm>
          <a:prstGeom prst="ellipse">
            <a:avLst/>
          </a:prstGeom>
          <a:solidFill>
            <a:schemeClr val="accent1"/>
          </a:solidFill>
          <a:ln/>
        </p:spPr>
      </p:sp>
      <p:sp>
        <p:nvSpPr>
          <p:cNvPr id="22" name="Step 7 number"/>
          <p:cNvSpPr txBox="1"/>
          <p:nvPr/>
        </p:nvSpPr>
        <p:spPr>
          <a:xfrm>
            <a:off x="548640" y="56052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3" name="Step 7 text"/>
          <p:cNvSpPr txBox="1"/>
          <p:nvPr/>
        </p:nvSpPr>
        <p:spPr>
          <a:xfrm>
            <a:off x="1234440" y="5541264"/>
            <a:ext cx="5120640" cy="585216"/>
          </a:xfrm>
          <a:prstGeom prst="rect">
            <a:avLst/>
          </a:prstGeom>
          <a:noFill/>
          <a:ln/>
        </p:spPr>
        <p:txBody>
          <a:bodyPr wrap="square" lIns="0" tIns="0" rIns="0" bIns="0" rtlCol="0" anchor="ctr"/>
          <a:lstStyle/>
          <a:p>
            <a:pPr indent="0" marL="0">
              <a:buNone/>
            </a:pPr>
            <a:r>
              <a:rPr lang="en-US" sz="1600" dirty="0">
                <a:solidFill>
                  <a:schemeClr val="tx1"/>
                </a:solidFill>
              </a:rPr>
              <a:t>Print the English + Tamil farmer report</a:t>
            </a:r>
            <a:endParaRPr lang="en-US" sz="1600" dirty="0"/>
          </a:p>
        </p:txBody>
      </p:sp>
      <p:sp>
        <p:nvSpPr>
          <p:cNvPr id="24" name="Demo screenshot frame"/>
          <p:cNvSpPr/>
          <p:nvPr/>
        </p:nvSpPr>
        <p:spPr>
          <a:xfrm>
            <a:off x="6528816" y="1545336"/>
            <a:ext cx="5138928" cy="3252978"/>
          </a:xfrm>
          <a:prstGeom prst="roundRect">
            <a:avLst>
              <a:gd name="adj" fmla="val 2249"/>
            </a:avLst>
          </a:prstGeom>
          <a:solidFill>
            <a:schemeClr val="bg1"/>
          </a:solidFill>
          <a:ln w="12700">
            <a:solidFill>
              <a:schemeClr val="bg2"/>
            </a:solidFill>
            <a:prstDash val="solid"/>
          </a:ln>
          <a:effectLst>
            <a:outerShdw sx="100000" sy="100000" kx="0" ky="0" algn="bl" rotWithShape="0" blurRad="101600" dist="25400" dir="5400000">
              <a:srgbClr val="000000">
                <a:alpha val="14000"/>
              </a:srgbClr>
            </a:outerShdw>
          </a:effectLst>
        </p:spPr>
      </p:sp>
      <p:pic>
        <p:nvPicPr>
          <p:cNvPr id="25" name="Demo screenshot" descr="AgriSky screenshot">    </p:cNvPr>
          <p:cNvPicPr>
            <a:picLocks noChangeAspect="1"/>
          </p:cNvPicPr>
          <p:nvPr/>
        </p:nvPicPr>
        <p:blipFill>
          <a:blip r:embed="rId1"/>
          <a:stretch>
            <a:fillRect/>
          </a:stretch>
        </p:blipFill>
        <p:spPr>
          <a:xfrm>
            <a:off x="6583680" y="1600200"/>
            <a:ext cx="5029200" cy="3143250"/>
          </a:xfrm>
          <a:prstGeom prst="rect">
            <a:avLst/>
          </a:prstGeom>
        </p:spPr>
      </p:pic>
      <p:sp>
        <p:nvSpPr>
          <p:cNvPr id="26" name="Run command"/>
          <p:cNvSpPr txBox="1"/>
          <p:nvPr/>
        </p:nvSpPr>
        <p:spPr>
          <a:xfrm>
            <a:off x="6583680" y="5029200"/>
            <a:ext cx="5029200" cy="457200"/>
          </a:xfrm>
          <a:prstGeom prst="rect">
            <a:avLst/>
          </a:prstGeom>
          <a:noFill/>
          <a:ln/>
        </p:spPr>
        <p:txBody>
          <a:bodyPr wrap="square" lIns="0" tIns="0" rIns="0" bIns="0" rtlCol="0" anchor="ctr"/>
          <a:lstStyle/>
          <a:p>
            <a:pPr algn="ctr" indent="0" marL="0">
              <a:buNone/>
            </a:pPr>
            <a:r>
              <a:rPr lang="en-US" sz="1400" dirty="0">
                <a:solidFill>
                  <a:schemeClr val="accent3"/>
                </a:solidFill>
                <a:latin typeface="Courier New" pitchFamily="34" charset="0"/>
                <a:ea typeface="Courier New" pitchFamily="34" charset="-122"/>
                <a:cs typeface="Courier New" pitchFamily="34" charset="-120"/>
              </a:rPr>
              <a:t>python app.py  →  http://localhost:8018</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Feasibility, business model &amp; roadmap</a:t>
            </a:r>
            <a:endParaRPr lang="en-US" sz="3600" dirty="0"/>
          </a:p>
        </p:txBody>
      </p:sp>
      <p:sp>
        <p:nvSpPr>
          <p:cNvPr id="3" name="Business model card"/>
          <p:cNvSpPr/>
          <p:nvPr/>
        </p:nvSpPr>
        <p:spPr>
          <a:xfrm>
            <a:off x="548640" y="1371600"/>
            <a:ext cx="5410048" cy="4297680"/>
          </a:xfrm>
          <a:prstGeom prst="roundRect">
            <a:avLst>
              <a:gd name="adj" fmla="val 2553"/>
            </a:avLst>
          </a:prstGeom>
          <a:solidFill>
            <a:schemeClr val="bg2"/>
          </a:solidFill>
          <a:ln/>
        </p:spPr>
      </p:sp>
      <p:sp>
        <p:nvSpPr>
          <p:cNvPr id="4" name="Business model circle"/>
          <p:cNvSpPr/>
          <p:nvPr/>
        </p:nvSpPr>
        <p:spPr>
          <a:xfrm>
            <a:off x="868680" y="1645920"/>
            <a:ext cx="548640" cy="548640"/>
          </a:xfrm>
          <a:prstGeom prst="ellipse">
            <a:avLst/>
          </a:prstGeom>
          <a:solidFill>
            <a:schemeClr val="accent1"/>
          </a:solidFill>
          <a:ln/>
        </p:spPr>
      </p:sp>
      <p:pic>
        <p:nvPicPr>
          <p:cNvPr id="5" name="Business model icon" descr="preencoded.png">    </p:cNvPr>
          <p:cNvPicPr>
            <a:picLocks noChangeAspect="1"/>
          </p:cNvPicPr>
          <p:nvPr/>
        </p:nvPicPr>
        <p:blipFill>
          <a:blip r:embed="rId1"/>
          <a:stretch>
            <a:fillRect/>
          </a:stretch>
        </p:blipFill>
        <p:spPr>
          <a:xfrm>
            <a:off x="1005840" y="1783080"/>
            <a:ext cx="274320" cy="274320"/>
          </a:xfrm>
          <a:prstGeom prst="rect">
            <a:avLst/>
          </a:prstGeom>
        </p:spPr>
      </p:pic>
      <p:sp>
        <p:nvSpPr>
          <p:cNvPr id="6" name="Business model title"/>
          <p:cNvSpPr txBox="1"/>
          <p:nvPr/>
        </p:nvSpPr>
        <p:spPr>
          <a:xfrm>
            <a:off x="1600200" y="1645920"/>
            <a:ext cx="4038448" cy="548640"/>
          </a:xfrm>
          <a:prstGeom prst="rect">
            <a:avLst/>
          </a:prstGeom>
          <a:noFill/>
          <a:ln/>
        </p:spPr>
        <p:txBody>
          <a:bodyPr wrap="square" lIns="0" tIns="0" rIns="0" bIns="0" rtlCol="0" anchor="ctr"/>
          <a:lstStyle/>
          <a:p>
            <a:pPr indent="0" marL="0">
              <a:buNone/>
            </a:pPr>
            <a:r>
              <a:rPr lang="en-US" sz="2000" b="1" dirty="0">
                <a:solidFill>
                  <a:schemeClr val="tx1"/>
                </a:solidFill>
              </a:rPr>
              <a:t>Business model</a:t>
            </a:r>
            <a:endParaRPr lang="en-US" sz="2000" dirty="0"/>
          </a:p>
        </p:txBody>
      </p:sp>
      <p:sp>
        <p:nvSpPr>
          <p:cNvPr id="7" name="Business model list"/>
          <p:cNvSpPr txBox="1"/>
          <p:nvPr/>
        </p:nvSpPr>
        <p:spPr>
          <a:xfrm>
            <a:off x="914400" y="2468880"/>
            <a:ext cx="4678528" cy="30175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Per-acre service for drone operators and custom hiring centres</a:t>
            </a:r>
            <a:endParaRPr lang="en-US" sz="1600" dirty="0"/>
          </a:p>
          <a:p>
            <a:pPr marL="228600" indent="-228600">
              <a:spcAft>
                <a:spcPts val="1000"/>
              </a:spcAft>
              <a:buSzPct val="100000"/>
              <a:buChar char="•"/>
            </a:pPr>
            <a:r>
              <a:rPr lang="en-US" sz="1600" dirty="0">
                <a:solidFill>
                  <a:schemeClr val="tx1"/>
                </a:solidFill>
              </a:rPr>
              <a:t>SaaS for FPOs / agri-input dealers to plan spray rounds</a:t>
            </a:r>
            <a:endParaRPr lang="en-US" sz="1600" dirty="0"/>
          </a:p>
          <a:p>
            <a:pPr marL="228600" indent="-228600">
              <a:spcAft>
                <a:spcPts val="1000"/>
              </a:spcAft>
              <a:buSzPct val="100000"/>
              <a:buChar char="•"/>
            </a:pPr>
            <a:r>
              <a:rPr lang="en-US" sz="1600" dirty="0">
                <a:solidFill>
                  <a:schemeClr val="tx1"/>
                </a:solidFill>
              </a:rPr>
              <a:t>B2G: crop-health monitoring for KVKs and agriculture departments</a:t>
            </a:r>
            <a:endParaRPr lang="en-US" sz="1600" dirty="0"/>
          </a:p>
          <a:p>
            <a:pPr marL="228600" indent="-228600">
              <a:spcAft>
                <a:spcPts val="1000"/>
              </a:spcAft>
              <a:buSzPct val="100000"/>
              <a:buChar char="•"/>
            </a:pPr>
            <a:r>
              <a:rPr lang="en-US" sz="1600" dirty="0">
                <a:solidFill>
                  <a:schemeClr val="tx1"/>
                </a:solidFill>
              </a:rPr>
              <a:t>Add-on prescription export for drone and sprayer makers</a:t>
            </a:r>
            <a:endParaRPr lang="en-US" sz="1600" dirty="0"/>
          </a:p>
        </p:txBody>
      </p:sp>
      <p:sp>
        <p:nvSpPr>
          <p:cNvPr id="8" name="Future scope card"/>
          <p:cNvSpPr/>
          <p:nvPr/>
        </p:nvSpPr>
        <p:spPr>
          <a:xfrm>
            <a:off x="6233008" y="1371600"/>
            <a:ext cx="5410048" cy="4297680"/>
          </a:xfrm>
          <a:prstGeom prst="roundRect">
            <a:avLst>
              <a:gd name="adj" fmla="val 2553"/>
            </a:avLst>
          </a:prstGeom>
          <a:solidFill>
            <a:schemeClr val="accent2"/>
          </a:solidFill>
          <a:ln/>
        </p:spPr>
      </p:sp>
      <p:sp>
        <p:nvSpPr>
          <p:cNvPr id="9" name="Future scope circle"/>
          <p:cNvSpPr/>
          <p:nvPr/>
        </p:nvSpPr>
        <p:spPr>
          <a:xfrm>
            <a:off x="6553048" y="1645920"/>
            <a:ext cx="548640" cy="548640"/>
          </a:xfrm>
          <a:prstGeom prst="ellipse">
            <a:avLst/>
          </a:prstGeom>
          <a:solidFill>
            <a:schemeClr val="accent1"/>
          </a:solidFill>
          <a:ln/>
        </p:spPr>
      </p:sp>
      <p:pic>
        <p:nvPicPr>
          <p:cNvPr id="10" name="Future scope icon" descr="preencoded.png">    </p:cNvPr>
          <p:cNvPicPr>
            <a:picLocks noChangeAspect="1"/>
          </p:cNvPicPr>
          <p:nvPr/>
        </p:nvPicPr>
        <p:blipFill>
          <a:blip r:embed="rId2"/>
          <a:stretch>
            <a:fillRect/>
          </a:stretch>
        </p:blipFill>
        <p:spPr>
          <a:xfrm>
            <a:off x="6690208" y="1783080"/>
            <a:ext cx="274320" cy="274320"/>
          </a:xfrm>
          <a:prstGeom prst="rect">
            <a:avLst/>
          </a:prstGeom>
        </p:spPr>
      </p:pic>
      <p:sp>
        <p:nvSpPr>
          <p:cNvPr id="11" name="Future scope title"/>
          <p:cNvSpPr txBox="1"/>
          <p:nvPr/>
        </p:nvSpPr>
        <p:spPr>
          <a:xfrm>
            <a:off x="7284568" y="1645920"/>
            <a:ext cx="4038448" cy="548640"/>
          </a:xfrm>
          <a:prstGeom prst="rect">
            <a:avLst/>
          </a:prstGeom>
          <a:noFill/>
          <a:ln/>
        </p:spPr>
        <p:txBody>
          <a:bodyPr wrap="square" lIns="0" tIns="0" rIns="0" bIns="0" rtlCol="0" anchor="ctr"/>
          <a:lstStyle/>
          <a:p>
            <a:pPr indent="0" marL="0">
              <a:buNone/>
            </a:pPr>
            <a:r>
              <a:rPr lang="en-US" sz="2000" b="1" dirty="0">
                <a:solidFill>
                  <a:schemeClr val="tx1"/>
                </a:solidFill>
              </a:rPr>
              <a:t>Future scope</a:t>
            </a:r>
            <a:endParaRPr lang="en-US" sz="2000" dirty="0"/>
          </a:p>
        </p:txBody>
      </p:sp>
      <p:sp>
        <p:nvSpPr>
          <p:cNvPr id="12" name="Future scope list"/>
          <p:cNvSpPr txBox="1"/>
          <p:nvPr/>
        </p:nvSpPr>
        <p:spPr>
          <a:xfrm>
            <a:off x="6598768" y="2468880"/>
            <a:ext cx="4678528" cy="30175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Real multispectral imagery (orthomosaic import, calibration panels)</a:t>
            </a:r>
            <a:endParaRPr lang="en-US" sz="1600" dirty="0"/>
          </a:p>
          <a:p>
            <a:pPr marL="228600" indent="-228600">
              <a:spcAft>
                <a:spcPts val="1000"/>
              </a:spcAft>
              <a:buSzPct val="100000"/>
              <a:buChar char="•"/>
            </a:pPr>
            <a:r>
              <a:rPr lang="en-US" sz="1600" dirty="0">
                <a:solidFill>
                  <a:schemeClr val="tx1"/>
                </a:solidFill>
              </a:rPr>
              <a:t>Train the rules / a Naive Bayes on field-scouted labels</a:t>
            </a:r>
            <a:endParaRPr lang="en-US" sz="1600" dirty="0"/>
          </a:p>
          <a:p>
            <a:pPr marL="228600" indent="-228600">
              <a:spcAft>
                <a:spcPts val="1000"/>
              </a:spcAft>
              <a:buSzPct val="100000"/>
              <a:buChar char="•"/>
            </a:pPr>
            <a:r>
              <a:rPr lang="en-US" sz="1600" dirty="0">
                <a:solidFill>
                  <a:schemeClr val="tx1"/>
                </a:solidFill>
              </a:rPr>
              <a:t>Nozzle-section control to cut edge overspray</a:t>
            </a:r>
            <a:endParaRPr lang="en-US" sz="1600" dirty="0"/>
          </a:p>
          <a:p>
            <a:pPr marL="228600" indent="-228600">
              <a:spcAft>
                <a:spcPts val="1000"/>
              </a:spcAft>
              <a:buSzPct val="100000"/>
              <a:buChar char="•"/>
            </a:pPr>
            <a:r>
              <a:rPr lang="en-US" sz="1600" dirty="0">
                <a:solidFill>
                  <a:schemeClr val="tx1"/>
                </a:solidFill>
              </a:rPr>
              <a:t>Weather-aware spray windows (wind, rain) and drift buffers</a:t>
            </a:r>
            <a:endParaRPr lang="en-US" sz="1600" dirty="0"/>
          </a:p>
          <a:p>
            <a:pPr marL="228600" indent="-228600">
              <a:spcAft>
                <a:spcPts val="1000"/>
              </a:spcAft>
              <a:buSzPct val="100000"/>
              <a:buChar char="•"/>
            </a:pPr>
            <a:r>
              <a:rPr lang="en-US" sz="1600" dirty="0">
                <a:solidFill>
                  <a:schemeClr val="tx1"/>
                </a:solidFill>
              </a:rPr>
              <a:t>Export to drone-controller mission formats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hanks"/>
          <p:cNvSpPr txBox="1"/>
          <p:nvPr/>
        </p:nvSpPr>
        <p:spPr>
          <a:xfrm>
            <a:off x="548640" y="1463040"/>
            <a:ext cx="6400800" cy="1097280"/>
          </a:xfrm>
          <a:prstGeom prst="rect">
            <a:avLst/>
          </a:prstGeom>
          <a:noFill/>
          <a:ln/>
        </p:spPr>
        <p:txBody>
          <a:bodyPr wrap="square" lIns="0" tIns="0" rIns="0" bIns="0" rtlCol="0" anchor="ctr"/>
          <a:lstStyle/>
          <a:p>
            <a:pPr indent="0" marL="0">
              <a:buNone/>
            </a:pPr>
            <a:r>
              <a:rPr lang="en-US" sz="6000" b="1" dirty="0">
                <a:solidFill>
                  <a:schemeClr val="bg1"/>
                </a:solidFill>
              </a:rPr>
              <a:t>Thank you</a:t>
            </a:r>
            <a:endParaRPr lang="en-US" sz="6000" dirty="0"/>
          </a:p>
        </p:txBody>
      </p:sp>
      <p:sp>
        <p:nvSpPr>
          <p:cNvPr id="3" name="Thanks tagline"/>
          <p:cNvSpPr txBox="1"/>
          <p:nvPr/>
        </p:nvSpPr>
        <p:spPr>
          <a:xfrm>
            <a:off x="548640" y="2651760"/>
            <a:ext cx="6400800" cy="822960"/>
          </a:xfrm>
          <a:prstGeom prst="rect">
            <a:avLst/>
          </a:prstGeom>
          <a:noFill/>
          <a:ln/>
        </p:spPr>
        <p:txBody>
          <a:bodyPr wrap="square" lIns="0" tIns="0" rIns="0" bIns="0" rtlCol="0" anchor="t"/>
          <a:lstStyle/>
          <a:p>
            <a:pPr indent="0" marL="0">
              <a:buNone/>
            </a:pPr>
            <a:r>
              <a:rPr lang="en-US" sz="2000" dirty="0">
                <a:solidFill>
                  <a:schemeClr val="accent6"/>
                </a:solidFill>
              </a:rPr>
              <a:t>AgriSky · Drone crop-health maps and spray only where the crop needs it</a:t>
            </a:r>
            <a:endParaRPr lang="en-US" sz="2000" dirty="0"/>
          </a:p>
        </p:txBody>
      </p:sp>
      <p:sp>
        <p:nvSpPr>
          <p:cNvPr id="4" name="Links"/>
          <p:cNvSpPr txBox="1"/>
          <p:nvPr/>
        </p:nvSpPr>
        <p:spPr>
          <a:xfrm>
            <a:off x="548640" y="3931920"/>
            <a:ext cx="10515600" cy="914400"/>
          </a:xfrm>
          <a:prstGeom prst="rect">
            <a:avLst/>
          </a:prstGeom>
          <a:noFill/>
          <a:ln/>
        </p:spPr>
        <p:txBody>
          <a:bodyPr wrap="square" lIns="0" tIns="0" rIns="0" bIns="0" rtlCol="0" anchor="t"/>
          <a:lstStyle/>
          <a:p>
            <a:pPr indent="0" marL="0">
              <a:spcAft>
                <a:spcPts val="800"/>
              </a:spcAft>
              <a:buNone/>
            </a:pPr>
            <a:r>
              <a:rPr lang="en-US" sz="1500" b="1" dirty="0">
                <a:solidFill>
                  <a:schemeClr val="accent6"/>
                </a:solidFill>
              </a:rPr>
              <a:t>Code  </a:t>
            </a:r>
            <a:pPr indent="0" marL="0">
              <a:spcAft>
                <a:spcPts val="800"/>
              </a:spcAft>
              <a:buNone/>
            </a:pPr>
            <a:r>
              <a:rPr lang="en-US" sz="1500" dirty="0">
                <a:solidFill>
                  <a:schemeClr val="bg1"/>
                </a:solidFill>
              </a:rPr>
              <a:t>https://github.com/jayeskumar/a/tree/claude/confident-fermi-dpeh2g/projects/18-agrisky</a:t>
            </a:r>
            <a:endParaRPr lang="en-US" sz="1500" dirty="0"/>
          </a:p>
          <a:p>
            <a:pPr indent="0" marL="0">
              <a:spcAft>
                <a:spcPts val="800"/>
              </a:spcAft>
              <a:buNone/>
            </a:pPr>
            <a:r>
              <a:rPr lang="en-US" sz="1500" b="1" dirty="0">
                <a:solidFill>
                  <a:schemeClr val="accent6"/>
                </a:solidFill>
              </a:rPr>
              <a:t>Run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cd projects/18-agrisky &amp;&amp; python app.py</a:t>
            </a:r>
            <a:endParaRPr lang="en-US" sz="1500" dirty="0"/>
          </a:p>
        </p:txBody>
      </p:sp>
      <p:sp>
        <p:nvSpPr>
          <p:cNvPr id="5" name="Questions"/>
          <p:cNvSpPr txBox="1"/>
          <p:nvPr/>
        </p:nvSpPr>
        <p:spPr>
          <a:xfrm>
            <a:off x="548640" y="5303520"/>
            <a:ext cx="5486400" cy="640080"/>
          </a:xfrm>
          <a:prstGeom prst="rect">
            <a:avLst/>
          </a:prstGeom>
          <a:noFill/>
          <a:ln/>
        </p:spPr>
        <p:txBody>
          <a:bodyPr wrap="square" lIns="0" tIns="0" rIns="0" bIns="0" rtlCol="0" anchor="ctr"/>
          <a:lstStyle/>
          <a:p>
            <a:pPr indent="0" marL="0">
              <a:buNone/>
            </a:pPr>
            <a:r>
              <a:rPr lang="en-US" sz="2600" b="1" dirty="0">
                <a:solidFill>
                  <a:schemeClr val="accent6"/>
                </a:solidFill>
              </a:rPr>
              <a:t>Questions?</a:t>
            </a:r>
            <a:endParaRPr lang="en-US" sz="2600" dirty="0"/>
          </a:p>
        </p:txBody>
      </p:sp>
      <p:sp>
        <p:nvSpPr>
          <p:cNvPr id="6" name="QR card"/>
          <p:cNvSpPr/>
          <p:nvPr/>
        </p:nvSpPr>
        <p:spPr>
          <a:xfrm>
            <a:off x="9098280" y="1234440"/>
            <a:ext cx="2514600" cy="2514600"/>
          </a:xfrm>
          <a:prstGeom prst="roundRect">
            <a:avLst>
              <a:gd name="adj" fmla="val 4364"/>
            </a:avLst>
          </a:prstGeom>
          <a:solidFill>
            <a:schemeClr val="bg1"/>
          </a:solidFill>
          <a:ln/>
        </p:spPr>
      </p:sp>
      <p:pic>
        <p:nvPicPr>
          <p:cNvPr id="7" name="QR code" descr="QR code linking to the project's code">    </p:cNvPr>
          <p:cNvPicPr>
            <a:picLocks noChangeAspect="1"/>
          </p:cNvPicPr>
          <p:nvPr/>
        </p:nvPicPr>
        <p:blipFill>
          <a:blip r:embed="rId1"/>
          <a:stretch>
            <a:fillRect/>
          </a:stretch>
        </p:blipFill>
        <p:spPr>
          <a:xfrm>
            <a:off x="9189720" y="1325880"/>
            <a:ext cx="2331720" cy="2331720"/>
          </a:xfrm>
          <a:prstGeom prst="rect">
            <a:avLst/>
          </a:prstGeom>
        </p:spPr>
      </p:pic>
      <p:sp>
        <p:nvSpPr>
          <p:cNvPr id="8" name="QR caption"/>
          <p:cNvSpPr txBox="1"/>
          <p:nvPr/>
        </p:nvSpPr>
        <p:spPr>
          <a:xfrm>
            <a:off x="9098280" y="3767328"/>
            <a:ext cx="2514600" cy="274320"/>
          </a:xfrm>
          <a:prstGeom prst="rect">
            <a:avLst/>
          </a:prstGeom>
          <a:noFill/>
          <a:ln/>
        </p:spPr>
        <p:txBody>
          <a:bodyPr wrap="square" lIns="0" tIns="0" rIns="0" bIns="0" rtlCol="0" anchor="ctr"/>
          <a:lstStyle/>
          <a:p>
            <a:pPr algn="ctr" indent="0" marL="0">
              <a:buNone/>
            </a:pPr>
            <a:r>
              <a:rPr lang="en-US" sz="1200" dirty="0">
                <a:solidFill>
                  <a:schemeClr val="accent6"/>
                </a:solidFill>
              </a:rPr>
              <a:t>Scan for the code</a:t>
            </a:r>
            <a:endParaRPr lang="en-US" sz="1200" dirty="0"/>
          </a:p>
        </p:txBody>
      </p:sp>
    </p:spTree>
  </p:cSld>
  <p:clrMapOvr>
    <a:masterClrMapping/>
  </p:clrMapOvr>
</p:sld>
</file>

<file path=ppt/theme/theme1.xml><?xml version="1.0" encoding="utf-8"?>
<a:theme xmlns:a="http://schemas.openxmlformats.org/drawingml/2006/main" name="AgriSky QUANTIX">
  <a:themeElements>
    <a:clrScheme name="AgriSky QUANTIX">
      <a:dk1>
        <a:srgbClr val="141B34"/>
      </a:dk1>
      <a:lt1>
        <a:srgbClr val="FFFFFF"/>
      </a:lt1>
      <a:dk2>
        <a:srgbClr val="0B1026"/>
      </a:dk2>
      <a:lt2>
        <a:srgbClr val="F3F4F8"/>
      </a:lt2>
      <a:accent1>
        <a:srgbClr val="65A30D"/>
      </a:accent1>
      <a:accent2>
        <a:srgbClr val="EDF4E2"/>
      </a:accent2>
      <a:accent3>
        <a:srgbClr val="426A08"/>
      </a:accent3>
      <a:accent4>
        <a:srgbClr val="5B6478"/>
      </a:accent4>
      <a:accent5>
        <a:srgbClr val="1F3021"/>
      </a:accent5>
      <a:accent6>
        <a:srgbClr val="AACC7A"/>
      </a:accent6>
      <a:hlink>
        <a:srgbClr val="51820A"/>
      </a:hlink>
      <a:folHlink>
        <a:srgbClr val="5B6478"/>
      </a:folHlink>
    </a:clrScheme>
    <a:fontScheme name="AgriSky QUANTIX">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AgriSky – Drone crop-health maps and spray only where the crop needs it</dc:title>
  <dc:subject>QUANTIX 2K26 · Smart Agriculture &amp; Rural Development (AgriTech)</dc:subject>
  <dc:creator>Your Team Name</dc:creator>
  <cp:lastModifiedBy>Your Team Name</cp:lastModifiedBy>
  <cp:revision>1</cp:revision>
  <dcterms:created xsi:type="dcterms:W3CDTF">2026-10-20T08:08:43Z</dcterms:created>
  <dcterms:modified xsi:type="dcterms:W3CDTF">2026-10-20T08:08:43Z</dcterms:modified>
</cp:coreProperties>
</file>