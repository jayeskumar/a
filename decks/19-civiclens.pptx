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32b61c7-371d-2ce4-a0ef-fb1aad2b4be7}">
          <p14:sldIdLst>
            <p14:sldId id="256"/>
          </p14:sldIdLst>
        </p14:section>
        <p14:section name="Problem &amp; solution" id="{229ed95b-cc36-77b0-ee87-2a5616710517}">
          <p14:sldIdLst>
            <p14:sldId id="257"/>
            <p14:sldId id="258"/>
          </p14:sldIdLst>
        </p14:section>
        <p14:section name="Product" id="{10adffc4-ec6b-6500-4995-1d3e2902467f}">
          <p14:sldIdLst>
            <p14:sldId id="259"/>
            <p14:sldId id="260"/>
            <p14:sldId id="261"/>
          </p14:sldIdLst>
        </p14:section>
        <p14:section name="Why us" id="{6a915269-a358-0194-ce0b-a68986579150}">
          <p14:sldIdLst>
            <p14:sldId id="262"/>
            <p14:sldId id="263"/>
          </p14:sldIdLst>
        </p14:section>
        <p14:section name="Demo" id="{af087569-62f8-d841-262f-cb362ac5af40}">
          <p14:sldIdLst>
            <p14:sldId id="264"/>
          </p14:sldIdLst>
        </p14:section>
        <p14:section name="Roadmap" id="{05a188e8-3551-fad9-a639-bc3862b345c4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promise: AI triage and analytics for citizen complaints. Introduce the team, then go straight to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Towns and campuses get thousands of complaints via apps, calls and social media Clerks route them by hand, in English, Tamil and Tanglish Duplicates pile up while a live wire waits behind a parking complaint Hotspots and SLA breaches stay invisible until there is a crisis Key numbers: ~48% of Tamil Nadu's people live in urban areas (Census 2011, approx.); 1 in 3 complaints repeat an open issue (our synthetic stream; varies).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 Every new complaint is routed, prioritised and de-duplicated in ~3 ms Safety rules plus an ML model set P1-P4 and say why DBSCAN and Poisson tests flag hotspots and wards that are suddenly worse Survival curves and a breach model warn before the SLA is missed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Features: Tamil-aware routing: TF-IDF logistic regression vs Naive Bayes on words, letters and concepts. Explainable priority: Safety rules force P1; the model weighs school, elderly, days pending. Duplicate merging: MinHash LSH + distance + time links reports across languages. Hotspots &amp; surges: DBSCAN on incidents plus weekly Poisson z-test per ward. SLA risk queue: Kaplan-Meier curves and breach probability with reasons. Topic discovery: k-means finds themes like noise or encroachment in Other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top to bottom: Browser UI -&gt; vanilla JS, SVG/canvas charts, live queue and map. app.py -&gt; stdlib ThreadingHTTPServer, JSON API, input validation. text + lexicon -&gt; Tamil-safe tokens, graphemes, bilingual concepts. models -&gt; NB, OvR logistic regression, urgency rules + model. dedup + hotspot -&gt; MinHash LSH, haversine, DBSCAN, Poisson test. sla + topics -&gt; Kaplan-Meier, breach LR, spherical k-means. Stack: Python 3 stdlib only, Vanilla HTML/CSS/JS, Hand-drawn SVG + canvas, No CDN, fully offline, unittest (70 tests).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Algorithms: Multinomial Naive Bayes - department routing baseline. TF-IDF logistic regression (OvR, SGD) - routing + urgency. MinHash + LSH banding + haversine - duplicate incidents. DBSCAN (grid index) - spatial hotspots per department. Poisson z-test - emerging ward hotspots vs 4-week baseline. Kaplan-Meier + logistic regression - SLA curves and breach risk. Stress that nothing is a black box: every decision can be explained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Differentiators: Tamil grapheme tokenizer + bilingual concepts: one model, three scripts Duplicates matched across languages using text, place and time Safety rules never wait for a model; the model never hides why Every metric measured against planted ground truth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Results: 95.3% routing accuracy, 615 held-out (94.2% on unseen phrasing); 0.82 duplicate-pair F1 (text-only baseline 0.47); 6 / 6 planted hotspots found, zero false hotspots; 2.6 ms full pipeline per complaint (p50, pure Python). Impact: Urgent safety hazards jump the queue within seconds ~36% fewer tickets once duplicate reports are merged (demo data) Ward officers see hotspots and slow wards weekly, not yearly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 now. 1. Triage: KPIs, live queue with priority and duplicate links 2. Run demo: Tanglish live wire becomes P1 by safety rule 3. Tamil duplicate merged with an English report 4. Map: 6 DBSCAN hotspots match the planted ones 5. Heat grid: W11 garbage surge, z = 15 6. SLA: survival curve, at-risk queue with reasons 7. Models: LR 94% vs NB 61% on unseen phrasing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Business: Free open-source edition for colleges and small towns Paid hosted edition for municipal corporations with integrations Setup and lexicon tuning for each district's own language Plugs into existing CPGRAMS-style portals and WhatsApp lines Next: Learn from officers' re-routing corrections (active learning) Speech-to-text for call-centre and voice notes Photo evidence: pothole and garbage image checks Crew routing for clustered incidents Public status page for citizens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impact line, invite questions. Keep the demo tab open in case judges want to try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QUANTIX 2K26 · CivicLens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main"/>
          <p:cNvSpPr txBox="1"/>
          <p:nvPr/>
        </p:nvSpPr>
        <p:spPr>
          <a:xfrm>
            <a:off x="54864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DATA SCIENCE &amp; ANALYTICS</a:t>
            </a:r>
            <a:endParaRPr lang="en-US" sz="1200" dirty="0"/>
          </a:p>
        </p:txBody>
      </p:sp>
      <p:sp>
        <p:nvSpPr>
          <p:cNvPr id="3" name="Product name"/>
          <p:cNvSpPr txBox="1"/>
          <p:nvPr/>
        </p:nvSpPr>
        <p:spPr>
          <a:xfrm>
            <a:off x="548640" y="15544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CivicLens</a:t>
            </a:r>
            <a:endParaRPr lang="en-US" sz="6000" dirty="0"/>
          </a:p>
        </p:txBody>
      </p:sp>
      <p:sp>
        <p:nvSpPr>
          <p:cNvPr id="4" name="Tagline"/>
          <p:cNvSpPr txBox="1"/>
          <p:nvPr/>
        </p:nvSpPr>
        <p:spPr>
          <a:xfrm>
            <a:off x="548640" y="2788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AI triage and analytics for citizen complaints</a:t>
            </a:r>
            <a:endParaRPr lang="en-US" sz="2200" dirty="0"/>
          </a:p>
        </p:txBody>
      </p:sp>
      <p:sp>
        <p:nvSpPr>
          <p:cNvPr id="5" name="Team"/>
          <p:cNvSpPr txBox="1"/>
          <p:nvPr/>
        </p:nvSpPr>
        <p:spPr>
          <a:xfrm>
            <a:off x="548640" y="5120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Your Team 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QUANTIX 2K26 · 24-hour hackathon · K.S.R. College of Engineering</a:t>
            </a:r>
            <a:endParaRPr lang="en-US" sz="1400" dirty="0"/>
          </a:p>
        </p:txBody>
      </p:sp>
      <p:sp>
        <p:nvSpPr>
          <p:cNvPr id="6" name="Hero screenshot frame"/>
          <p:cNvSpPr/>
          <p:nvPr/>
        </p:nvSpPr>
        <p:spPr>
          <a:xfrm>
            <a:off x="6620256" y="1682496"/>
            <a:ext cx="5047488" cy="3195828"/>
          </a:xfrm>
          <a:prstGeom prst="roundRect">
            <a:avLst>
              <a:gd name="adj" fmla="val 22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Hero screenshot" descr="CivicLen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737360"/>
            <a:ext cx="493776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3" name="Problem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Proble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Problem bullets"/>
          <p:cNvSpPr txBox="1"/>
          <p:nvPr/>
        </p:nvSpPr>
        <p:spPr>
          <a:xfrm>
            <a:off x="1325880" y="132588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Towns and campuses get thousands of complaints via apps, calls and social media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Clerks route them by hand, in English, Tamil and Tanglish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Duplicates pile up while a live wire waits behind a parking complaint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Hotspots and SLA breaches stay invisible until there is a crisis</a:t>
            </a:r>
            <a:endParaRPr lang="en-US" sz="2000" dirty="0"/>
          </a:p>
        </p:txBody>
      </p:sp>
      <p:sp>
        <p:nvSpPr>
          <p:cNvPr id="6" name="Stat 1 card"/>
          <p:cNvSpPr/>
          <p:nvPr/>
        </p:nvSpPr>
        <p:spPr>
          <a:xfrm>
            <a:off x="7589520" y="196596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7" name="Stat 1 value"/>
          <p:cNvSpPr txBox="1"/>
          <p:nvPr/>
        </p:nvSpPr>
        <p:spPr>
          <a:xfrm>
            <a:off x="7818120" y="20756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~48%</a:t>
            </a:r>
            <a:endParaRPr lang="en-US" sz="4000" dirty="0"/>
          </a:p>
        </p:txBody>
      </p:sp>
      <p:sp>
        <p:nvSpPr>
          <p:cNvPr id="8" name="Stat 1 label"/>
          <p:cNvSpPr txBox="1"/>
          <p:nvPr/>
        </p:nvSpPr>
        <p:spPr>
          <a:xfrm>
            <a:off x="7818120" y="28072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Tamil Nadu's people live in urban areas (Census 2011, approx.)</a:t>
            </a:r>
            <a:endParaRPr lang="en-US" sz="1300" dirty="0"/>
          </a:p>
        </p:txBody>
      </p:sp>
      <p:sp>
        <p:nvSpPr>
          <p:cNvPr id="9" name="Stat 2 card"/>
          <p:cNvSpPr/>
          <p:nvPr/>
        </p:nvSpPr>
        <p:spPr>
          <a:xfrm>
            <a:off x="7589520" y="365760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0" name="Stat 2 value"/>
          <p:cNvSpPr txBox="1"/>
          <p:nvPr/>
        </p:nvSpPr>
        <p:spPr>
          <a:xfrm>
            <a:off x="7818120" y="37673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1 in 3</a:t>
            </a:r>
            <a:endParaRPr lang="en-US" sz="4000" dirty="0"/>
          </a:p>
        </p:txBody>
      </p:sp>
      <p:sp>
        <p:nvSpPr>
          <p:cNvPr id="11" name="Stat 2 label"/>
          <p:cNvSpPr txBox="1"/>
          <p:nvPr/>
        </p:nvSpPr>
        <p:spPr>
          <a:xfrm>
            <a:off x="7818120" y="449884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complaints repeat an open issue (our synthetic stream; varies)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Our solution: CivicLens</a:t>
            </a:r>
            <a:endParaRPr lang="en-US" sz="3600" dirty="0"/>
          </a:p>
        </p:txBody>
      </p:sp>
      <p:sp>
        <p:nvSpPr>
          <p:cNvPr id="3" name="Solution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Solu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Solution bullets"/>
          <p:cNvSpPr txBox="1"/>
          <p:nvPr/>
        </p:nvSpPr>
        <p:spPr>
          <a:xfrm>
            <a:off x="1325880" y="1325880"/>
            <a:ext cx="4754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Every new complaint is routed, prioritised and de-duplicated in ~3 ms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Safety rules plus an ML model set P1-P4 and say why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DBSCAN and Poisson tests flag hotspots and wards that are suddenly worse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Survival curves and a breach model warn before the SLA is missed</a:t>
            </a:r>
            <a:endParaRPr lang="en-US" sz="2000" dirty="0"/>
          </a:p>
        </p:txBody>
      </p:sp>
      <p:sp>
        <p:nvSpPr>
          <p:cNvPr id="6" name="Solution screenshot frame"/>
          <p:cNvSpPr/>
          <p:nvPr/>
        </p:nvSpPr>
        <p:spPr>
          <a:xfrm>
            <a:off x="6391656" y="1545336"/>
            <a:ext cx="5276088" cy="3338703"/>
          </a:xfrm>
          <a:prstGeom prst="roundRect">
            <a:avLst>
              <a:gd name="adj" fmla="val 219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Solution screenshot" descr="CivicLens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00200"/>
            <a:ext cx="5166360" cy="32289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Key features</a:t>
            </a:r>
            <a:endParaRPr lang="en-US" sz="3600" dirty="0"/>
          </a:p>
        </p:txBody>
      </p:sp>
      <p:sp>
        <p:nvSpPr>
          <p:cNvPr id="3" name="Feature 1 card"/>
          <p:cNvSpPr/>
          <p:nvPr/>
        </p:nvSpPr>
        <p:spPr>
          <a:xfrm>
            <a:off x="548640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Feature 1 circl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eat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274320" cy="274320"/>
          </a:xfrm>
          <a:prstGeom prst="rect">
            <a:avLst/>
          </a:prstGeom>
        </p:spPr>
      </p:pic>
      <p:sp>
        <p:nvSpPr>
          <p:cNvPr id="6" name="Feature 1 title"/>
          <p:cNvSpPr txBox="1"/>
          <p:nvPr/>
        </p:nvSpPr>
        <p:spPr>
          <a:xfrm>
            <a:off x="1554480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Tamil-aware routing</a:t>
            </a:r>
            <a:endParaRPr lang="en-US" sz="1800" dirty="0"/>
          </a:p>
        </p:txBody>
      </p:sp>
      <p:sp>
        <p:nvSpPr>
          <p:cNvPr id="7" name="Feature 1 text"/>
          <p:cNvSpPr txBox="1"/>
          <p:nvPr/>
        </p:nvSpPr>
        <p:spPr>
          <a:xfrm>
            <a:off x="822960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TF-IDF logistic regression vs Naive Bayes on words, letters and concepts</a:t>
            </a:r>
            <a:endParaRPr lang="en-US" sz="1400" dirty="0"/>
          </a:p>
        </p:txBody>
      </p:sp>
      <p:sp>
        <p:nvSpPr>
          <p:cNvPr id="8" name="Feature 2 card"/>
          <p:cNvSpPr/>
          <p:nvPr/>
        </p:nvSpPr>
        <p:spPr>
          <a:xfrm>
            <a:off x="4338218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Feature 2 circle"/>
          <p:cNvSpPr/>
          <p:nvPr/>
        </p:nvSpPr>
        <p:spPr>
          <a:xfrm>
            <a:off x="461253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eat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1783080"/>
            <a:ext cx="274320" cy="274320"/>
          </a:xfrm>
          <a:prstGeom prst="rect">
            <a:avLst/>
          </a:prstGeom>
        </p:spPr>
      </p:pic>
      <p:sp>
        <p:nvSpPr>
          <p:cNvPr id="11" name="Feature 2 title"/>
          <p:cNvSpPr txBox="1"/>
          <p:nvPr/>
        </p:nvSpPr>
        <p:spPr>
          <a:xfrm>
            <a:off x="5344058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Explainable priority</a:t>
            </a:r>
            <a:endParaRPr lang="en-US" sz="1800" dirty="0"/>
          </a:p>
        </p:txBody>
      </p:sp>
      <p:sp>
        <p:nvSpPr>
          <p:cNvPr id="12" name="Feature 2 text"/>
          <p:cNvSpPr txBox="1"/>
          <p:nvPr/>
        </p:nvSpPr>
        <p:spPr>
          <a:xfrm>
            <a:off x="4612538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Safety rules force P1; the model weighs school, elderly, days pending</a:t>
            </a:r>
            <a:endParaRPr lang="en-US" sz="1400" dirty="0"/>
          </a:p>
        </p:txBody>
      </p:sp>
      <p:sp>
        <p:nvSpPr>
          <p:cNvPr id="13" name="Feature 3 card"/>
          <p:cNvSpPr/>
          <p:nvPr/>
        </p:nvSpPr>
        <p:spPr>
          <a:xfrm>
            <a:off x="8127797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Feature 3 circle"/>
          <p:cNvSpPr/>
          <p:nvPr/>
        </p:nvSpPr>
        <p:spPr>
          <a:xfrm>
            <a:off x="8402117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Feat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1783080"/>
            <a:ext cx="274320" cy="274320"/>
          </a:xfrm>
          <a:prstGeom prst="rect">
            <a:avLst/>
          </a:prstGeom>
        </p:spPr>
      </p:pic>
      <p:sp>
        <p:nvSpPr>
          <p:cNvPr id="16" name="Feature 3 title"/>
          <p:cNvSpPr txBox="1"/>
          <p:nvPr/>
        </p:nvSpPr>
        <p:spPr>
          <a:xfrm>
            <a:off x="9133637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Duplicate merging</a:t>
            </a:r>
            <a:endParaRPr lang="en-US" sz="1800" dirty="0"/>
          </a:p>
        </p:txBody>
      </p:sp>
      <p:sp>
        <p:nvSpPr>
          <p:cNvPr id="17" name="Feature 3 text"/>
          <p:cNvSpPr txBox="1"/>
          <p:nvPr/>
        </p:nvSpPr>
        <p:spPr>
          <a:xfrm>
            <a:off x="8402117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MinHash LSH + distance + time links reports across languages</a:t>
            </a:r>
            <a:endParaRPr lang="en-US" sz="1400" dirty="0"/>
          </a:p>
        </p:txBody>
      </p:sp>
      <p:sp>
        <p:nvSpPr>
          <p:cNvPr id="18" name="Feature 4 card"/>
          <p:cNvSpPr/>
          <p:nvPr/>
        </p:nvSpPr>
        <p:spPr>
          <a:xfrm>
            <a:off x="548640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Feature 4 circle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Featur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51960"/>
            <a:ext cx="274320" cy="274320"/>
          </a:xfrm>
          <a:prstGeom prst="rect">
            <a:avLst/>
          </a:prstGeom>
        </p:spPr>
      </p:pic>
      <p:sp>
        <p:nvSpPr>
          <p:cNvPr id="21" name="Feature 4 title"/>
          <p:cNvSpPr txBox="1"/>
          <p:nvPr/>
        </p:nvSpPr>
        <p:spPr>
          <a:xfrm>
            <a:off x="1554480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Hotspots &amp; surges</a:t>
            </a:r>
            <a:endParaRPr lang="en-US" sz="1800" dirty="0"/>
          </a:p>
        </p:txBody>
      </p:sp>
      <p:sp>
        <p:nvSpPr>
          <p:cNvPr id="22" name="Feature 4 text"/>
          <p:cNvSpPr txBox="1"/>
          <p:nvPr/>
        </p:nvSpPr>
        <p:spPr>
          <a:xfrm>
            <a:off x="822960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DBSCAN on incidents plus weekly Poisson z-test per ward</a:t>
            </a:r>
            <a:endParaRPr lang="en-US" sz="1400" dirty="0"/>
          </a:p>
        </p:txBody>
      </p:sp>
      <p:sp>
        <p:nvSpPr>
          <p:cNvPr id="23" name="Feature 5 card"/>
          <p:cNvSpPr/>
          <p:nvPr/>
        </p:nvSpPr>
        <p:spPr>
          <a:xfrm>
            <a:off x="4338218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Feature 5 circle"/>
          <p:cNvSpPr/>
          <p:nvPr/>
        </p:nvSpPr>
        <p:spPr>
          <a:xfrm>
            <a:off x="4612538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Featur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698" y="4251960"/>
            <a:ext cx="274320" cy="274320"/>
          </a:xfrm>
          <a:prstGeom prst="rect">
            <a:avLst/>
          </a:prstGeom>
        </p:spPr>
      </p:pic>
      <p:sp>
        <p:nvSpPr>
          <p:cNvPr id="26" name="Feature 5 title"/>
          <p:cNvSpPr txBox="1"/>
          <p:nvPr/>
        </p:nvSpPr>
        <p:spPr>
          <a:xfrm>
            <a:off x="5344058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SLA risk queue</a:t>
            </a:r>
            <a:endParaRPr lang="en-US" sz="1800" dirty="0"/>
          </a:p>
        </p:txBody>
      </p:sp>
      <p:sp>
        <p:nvSpPr>
          <p:cNvPr id="27" name="Feature 5 text"/>
          <p:cNvSpPr txBox="1"/>
          <p:nvPr/>
        </p:nvSpPr>
        <p:spPr>
          <a:xfrm>
            <a:off x="4612538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Kaplan-Meier curves and breach probability with reasons</a:t>
            </a:r>
            <a:endParaRPr lang="en-US" sz="1400" dirty="0"/>
          </a:p>
        </p:txBody>
      </p:sp>
      <p:sp>
        <p:nvSpPr>
          <p:cNvPr id="28" name="Feature 6 card"/>
          <p:cNvSpPr/>
          <p:nvPr/>
        </p:nvSpPr>
        <p:spPr>
          <a:xfrm>
            <a:off x="8127797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Feature 6 circle"/>
          <p:cNvSpPr/>
          <p:nvPr/>
        </p:nvSpPr>
        <p:spPr>
          <a:xfrm>
            <a:off x="8402117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Featur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9277" y="4251960"/>
            <a:ext cx="274320" cy="274320"/>
          </a:xfrm>
          <a:prstGeom prst="rect">
            <a:avLst/>
          </a:prstGeom>
        </p:spPr>
      </p:pic>
      <p:sp>
        <p:nvSpPr>
          <p:cNvPr id="31" name="Feature 6 title"/>
          <p:cNvSpPr txBox="1"/>
          <p:nvPr/>
        </p:nvSpPr>
        <p:spPr>
          <a:xfrm>
            <a:off x="9133637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Topic discovery</a:t>
            </a:r>
            <a:endParaRPr lang="en-US" sz="1800" dirty="0"/>
          </a:p>
        </p:txBody>
      </p:sp>
      <p:sp>
        <p:nvSpPr>
          <p:cNvPr id="32" name="Feature 6 text"/>
          <p:cNvSpPr txBox="1"/>
          <p:nvPr/>
        </p:nvSpPr>
        <p:spPr>
          <a:xfrm>
            <a:off x="8402117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k-means finds themes like noise or encroachment in Other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3" name="Layer 1"/>
          <p:cNvSpPr/>
          <p:nvPr/>
        </p:nvSpPr>
        <p:spPr>
          <a:xfrm>
            <a:off x="548640" y="132588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4" name="Layer 1 text"/>
          <p:cNvSpPr txBox="1"/>
          <p:nvPr/>
        </p:nvSpPr>
        <p:spPr>
          <a:xfrm>
            <a:off x="822960" y="132588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Browser UI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vanilla JS, SVG/canvas charts, live queue and map</a:t>
            </a:r>
            <a:endParaRPr lang="en-US" sz="1500" dirty="0"/>
          </a:p>
        </p:txBody>
      </p:sp>
      <p:sp>
        <p:nvSpPr>
          <p:cNvPr id="5" name="Arrow 1"/>
          <p:cNvSpPr/>
          <p:nvPr/>
        </p:nvSpPr>
        <p:spPr>
          <a:xfrm>
            <a:off x="4206240" y="1976628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6" name="Layer 2"/>
          <p:cNvSpPr/>
          <p:nvPr/>
        </p:nvSpPr>
        <p:spPr>
          <a:xfrm>
            <a:off x="548640" y="2159508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7" name="Layer 2 text"/>
          <p:cNvSpPr txBox="1"/>
          <p:nvPr/>
        </p:nvSpPr>
        <p:spPr>
          <a:xfrm>
            <a:off x="822960" y="2159508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app.py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stdlib ThreadingHTTPServer, JSON API, input validation</a:t>
            </a:r>
            <a:endParaRPr lang="en-US" sz="1500" dirty="0"/>
          </a:p>
        </p:txBody>
      </p:sp>
      <p:sp>
        <p:nvSpPr>
          <p:cNvPr id="8" name="Arrow 2"/>
          <p:cNvSpPr/>
          <p:nvPr/>
        </p:nvSpPr>
        <p:spPr>
          <a:xfrm>
            <a:off x="4206240" y="2810256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9" name="Layer 3"/>
          <p:cNvSpPr/>
          <p:nvPr/>
        </p:nvSpPr>
        <p:spPr>
          <a:xfrm>
            <a:off x="548640" y="2993136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0" name="Layer 3 text"/>
          <p:cNvSpPr txBox="1"/>
          <p:nvPr/>
        </p:nvSpPr>
        <p:spPr>
          <a:xfrm>
            <a:off x="822960" y="2993136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text + lexicon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Tamil-safe tokens, graphemes, bilingual concepts</a:t>
            </a:r>
            <a:endParaRPr lang="en-US" sz="1500" dirty="0"/>
          </a:p>
        </p:txBody>
      </p:sp>
      <p:sp>
        <p:nvSpPr>
          <p:cNvPr id="11" name="Arrow 3"/>
          <p:cNvSpPr/>
          <p:nvPr/>
        </p:nvSpPr>
        <p:spPr>
          <a:xfrm>
            <a:off x="4206240" y="3643884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2" name="Layer 4"/>
          <p:cNvSpPr/>
          <p:nvPr/>
        </p:nvSpPr>
        <p:spPr>
          <a:xfrm>
            <a:off x="548640" y="3826764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3" name="Layer 4 text"/>
          <p:cNvSpPr txBox="1"/>
          <p:nvPr/>
        </p:nvSpPr>
        <p:spPr>
          <a:xfrm>
            <a:off x="822960" y="3826764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models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NB, OvR logistic regression, urgency rules + model</a:t>
            </a:r>
            <a:endParaRPr lang="en-US" sz="1500" dirty="0"/>
          </a:p>
        </p:txBody>
      </p:sp>
      <p:sp>
        <p:nvSpPr>
          <p:cNvPr id="14" name="Arrow 4"/>
          <p:cNvSpPr/>
          <p:nvPr/>
        </p:nvSpPr>
        <p:spPr>
          <a:xfrm>
            <a:off x="4206240" y="4477512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5" name="Layer 5"/>
          <p:cNvSpPr/>
          <p:nvPr/>
        </p:nvSpPr>
        <p:spPr>
          <a:xfrm>
            <a:off x="548640" y="4660392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6" name="Layer 5 text"/>
          <p:cNvSpPr txBox="1"/>
          <p:nvPr/>
        </p:nvSpPr>
        <p:spPr>
          <a:xfrm>
            <a:off x="822960" y="4660392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dedup + hotspot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MinHash LSH, haversine, DBSCAN, Poisson test</a:t>
            </a:r>
            <a:endParaRPr lang="en-US" sz="1500" dirty="0"/>
          </a:p>
        </p:txBody>
      </p:sp>
      <p:sp>
        <p:nvSpPr>
          <p:cNvPr id="17" name="Arrow 5"/>
          <p:cNvSpPr/>
          <p:nvPr/>
        </p:nvSpPr>
        <p:spPr>
          <a:xfrm>
            <a:off x="4206240" y="5311140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8" name="Layer 6"/>
          <p:cNvSpPr/>
          <p:nvPr/>
        </p:nvSpPr>
        <p:spPr>
          <a:xfrm>
            <a:off x="548640" y="549402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9" name="Layer 6 text"/>
          <p:cNvSpPr txBox="1"/>
          <p:nvPr/>
        </p:nvSpPr>
        <p:spPr>
          <a:xfrm>
            <a:off x="822960" y="549402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sla + topics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Kaplan-Meier, breach LR, spherical k-means</a:t>
            </a:r>
            <a:endParaRPr lang="en-US" sz="1500" dirty="0"/>
          </a:p>
        </p:txBody>
      </p:sp>
      <p:sp>
        <p:nvSpPr>
          <p:cNvPr id="20" name="Tech card"/>
          <p:cNvSpPr/>
          <p:nvPr/>
        </p:nvSpPr>
        <p:spPr>
          <a:xfrm>
            <a:off x="8412480" y="1325880"/>
            <a:ext cx="3230575" cy="4800600"/>
          </a:xfrm>
          <a:prstGeom prst="roundRect">
            <a:avLst>
              <a:gd name="adj" fmla="val 3397"/>
            </a:avLst>
          </a:prstGeom>
          <a:solidFill>
            <a:schemeClr val="tx2"/>
          </a:solidFill>
          <a:ln/>
        </p:spPr>
      </p:sp>
      <p:sp>
        <p:nvSpPr>
          <p:cNvPr id="21" name="Tech title"/>
          <p:cNvSpPr txBox="1"/>
          <p:nvPr/>
        </p:nvSpPr>
        <p:spPr>
          <a:xfrm>
            <a:off x="868680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Tech stack</a:t>
            </a:r>
            <a:endParaRPr lang="en-US" sz="1800" dirty="0"/>
          </a:p>
        </p:txBody>
      </p:sp>
      <p:sp>
        <p:nvSpPr>
          <p:cNvPr id="22" name="Tech list"/>
          <p:cNvSpPr txBox="1"/>
          <p:nvPr/>
        </p:nvSpPr>
        <p:spPr>
          <a:xfrm>
            <a:off x="8686800" y="21031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Python 3 stdlib only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Vanilla HTML/CSS/JS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Hand-drawn SVG + canvas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No CDN, fully offline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unittest (70 tests)</a:t>
            </a:r>
            <a:endParaRPr lang="en-US" sz="1400" dirty="0"/>
          </a:p>
        </p:txBody>
      </p:sp>
      <p:sp>
        <p:nvSpPr>
          <p:cNvPr id="23" name="Offline note"/>
          <p:cNvSpPr txBox="1"/>
          <p:nvPr/>
        </p:nvSpPr>
        <p:spPr>
          <a:xfrm>
            <a:off x="8686800" y="5120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Runs fully offline · no installs · python app.py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Algorithms built from scratch</a:t>
            </a:r>
            <a:endParaRPr lang="en-US" sz="3600" dirty="0"/>
          </a:p>
        </p:txBody>
      </p:sp>
      <p:sp>
        <p:nvSpPr>
          <p:cNvPr id="3" name="Algorithm 1 card"/>
          <p:cNvSpPr/>
          <p:nvPr/>
        </p:nvSpPr>
        <p:spPr>
          <a:xfrm>
            <a:off x="548640" y="137160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4" name="Algorithm 1 number"/>
          <p:cNvSpPr txBox="1"/>
          <p:nvPr/>
        </p:nvSpPr>
        <p:spPr>
          <a:xfrm>
            <a:off x="777240" y="137160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01</a:t>
            </a:r>
            <a:endParaRPr lang="en-US" sz="2800" dirty="0"/>
          </a:p>
        </p:txBody>
      </p:sp>
      <p:sp>
        <p:nvSpPr>
          <p:cNvPr id="5" name="Algorithm 1 text"/>
          <p:cNvSpPr txBox="1"/>
          <p:nvPr/>
        </p:nvSpPr>
        <p:spPr>
          <a:xfrm>
            <a:off x="1554480" y="137160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Multinomial Naive Bayes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department routing baseline</a:t>
            </a:r>
            <a:endParaRPr lang="en-US" sz="1700" dirty="0"/>
          </a:p>
        </p:txBody>
      </p:sp>
      <p:sp>
        <p:nvSpPr>
          <p:cNvPr id="6" name="Algorithm 2 card"/>
          <p:cNvSpPr/>
          <p:nvPr/>
        </p:nvSpPr>
        <p:spPr>
          <a:xfrm>
            <a:off x="6233008" y="137160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7" name="Algorithm 2 number"/>
          <p:cNvSpPr txBox="1"/>
          <p:nvPr/>
        </p:nvSpPr>
        <p:spPr>
          <a:xfrm>
            <a:off x="6461608" y="137160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02</a:t>
            </a:r>
            <a:endParaRPr lang="en-US" sz="2800" dirty="0"/>
          </a:p>
        </p:txBody>
      </p:sp>
      <p:sp>
        <p:nvSpPr>
          <p:cNvPr id="8" name="Algorithm 2 text"/>
          <p:cNvSpPr txBox="1"/>
          <p:nvPr/>
        </p:nvSpPr>
        <p:spPr>
          <a:xfrm>
            <a:off x="7238848" y="137160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TF-IDF logistic regression (OvR, SGD)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routing + urgency</a:t>
            </a:r>
            <a:endParaRPr lang="en-US" sz="1700" dirty="0"/>
          </a:p>
        </p:txBody>
      </p:sp>
      <p:sp>
        <p:nvSpPr>
          <p:cNvPr id="9" name="Algorithm 3 card"/>
          <p:cNvSpPr/>
          <p:nvPr/>
        </p:nvSpPr>
        <p:spPr>
          <a:xfrm>
            <a:off x="548640" y="303276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0" name="Algorithm 3 number"/>
          <p:cNvSpPr txBox="1"/>
          <p:nvPr/>
        </p:nvSpPr>
        <p:spPr>
          <a:xfrm>
            <a:off x="777240" y="303276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03</a:t>
            </a:r>
            <a:endParaRPr lang="en-US" sz="2800" dirty="0"/>
          </a:p>
        </p:txBody>
      </p:sp>
      <p:sp>
        <p:nvSpPr>
          <p:cNvPr id="11" name="Algorithm 3 text"/>
          <p:cNvSpPr txBox="1"/>
          <p:nvPr/>
        </p:nvSpPr>
        <p:spPr>
          <a:xfrm>
            <a:off x="1554480" y="303276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MinHash + LSH banding + haversine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duplicate incidents</a:t>
            </a:r>
            <a:endParaRPr lang="en-US" sz="1700" dirty="0"/>
          </a:p>
        </p:txBody>
      </p:sp>
      <p:sp>
        <p:nvSpPr>
          <p:cNvPr id="12" name="Algorithm 4 card"/>
          <p:cNvSpPr/>
          <p:nvPr/>
        </p:nvSpPr>
        <p:spPr>
          <a:xfrm>
            <a:off x="6233008" y="303276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3" name="Algorithm 4 number"/>
          <p:cNvSpPr txBox="1"/>
          <p:nvPr/>
        </p:nvSpPr>
        <p:spPr>
          <a:xfrm>
            <a:off x="6461608" y="303276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04</a:t>
            </a:r>
            <a:endParaRPr lang="en-US" sz="2800" dirty="0"/>
          </a:p>
        </p:txBody>
      </p:sp>
      <p:sp>
        <p:nvSpPr>
          <p:cNvPr id="14" name="Algorithm 4 text"/>
          <p:cNvSpPr txBox="1"/>
          <p:nvPr/>
        </p:nvSpPr>
        <p:spPr>
          <a:xfrm>
            <a:off x="7238848" y="303276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DBSCAN (grid index)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spatial hotspots per department</a:t>
            </a:r>
            <a:endParaRPr lang="en-US" sz="1700" dirty="0"/>
          </a:p>
        </p:txBody>
      </p:sp>
      <p:sp>
        <p:nvSpPr>
          <p:cNvPr id="15" name="Algorithm 5 card"/>
          <p:cNvSpPr/>
          <p:nvPr/>
        </p:nvSpPr>
        <p:spPr>
          <a:xfrm>
            <a:off x="548640" y="469392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6" name="Algorithm 5 number"/>
          <p:cNvSpPr txBox="1"/>
          <p:nvPr/>
        </p:nvSpPr>
        <p:spPr>
          <a:xfrm>
            <a:off x="777240" y="469392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05</a:t>
            </a:r>
            <a:endParaRPr lang="en-US" sz="2800" dirty="0"/>
          </a:p>
        </p:txBody>
      </p:sp>
      <p:sp>
        <p:nvSpPr>
          <p:cNvPr id="17" name="Algorithm 5 text"/>
          <p:cNvSpPr txBox="1"/>
          <p:nvPr/>
        </p:nvSpPr>
        <p:spPr>
          <a:xfrm>
            <a:off x="1554480" y="469392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Poisson z-test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emerging ward hotspots vs 4-week baseline</a:t>
            </a:r>
            <a:endParaRPr lang="en-US" sz="1700" dirty="0"/>
          </a:p>
        </p:txBody>
      </p:sp>
      <p:sp>
        <p:nvSpPr>
          <p:cNvPr id="18" name="Algorithm 6 card"/>
          <p:cNvSpPr/>
          <p:nvPr/>
        </p:nvSpPr>
        <p:spPr>
          <a:xfrm>
            <a:off x="6233008" y="469392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9" name="Algorithm 6 number"/>
          <p:cNvSpPr txBox="1"/>
          <p:nvPr/>
        </p:nvSpPr>
        <p:spPr>
          <a:xfrm>
            <a:off x="6461608" y="469392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06</a:t>
            </a:r>
            <a:endParaRPr lang="en-US" sz="2800" dirty="0"/>
          </a:p>
        </p:txBody>
      </p:sp>
      <p:sp>
        <p:nvSpPr>
          <p:cNvPr id="20" name="Algorithm 6 text"/>
          <p:cNvSpPr txBox="1"/>
          <p:nvPr/>
        </p:nvSpPr>
        <p:spPr>
          <a:xfrm>
            <a:off x="7238848" y="469392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Kaplan-Meier + logistic regression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SLA curves and breach risk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makes it different</a:t>
            </a:r>
            <a:endParaRPr lang="en-US" sz="3600" dirty="0"/>
          </a:p>
        </p:txBody>
      </p:sp>
      <p:sp>
        <p:nvSpPr>
          <p:cNvPr id="3" name="Innovation 1 card"/>
          <p:cNvSpPr/>
          <p:nvPr/>
        </p:nvSpPr>
        <p:spPr>
          <a:xfrm>
            <a:off x="548640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4" name="Innovation 1 circle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nnovati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274570"/>
            <a:ext cx="342900" cy="342900"/>
          </a:xfrm>
          <a:prstGeom prst="rect">
            <a:avLst/>
          </a:prstGeom>
        </p:spPr>
      </p:pic>
      <p:sp>
        <p:nvSpPr>
          <p:cNvPr id="6" name="Innovation 1 text"/>
          <p:cNvSpPr txBox="1"/>
          <p:nvPr/>
        </p:nvSpPr>
        <p:spPr>
          <a:xfrm>
            <a:off x="1783080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Tamil grapheme tokenizer + bilingual concepts: one model, three scripts</a:t>
            </a:r>
            <a:endParaRPr lang="en-US" sz="2000" dirty="0"/>
          </a:p>
        </p:txBody>
      </p:sp>
      <p:sp>
        <p:nvSpPr>
          <p:cNvPr id="7" name="Innovation 2 card"/>
          <p:cNvSpPr/>
          <p:nvPr/>
        </p:nvSpPr>
        <p:spPr>
          <a:xfrm>
            <a:off x="6233008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8" name="Innovation 2 circle"/>
          <p:cNvSpPr/>
          <p:nvPr/>
        </p:nvSpPr>
        <p:spPr>
          <a:xfrm>
            <a:off x="6553048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nnovati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8" y="2274570"/>
            <a:ext cx="342900" cy="342900"/>
          </a:xfrm>
          <a:prstGeom prst="rect">
            <a:avLst/>
          </a:prstGeom>
        </p:spPr>
      </p:pic>
      <p:sp>
        <p:nvSpPr>
          <p:cNvPr id="10" name="Innovation 2 text"/>
          <p:cNvSpPr txBox="1"/>
          <p:nvPr/>
        </p:nvSpPr>
        <p:spPr>
          <a:xfrm>
            <a:off x="7467448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Duplicates matched across languages using text, place and time</a:t>
            </a:r>
            <a:endParaRPr lang="en-US" sz="2000" dirty="0"/>
          </a:p>
        </p:txBody>
      </p:sp>
      <p:sp>
        <p:nvSpPr>
          <p:cNvPr id="11" name="Innovation 3 card"/>
          <p:cNvSpPr/>
          <p:nvPr/>
        </p:nvSpPr>
        <p:spPr>
          <a:xfrm>
            <a:off x="548640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2" name="Innovation 3 circle"/>
          <p:cNvSpPr/>
          <p:nvPr/>
        </p:nvSpPr>
        <p:spPr>
          <a:xfrm>
            <a:off x="868680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nnovati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4697730"/>
            <a:ext cx="342900" cy="342900"/>
          </a:xfrm>
          <a:prstGeom prst="rect">
            <a:avLst/>
          </a:prstGeom>
        </p:spPr>
      </p:pic>
      <p:sp>
        <p:nvSpPr>
          <p:cNvPr id="14" name="Innovation 3 text"/>
          <p:cNvSpPr txBox="1"/>
          <p:nvPr/>
        </p:nvSpPr>
        <p:spPr>
          <a:xfrm>
            <a:off x="1783080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Safety rules never wait for a model; the model never hides why</a:t>
            </a:r>
            <a:endParaRPr lang="en-US" sz="2000" dirty="0"/>
          </a:p>
        </p:txBody>
      </p:sp>
      <p:sp>
        <p:nvSpPr>
          <p:cNvPr id="15" name="Innovation 4 card"/>
          <p:cNvSpPr/>
          <p:nvPr/>
        </p:nvSpPr>
        <p:spPr>
          <a:xfrm>
            <a:off x="6233008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16" name="Innovation 4 circle"/>
          <p:cNvSpPr/>
          <p:nvPr/>
        </p:nvSpPr>
        <p:spPr>
          <a:xfrm>
            <a:off x="6553048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nnovation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498" y="4697730"/>
            <a:ext cx="342900" cy="342900"/>
          </a:xfrm>
          <a:prstGeom prst="rect">
            <a:avLst/>
          </a:prstGeom>
        </p:spPr>
      </p:pic>
      <p:sp>
        <p:nvSpPr>
          <p:cNvPr id="18" name="Innovation 4 text"/>
          <p:cNvSpPr txBox="1"/>
          <p:nvPr/>
        </p:nvSpPr>
        <p:spPr>
          <a:xfrm>
            <a:off x="7467448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Every metric measured against planted ground truth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Measured results</a:t>
            </a:r>
            <a:endParaRPr lang="en-US" sz="3600" dirty="0"/>
          </a:p>
        </p:txBody>
      </p:sp>
      <p:sp>
        <p:nvSpPr>
          <p:cNvPr id="3" name="Result 1 card"/>
          <p:cNvSpPr/>
          <p:nvPr/>
        </p:nvSpPr>
        <p:spPr>
          <a:xfrm>
            <a:off x="548640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Result 1 value"/>
          <p:cNvSpPr txBox="1"/>
          <p:nvPr/>
        </p:nvSpPr>
        <p:spPr>
          <a:xfrm>
            <a:off x="777240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95.3%</a:t>
            </a:r>
            <a:endParaRPr lang="en-US" sz="4000" dirty="0"/>
          </a:p>
        </p:txBody>
      </p:sp>
      <p:sp>
        <p:nvSpPr>
          <p:cNvPr id="5" name="Result 1 label"/>
          <p:cNvSpPr txBox="1"/>
          <p:nvPr/>
        </p:nvSpPr>
        <p:spPr>
          <a:xfrm>
            <a:off x="777240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routing accuracy, 615 held-out (94.2% on unseen phrasing)</a:t>
            </a:r>
            <a:endParaRPr lang="en-US" sz="1400" dirty="0"/>
          </a:p>
        </p:txBody>
      </p:sp>
      <p:sp>
        <p:nvSpPr>
          <p:cNvPr id="6" name="Result 2 card"/>
          <p:cNvSpPr/>
          <p:nvPr/>
        </p:nvSpPr>
        <p:spPr>
          <a:xfrm>
            <a:off x="3390824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Result 2 value"/>
          <p:cNvSpPr txBox="1"/>
          <p:nvPr/>
        </p:nvSpPr>
        <p:spPr>
          <a:xfrm>
            <a:off x="3619424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0.82</a:t>
            </a:r>
            <a:endParaRPr lang="en-US" sz="4000" dirty="0"/>
          </a:p>
        </p:txBody>
      </p:sp>
      <p:sp>
        <p:nvSpPr>
          <p:cNvPr id="8" name="Result 2 label"/>
          <p:cNvSpPr txBox="1"/>
          <p:nvPr/>
        </p:nvSpPr>
        <p:spPr>
          <a:xfrm>
            <a:off x="3619424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duplicate-pair F1 (text-only baseline 0.47)</a:t>
            </a:r>
            <a:endParaRPr lang="en-US" sz="1400" dirty="0"/>
          </a:p>
        </p:txBody>
      </p:sp>
      <p:sp>
        <p:nvSpPr>
          <p:cNvPr id="9" name="Result 3 card"/>
          <p:cNvSpPr/>
          <p:nvPr/>
        </p:nvSpPr>
        <p:spPr>
          <a:xfrm>
            <a:off x="6233008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Result 3 value"/>
          <p:cNvSpPr txBox="1"/>
          <p:nvPr/>
        </p:nvSpPr>
        <p:spPr>
          <a:xfrm>
            <a:off x="6461608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6 / 6</a:t>
            </a:r>
            <a:endParaRPr lang="en-US" sz="4000" dirty="0"/>
          </a:p>
        </p:txBody>
      </p:sp>
      <p:sp>
        <p:nvSpPr>
          <p:cNvPr id="11" name="Result 3 label"/>
          <p:cNvSpPr txBox="1"/>
          <p:nvPr/>
        </p:nvSpPr>
        <p:spPr>
          <a:xfrm>
            <a:off x="6461608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planted hotspots found, zero false hotspots</a:t>
            </a:r>
            <a:endParaRPr lang="en-US" sz="1400" dirty="0"/>
          </a:p>
        </p:txBody>
      </p:sp>
      <p:sp>
        <p:nvSpPr>
          <p:cNvPr id="12" name="Result 4 card"/>
          <p:cNvSpPr/>
          <p:nvPr/>
        </p:nvSpPr>
        <p:spPr>
          <a:xfrm>
            <a:off x="9075191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Result 4 value"/>
          <p:cNvSpPr txBox="1"/>
          <p:nvPr/>
        </p:nvSpPr>
        <p:spPr>
          <a:xfrm>
            <a:off x="9303791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2.6 ms</a:t>
            </a:r>
            <a:endParaRPr lang="en-US" sz="4000" dirty="0"/>
          </a:p>
        </p:txBody>
      </p:sp>
      <p:sp>
        <p:nvSpPr>
          <p:cNvPr id="14" name="Result 4 label"/>
          <p:cNvSpPr txBox="1"/>
          <p:nvPr/>
        </p:nvSpPr>
        <p:spPr>
          <a:xfrm>
            <a:off x="9303791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full pipeline per complaint (p50, pure Python)</a:t>
            </a:r>
            <a:endParaRPr lang="en-US" sz="1400" dirty="0"/>
          </a:p>
        </p:txBody>
      </p:sp>
      <p:sp>
        <p:nvSpPr>
          <p:cNvPr id="15" name="Results caveat"/>
          <p:cNvSpPr txBox="1"/>
          <p:nvPr/>
        </p:nvSpPr>
        <p:spPr>
          <a:xfrm>
            <a:off x="548640" y="4160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Measured on held-out data generated by the project (see REPORT.md for method). Real-world performance needs field validation.</a:t>
            </a:r>
            <a:endParaRPr lang="en-US" sz="1200" dirty="0"/>
          </a:p>
        </p:txBody>
      </p:sp>
      <p:sp>
        <p:nvSpPr>
          <p:cNvPr id="16" name="Impact strip"/>
          <p:cNvSpPr/>
          <p:nvPr/>
        </p:nvSpPr>
        <p:spPr>
          <a:xfrm>
            <a:off x="548640" y="4754880"/>
            <a:ext cx="11094415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sp>
        <p:nvSpPr>
          <p:cNvPr id="17" name="Impact circle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pac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5280660"/>
            <a:ext cx="320040" cy="320040"/>
          </a:xfrm>
          <a:prstGeom prst="rect">
            <a:avLst/>
          </a:prstGeom>
        </p:spPr>
      </p:pic>
      <p:sp>
        <p:nvSpPr>
          <p:cNvPr id="19" name="Impact text"/>
          <p:cNvSpPr txBox="1"/>
          <p:nvPr/>
        </p:nvSpPr>
        <p:spPr>
          <a:xfrm>
            <a:off x="1737360" y="4754880"/>
            <a:ext cx="9631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Impact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Urgent safety hazards jump the queue within seconds  ·  ~36% fewer tickets once duplicate reports are merged (demo data)  ·  Ward officers see hotspots and slow wards weekly, not yearly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Live demo in 3 minutes</a:t>
            </a:r>
            <a:endParaRPr lang="en-US" sz="3600" dirty="0"/>
          </a:p>
        </p:txBody>
      </p:sp>
      <p:sp>
        <p:nvSpPr>
          <p:cNvPr id="3" name="Step 1 dot"/>
          <p:cNvSpPr/>
          <p:nvPr/>
        </p:nvSpPr>
        <p:spPr>
          <a:xfrm>
            <a:off x="548640" y="14356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tep 1 number"/>
          <p:cNvSpPr txBox="1"/>
          <p:nvPr/>
        </p:nvSpPr>
        <p:spPr>
          <a:xfrm>
            <a:off x="54864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1 text"/>
          <p:cNvSpPr txBox="1"/>
          <p:nvPr/>
        </p:nvSpPr>
        <p:spPr>
          <a:xfrm>
            <a:off x="1234440" y="137160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Triage: KPIs, live queue with priority and duplicate links</a:t>
            </a:r>
            <a:endParaRPr lang="en-US" sz="1600" dirty="0"/>
          </a:p>
        </p:txBody>
      </p:sp>
      <p:sp>
        <p:nvSpPr>
          <p:cNvPr id="6" name="Step 2 dot"/>
          <p:cNvSpPr/>
          <p:nvPr/>
        </p:nvSpPr>
        <p:spPr>
          <a:xfrm>
            <a:off x="548640" y="21305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tep 2 number"/>
          <p:cNvSpPr txBox="1"/>
          <p:nvPr/>
        </p:nvSpPr>
        <p:spPr>
          <a:xfrm>
            <a:off x="54864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tep 2 text"/>
          <p:cNvSpPr txBox="1"/>
          <p:nvPr/>
        </p:nvSpPr>
        <p:spPr>
          <a:xfrm>
            <a:off x="1234440" y="206654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Run demo: Tanglish live wire becomes P1 by safety rule</a:t>
            </a:r>
            <a:endParaRPr lang="en-US" sz="1600" dirty="0"/>
          </a:p>
        </p:txBody>
      </p:sp>
      <p:sp>
        <p:nvSpPr>
          <p:cNvPr id="9" name="Step 3 dot"/>
          <p:cNvSpPr/>
          <p:nvPr/>
        </p:nvSpPr>
        <p:spPr>
          <a:xfrm>
            <a:off x="548640" y="28254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3 number"/>
          <p:cNvSpPr txBox="1"/>
          <p:nvPr/>
        </p:nvSpPr>
        <p:spPr>
          <a:xfrm>
            <a:off x="54864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tep 3 text"/>
          <p:cNvSpPr txBox="1"/>
          <p:nvPr/>
        </p:nvSpPr>
        <p:spPr>
          <a:xfrm>
            <a:off x="1234440" y="2761488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Tamil duplicate merged with an English report</a:t>
            </a:r>
            <a:endParaRPr lang="en-US" sz="1600" dirty="0"/>
          </a:p>
        </p:txBody>
      </p:sp>
      <p:sp>
        <p:nvSpPr>
          <p:cNvPr id="12" name="Step 4 dot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tep 4 number"/>
          <p:cNvSpPr txBox="1"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Step 4 text"/>
          <p:cNvSpPr txBox="1"/>
          <p:nvPr/>
        </p:nvSpPr>
        <p:spPr>
          <a:xfrm>
            <a:off x="1234440" y="345643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Map: 6 DBSCAN hotspots match the planted ones</a:t>
            </a:r>
            <a:endParaRPr lang="en-US" sz="1600" dirty="0"/>
          </a:p>
        </p:txBody>
      </p:sp>
      <p:sp>
        <p:nvSpPr>
          <p:cNvPr id="15" name="Step 5 dot"/>
          <p:cNvSpPr/>
          <p:nvPr/>
        </p:nvSpPr>
        <p:spPr>
          <a:xfrm>
            <a:off x="548640" y="42153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tep 5 number"/>
          <p:cNvSpPr txBox="1"/>
          <p:nvPr/>
        </p:nvSpPr>
        <p:spPr>
          <a:xfrm>
            <a:off x="54864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Step 5 text"/>
          <p:cNvSpPr txBox="1"/>
          <p:nvPr/>
        </p:nvSpPr>
        <p:spPr>
          <a:xfrm>
            <a:off x="1234440" y="4151376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Heat grid: W11 garbage surge, z = 15</a:t>
            </a:r>
            <a:endParaRPr lang="en-US" sz="1600" dirty="0"/>
          </a:p>
        </p:txBody>
      </p:sp>
      <p:sp>
        <p:nvSpPr>
          <p:cNvPr id="18" name="Step 6 dot"/>
          <p:cNvSpPr/>
          <p:nvPr/>
        </p:nvSpPr>
        <p:spPr>
          <a:xfrm>
            <a:off x="548640" y="4910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Step 6 number"/>
          <p:cNvSpPr txBox="1"/>
          <p:nvPr/>
        </p:nvSpPr>
        <p:spPr>
          <a:xfrm>
            <a:off x="548640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Step 6 text"/>
          <p:cNvSpPr txBox="1"/>
          <p:nvPr/>
        </p:nvSpPr>
        <p:spPr>
          <a:xfrm>
            <a:off x="1234440" y="484632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SLA: survival curve, at-risk queue with reasons</a:t>
            </a:r>
            <a:endParaRPr lang="en-US" sz="1600" dirty="0"/>
          </a:p>
        </p:txBody>
      </p:sp>
      <p:sp>
        <p:nvSpPr>
          <p:cNvPr id="21" name="Step 7 dot"/>
          <p:cNvSpPr/>
          <p:nvPr/>
        </p:nvSpPr>
        <p:spPr>
          <a:xfrm>
            <a:off x="548640" y="56052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Step 7 number"/>
          <p:cNvSpPr txBox="1"/>
          <p:nvPr/>
        </p:nvSpPr>
        <p:spPr>
          <a:xfrm>
            <a:off x="548640" y="5605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Step 7 text"/>
          <p:cNvSpPr txBox="1"/>
          <p:nvPr/>
        </p:nvSpPr>
        <p:spPr>
          <a:xfrm>
            <a:off x="1234440" y="554126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Models: LR 94% vs NB 61% on unseen phrasing</a:t>
            </a:r>
            <a:endParaRPr lang="en-US" sz="1600" dirty="0"/>
          </a:p>
        </p:txBody>
      </p:sp>
      <p:sp>
        <p:nvSpPr>
          <p:cNvPr id="24" name="Demo screenshot frame"/>
          <p:cNvSpPr/>
          <p:nvPr/>
        </p:nvSpPr>
        <p:spPr>
          <a:xfrm>
            <a:off x="6528816" y="1545336"/>
            <a:ext cx="5138928" cy="3252978"/>
          </a:xfrm>
          <a:prstGeom prst="roundRect">
            <a:avLst>
              <a:gd name="adj" fmla="val 224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5" name="Demo screenshot" descr="CivicLen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00200"/>
            <a:ext cx="5029200" cy="3143250"/>
          </a:xfrm>
          <a:prstGeom prst="rect">
            <a:avLst/>
          </a:prstGeom>
        </p:spPr>
      </p:pic>
      <p:sp>
        <p:nvSpPr>
          <p:cNvPr id="26" name="Run command"/>
          <p:cNvSpPr txBox="1"/>
          <p:nvPr/>
        </p:nvSpPr>
        <p:spPr>
          <a:xfrm>
            <a:off x="6583680" y="5029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  →  http://localhost:8019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Feasibility, business model &amp; roadmap</a:t>
            </a:r>
            <a:endParaRPr lang="en-US" sz="3600" dirty="0"/>
          </a:p>
        </p:txBody>
      </p:sp>
      <p:sp>
        <p:nvSpPr>
          <p:cNvPr id="3" name="Business model card"/>
          <p:cNvSpPr/>
          <p:nvPr/>
        </p:nvSpPr>
        <p:spPr>
          <a:xfrm>
            <a:off x="548640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Business model circle"/>
          <p:cNvSpPr/>
          <p:nvPr/>
        </p:nvSpPr>
        <p:spPr>
          <a:xfrm>
            <a:off x="86868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Business mode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274320" cy="274320"/>
          </a:xfrm>
          <a:prstGeom prst="rect">
            <a:avLst/>
          </a:prstGeom>
        </p:spPr>
      </p:pic>
      <p:sp>
        <p:nvSpPr>
          <p:cNvPr id="6" name="Business model title"/>
          <p:cNvSpPr txBox="1"/>
          <p:nvPr/>
        </p:nvSpPr>
        <p:spPr>
          <a:xfrm>
            <a:off x="1600200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Business model</a:t>
            </a:r>
            <a:endParaRPr lang="en-US" sz="2000" dirty="0"/>
          </a:p>
        </p:txBody>
      </p:sp>
      <p:sp>
        <p:nvSpPr>
          <p:cNvPr id="7" name="Business model list"/>
          <p:cNvSpPr txBox="1"/>
          <p:nvPr/>
        </p:nvSpPr>
        <p:spPr>
          <a:xfrm>
            <a:off x="914400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Free open-source edition for colleges and small towns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Paid hosted edition for municipal corporations with integrations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Setup and lexicon tuning for each district's own language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Plugs into existing CPGRAMS-style portals and WhatsApp lines</a:t>
            </a:r>
            <a:endParaRPr lang="en-US" sz="1600" dirty="0"/>
          </a:p>
        </p:txBody>
      </p:sp>
      <p:sp>
        <p:nvSpPr>
          <p:cNvPr id="8" name="Future scope card"/>
          <p:cNvSpPr/>
          <p:nvPr/>
        </p:nvSpPr>
        <p:spPr>
          <a:xfrm>
            <a:off x="6233008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accent2"/>
          </a:solidFill>
          <a:ln/>
        </p:spPr>
      </p:sp>
      <p:sp>
        <p:nvSpPr>
          <p:cNvPr id="9" name="Future scope circle"/>
          <p:cNvSpPr/>
          <p:nvPr/>
        </p:nvSpPr>
        <p:spPr>
          <a:xfrm>
            <a:off x="655304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uture scop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1783080"/>
            <a:ext cx="274320" cy="274320"/>
          </a:xfrm>
          <a:prstGeom prst="rect">
            <a:avLst/>
          </a:prstGeom>
        </p:spPr>
      </p:pic>
      <p:sp>
        <p:nvSpPr>
          <p:cNvPr id="11" name="Future scope title"/>
          <p:cNvSpPr txBox="1"/>
          <p:nvPr/>
        </p:nvSpPr>
        <p:spPr>
          <a:xfrm>
            <a:off x="7284568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12" name="Future scope list"/>
          <p:cNvSpPr txBox="1"/>
          <p:nvPr/>
        </p:nvSpPr>
        <p:spPr>
          <a:xfrm>
            <a:off x="6598768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Learn from officers' re-routing corrections (active learning)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Speech-to-text for call-centre and voice notes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Photo evidence: pothole and garbage image checks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Crew routing for clustered incidents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Public status page for citizens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Thanks tagline"/>
          <p:cNvSpPr txBox="1"/>
          <p:nvPr/>
        </p:nvSpPr>
        <p:spPr>
          <a:xfrm>
            <a:off x="548640" y="2651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CivicLens · AI triage and analytics for citizen complaints</a:t>
            </a:r>
            <a:endParaRPr lang="en-US" sz="2000" dirty="0"/>
          </a:p>
        </p:txBody>
      </p:sp>
      <p:sp>
        <p:nvSpPr>
          <p:cNvPr id="4" name="Links"/>
          <p:cNvSpPr txBox="1"/>
          <p:nvPr/>
        </p:nvSpPr>
        <p:spPr>
          <a:xfrm>
            <a:off x="548640" y="3931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Code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https://github.com/jayeskumar/a/tree/claude/confident-fermi-dpeh2g/projects/19-civiclens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Run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projects/19-civiclens &amp;&amp; python app.py</a:t>
            </a:r>
            <a:endParaRPr lang="en-US" sz="1500" dirty="0"/>
          </a:p>
        </p:txBody>
      </p:sp>
      <p:sp>
        <p:nvSpPr>
          <p:cNvPr id="5" name="Questions"/>
          <p:cNvSpPr txBox="1"/>
          <p:nvPr/>
        </p:nvSpPr>
        <p:spPr>
          <a:xfrm>
            <a:off x="548640" y="5303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Questions?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vicLens QUANTIX">
  <a:themeElements>
    <a:clrScheme name="CivicLens QUANTIX">
      <a:dk1>
        <a:srgbClr val="141B34"/>
      </a:dk1>
      <a:lt1>
        <a:srgbClr val="FFFFFF"/>
      </a:lt1>
      <a:dk2>
        <a:srgbClr val="0B1026"/>
      </a:dk2>
      <a:lt2>
        <a:srgbClr val="F3F4F8"/>
      </a:lt2>
      <a:accent1>
        <a:srgbClr val="DC2626"/>
      </a:accent1>
      <a:accent2>
        <a:srgbClr val="FBE5E5"/>
      </a:accent2>
      <a:accent3>
        <a:srgbClr val="8F1919"/>
      </a:accent3>
      <a:accent4>
        <a:srgbClr val="5B6478"/>
      </a:accent4>
      <a:accent5>
        <a:srgbClr val="391526"/>
      </a:accent5>
      <a:accent6>
        <a:srgbClr val="EC8888"/>
      </a:accent6>
      <a:hlink>
        <a:srgbClr val="B01E1E"/>
      </a:hlink>
      <a:folHlink>
        <a:srgbClr val="5B6478"/>
      </a:folHlink>
    </a:clrScheme>
    <a:fontScheme name="CivicLens QUANTIX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CivicLens – AI triage and analytics for citizen complaints</dc:title>
  <dc:subject>QUANTIX 2K26 · Data Science &amp; Analytics</dc:subject>
  <dc:creator>Your Team Name</dc:creator>
  <cp:lastModifiedBy>Your Team Name</cp:lastModifiedBy>
  <cp:revision>1</cp:revision>
  <dcterms:created xsi:type="dcterms:W3CDTF">2026-10-20T06:29:50Z</dcterms:created>
  <dcterms:modified xsi:type="dcterms:W3CDTF">2026-10-20T06:29:50Z</dcterms:modified>
</cp:coreProperties>
</file>