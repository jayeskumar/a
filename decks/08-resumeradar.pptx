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e0d5337-ad31-de04-11de-551d4b3fff85}">
          <p14:sldIdLst>
            <p14:sldId id="256"/>
          </p14:sldIdLst>
        </p14:section>
        <p14:section name="Problem &amp; solution" id="{45cccd92-24ce-2d94-1a00-ec7276fddecd}">
          <p14:sldIdLst>
            <p14:sldId id="257"/>
            <p14:sldId id="258"/>
          </p14:sldIdLst>
        </p14:section>
        <p14:section name="Product" id="{89903368-4bdb-79bc-c351-3399f1328abc}">
          <p14:sldIdLst>
            <p14:sldId id="259"/>
            <p14:sldId id="260"/>
            <p14:sldId id="261"/>
          </p14:sldIdLst>
        </p14:section>
        <p14:section name="Why us" id="{8450e6eb-9761-68fb-03e6-728478135213}">
          <p14:sldIdLst>
            <p14:sldId id="262"/>
            <p14:sldId id="263"/>
          </p14:sldIdLst>
        </p14:section>
        <p14:section name="Demo" id="{5c158907-9313-9f75-2b71-abea1d63d0cc}">
          <p14:sldIdLst>
            <p14:sldId id="264"/>
          </p14:sldIdLst>
        </p14:section>
        <p14:section name="Roadmap" id="{135149f0-c107-7e5f-d8f5-6d224fe02517}">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Fair, explainable AI resume screening and career coaching. Introduce the team, then go straight 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Recruiters skim hundreds of resumes in seconds per profile Keyword ATS tools reject good candidates for their wording Name, gender and college bias creep into screening Rejected students never learn why or what to fix Key numbers: ~7 s first human scan of a resume (Ladders eye-tracking study 2018, approx.); ~50% more callbacks for identical resumes, name changed (Bertrand &amp; Mullainathan 2004, approx.); #11 → #2 strong 'ReactJS, JS, TS' resume: keyword ATS vs ResumeRadar (our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Rank resumes against a JD with a transparent weighted score 231-skill ontology understands synonyms: JS = JavaScript, k8s = Kubernetes Blind mode masks identity; a bias check proves the ranking is unchanged Students get gaps, a learning plan, bullet rewrites and interview prep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Explainable match score: Must/nice skills, TF-IDF context, experience, evidence: every point shown. Blind mode + bias check: Identity deleted or swapped: blind score change is exactly 0.00. JD bias lint: Flags 'IIT/NIT preferred', age limits and gendered wording. Learning path: Missing skills plus prerequisites ordered by topological sort. Bullet coach + ATS check: Weak bullets rewritten; 9 ATS rules with points and fixes. Interview prep: 115 questions on claimed skills, gaps and your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top to bottom: Browser UI (vanilla JS + SVG) -&gt; recruiter screen, coach, how it works. app.py ThreadingHTTPServer -&gt; 14 JSON endpoints, validation. blind.py -&gt; mask / strip / swap identity spans. extract.py + jd.py + ontology.py -&gt; skills, roles, requirements. tfidf.py + scoring.py -&gt; weighted, explained match score. gaps.py / ats.py / interview.py -&gt; coaching outputs. Stack: Python 3 stdlib only (http.server, re, math, heapq), Vanilla HTML/CSS/JS, inline SVG, no CDN, Fully offline, no API keys, no data leaves the laptop, unittest: 77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Algorithms: Longest-match alias dictionary with case rules – skill extraction. Sublinear TF-IDF + cosine with skill tokens – context similarity. Weighted linear score with implied/related credit – ranking. Interval union of dated roles – relevant experience. Counterfactual identity swap + Spearman rho – bias check. Kahn topological sort – prerequisite-ordered learning path. Stress that nothing is a black box: every decision can be explained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Differentiators: Fairness verified on every batch, not just claimed Skill-aware matching: synonyms, implied and related skills Proven-in-work evidence beats keyword stuffing One model serves recruiters and coaches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0.00 blind-mode score change after identity swap (standard mode: up to 1.7); 0.84 mean Spearman vs hand labels (keyword ATS 0.82); 0.99 skill-extraction F1 on 28 tricky snippets (keyword 0.76); 3.8 ms full report per resume; 100 resumes in 0.38 s. Impact: Skills, not college brand or gender, decide the shortlist Every rejected student gets a concrete learning plan Placement cells can pre-check every resume for every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now. 1. Wi-Fi off, click Load demo data: 20 resumes ranked in ~90 ms 2. Show JD bias lint: 'IIT/NIT preferred', 'age below 28' 3. Open a score breakdown; show synonym and stuffing signals 4. Blind view and bias check: 0.00 vs 1.1 pts drift 5. Candidate coach: gaps, learning path, bullet rewrites 6. How it works: run the live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Free candidate coach for students and colleges Recruiter licence per seat or per hiring drive On-premise edition for firms that cannot use SaaS Paid domain ontology packs and ATS integrations Next: Offline PDF/DOCX import Weights learned from recruiter decisions, still explainable Tamil and Hindi resume support Exportable fairness audit per hiring drive Optional embeddings, checked by the same bias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impact line, invite questions. Keep the demo tab open in case judges want to try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QUANTIX 2K26 · ResumeRadar</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e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main"/>
          <p:cNvSpPr txBox="1"/>
          <p:nvPr/>
        </p:nvSpPr>
        <p:spPr>
          <a:xfrm>
            <a:off x="548640" y="1097280"/>
            <a:ext cx="5669280" cy="365760"/>
          </a:xfrm>
          <a:prstGeom prst="rect">
            <a:avLst/>
          </a:prstGeom>
          <a:noFill/>
          <a:ln/>
        </p:spPr>
        <p:txBody>
          <a:bodyPr wrap="square" lIns="0" tIns="0" rIns="0" bIns="0" rtlCol="0" anchor="ctr"/>
          <a:lstStyle/>
          <a:p>
            <a:pPr indent="0" marL="0">
              <a:buNone/>
            </a:pPr>
            <a:r>
              <a:rPr lang="en-US" sz="1200" b="1" spc="200" kern="0" dirty="0">
                <a:solidFill>
                  <a:schemeClr val="accent6"/>
                </a:solidFill>
              </a:rPr>
              <a:t>ARTIFICIAL INTELLIGENCE &amp; MACHINE LEARNING</a:t>
            </a:r>
            <a:endParaRPr lang="en-US" sz="1200" dirty="0"/>
          </a:p>
        </p:txBody>
      </p:sp>
      <p:sp>
        <p:nvSpPr>
          <p:cNvPr id="3" name="Product name"/>
          <p:cNvSpPr txBox="1"/>
          <p:nvPr/>
        </p:nvSpPr>
        <p:spPr>
          <a:xfrm>
            <a:off x="548640" y="1554480"/>
            <a:ext cx="5852160" cy="1188720"/>
          </a:xfrm>
          <a:prstGeom prst="rect">
            <a:avLst/>
          </a:prstGeom>
          <a:noFill/>
          <a:ln/>
        </p:spPr>
        <p:txBody>
          <a:bodyPr wrap="square" lIns="0" tIns="0" rIns="0" bIns="0" rtlCol="0" anchor="ctr"/>
          <a:lstStyle/>
          <a:p>
            <a:pPr indent="0" marL="0">
              <a:buNone/>
            </a:pPr>
            <a:r>
              <a:rPr lang="en-US" sz="6000" b="1" dirty="0">
                <a:solidFill>
                  <a:schemeClr val="bg1"/>
                </a:solidFill>
                <a:latin typeface="Calibri" pitchFamily="34" charset="0"/>
                <a:ea typeface="Calibri" pitchFamily="34" charset="-122"/>
                <a:cs typeface="Calibri" pitchFamily="34" charset="-120"/>
              </a:rPr>
              <a:t>ResumeRadar</a:t>
            </a:r>
            <a:endParaRPr lang="en-US" sz="6000" dirty="0"/>
          </a:p>
        </p:txBody>
      </p:sp>
      <p:sp>
        <p:nvSpPr>
          <p:cNvPr id="4" name="Tagline"/>
          <p:cNvSpPr txBox="1"/>
          <p:nvPr/>
        </p:nvSpPr>
        <p:spPr>
          <a:xfrm>
            <a:off x="548640" y="2788920"/>
            <a:ext cx="5486400" cy="1005840"/>
          </a:xfrm>
          <a:prstGeom prst="rect">
            <a:avLst/>
          </a:prstGeom>
          <a:noFill/>
          <a:ln/>
        </p:spPr>
        <p:txBody>
          <a:bodyPr wrap="square" lIns="0" tIns="0" rIns="0" bIns="0" rtlCol="0" anchor="t"/>
          <a:lstStyle/>
          <a:p>
            <a:pPr indent="0" marL="0">
              <a:buNone/>
            </a:pPr>
            <a:r>
              <a:rPr lang="en-US" sz="2200" dirty="0">
                <a:solidFill>
                  <a:schemeClr val="bg1"/>
                </a:solidFill>
              </a:rPr>
              <a:t>Fair, explainable AI resume screening and career coaching</a:t>
            </a:r>
            <a:endParaRPr lang="en-US" sz="2200" dirty="0"/>
          </a:p>
        </p:txBody>
      </p:sp>
      <p:sp>
        <p:nvSpPr>
          <p:cNvPr id="5" name="Team"/>
          <p:cNvSpPr txBox="1"/>
          <p:nvPr/>
        </p:nvSpPr>
        <p:spPr>
          <a:xfrm>
            <a:off x="548640" y="5120640"/>
            <a:ext cx="5669280" cy="731520"/>
          </a:xfrm>
          <a:prstGeom prst="rect">
            <a:avLst/>
          </a:prstGeom>
          <a:noFill/>
          <a:ln/>
        </p:spPr>
        <p:txBody>
          <a:bodyPr wrap="square" lIns="0" tIns="0" rIns="0" bIns="0" rtlCol="0" anchor="b"/>
          <a:lstStyle/>
          <a:p>
            <a:pPr indent="0" marL="0">
              <a:buNone/>
            </a:pPr>
            <a:r>
              <a:rPr lang="en-US" sz="1400" b="1" dirty="0">
                <a:solidFill>
                  <a:schemeClr val="accent6"/>
                </a:solidFill>
              </a:rPr>
              <a:t>Your Team Name</a:t>
            </a:r>
            <a:endParaRPr lang="en-US" sz="1400" dirty="0"/>
          </a:p>
          <a:p>
            <a:pPr indent="0" marL="0">
              <a:buNone/>
            </a:pPr>
            <a:r>
              <a:rPr lang="en-US" sz="1400" dirty="0">
                <a:solidFill>
                  <a:schemeClr val="accent6"/>
                </a:solidFill>
              </a:rPr>
              <a:t>QUANTIX 2K26 · 24-hour hackathon · K.S.R. College of Engineering</a:t>
            </a:r>
            <a:endParaRPr lang="en-US" sz="1400" dirty="0"/>
          </a:p>
        </p:txBody>
      </p:sp>
      <p:sp>
        <p:nvSpPr>
          <p:cNvPr id="6" name="Hero screenshot frame"/>
          <p:cNvSpPr/>
          <p:nvPr/>
        </p:nvSpPr>
        <p:spPr>
          <a:xfrm>
            <a:off x="6620256" y="1682496"/>
            <a:ext cx="5047488" cy="3195828"/>
          </a:xfrm>
          <a:prstGeom prst="roundRect">
            <a:avLst>
              <a:gd name="adj" fmla="val 2289"/>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pic>
        <p:nvPicPr>
          <p:cNvPr id="7" name="Hero screenshot" descr="ResumeRadar screenshot">    </p:cNvPr>
          <p:cNvPicPr>
            <a:picLocks noChangeAspect="1"/>
          </p:cNvPicPr>
          <p:nvPr/>
        </p:nvPicPr>
        <p:blipFill>
          <a:blip r:embed="rId1"/>
          <a:stretch>
            <a:fillRect/>
          </a:stretch>
        </p:blipFill>
        <p:spPr>
          <a:xfrm>
            <a:off x="6675120" y="1737360"/>
            <a:ext cx="4937760" cy="3086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The problem</a:t>
            </a:r>
            <a:endParaRPr lang="en-US" sz="3600" dirty="0"/>
          </a:p>
        </p:txBody>
      </p:sp>
      <p:sp>
        <p:nvSpPr>
          <p:cNvPr id="3" name="Problem circle"/>
          <p:cNvSpPr/>
          <p:nvPr/>
        </p:nvSpPr>
        <p:spPr>
          <a:xfrm>
            <a:off x="548640" y="3246120"/>
            <a:ext cx="548640" cy="548640"/>
          </a:xfrm>
          <a:prstGeom prst="ellipse">
            <a:avLst/>
          </a:prstGeom>
          <a:solidFill>
            <a:schemeClr val="accent1"/>
          </a:solidFill>
          <a:ln/>
        </p:spPr>
      </p:sp>
      <p:pic>
        <p:nvPicPr>
          <p:cNvPr id="4" name="Problem icon" descr="preencoded.png">    </p:cNvPr>
          <p:cNvPicPr>
            <a:picLocks noChangeAspect="1"/>
          </p:cNvPicPr>
          <p:nvPr/>
        </p:nvPicPr>
        <p:blipFill>
          <a:blip r:embed="rId1"/>
          <a:stretch>
            <a:fillRect/>
          </a:stretch>
        </p:blipFill>
        <p:spPr>
          <a:xfrm>
            <a:off x="685800" y="3383280"/>
            <a:ext cx="274320" cy="274320"/>
          </a:xfrm>
          <a:prstGeom prst="rect">
            <a:avLst/>
          </a:prstGeom>
        </p:spPr>
      </p:pic>
      <p:sp>
        <p:nvSpPr>
          <p:cNvPr id="5" name="Problem bullets"/>
          <p:cNvSpPr txBox="1"/>
          <p:nvPr/>
        </p:nvSpPr>
        <p:spPr>
          <a:xfrm>
            <a:off x="1325880" y="1325880"/>
            <a:ext cx="5852160" cy="4389120"/>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Recruiters skim hundreds of resumes in seconds per profile</a:t>
            </a:r>
            <a:endParaRPr lang="en-US" sz="2000" dirty="0"/>
          </a:p>
          <a:p>
            <a:pPr marL="228600" indent="-228600">
              <a:spcAft>
                <a:spcPts val="1000"/>
              </a:spcAft>
              <a:buSzPct val="100000"/>
              <a:buChar char="•"/>
            </a:pPr>
            <a:r>
              <a:rPr lang="en-US" sz="2000" dirty="0">
                <a:solidFill>
                  <a:schemeClr val="tx1"/>
                </a:solidFill>
              </a:rPr>
              <a:t>Keyword ATS tools reject good candidates for their wording</a:t>
            </a:r>
            <a:endParaRPr lang="en-US" sz="2000" dirty="0"/>
          </a:p>
          <a:p>
            <a:pPr marL="228600" indent="-228600">
              <a:spcAft>
                <a:spcPts val="1000"/>
              </a:spcAft>
              <a:buSzPct val="100000"/>
              <a:buChar char="•"/>
            </a:pPr>
            <a:r>
              <a:rPr lang="en-US" sz="2000" dirty="0">
                <a:solidFill>
                  <a:schemeClr val="tx1"/>
                </a:solidFill>
              </a:rPr>
              <a:t>Name, gender and college bias creep into screening</a:t>
            </a:r>
            <a:endParaRPr lang="en-US" sz="2000" dirty="0"/>
          </a:p>
          <a:p>
            <a:pPr marL="228600" indent="-228600">
              <a:spcAft>
                <a:spcPts val="1000"/>
              </a:spcAft>
              <a:buSzPct val="100000"/>
              <a:buChar char="•"/>
            </a:pPr>
            <a:r>
              <a:rPr lang="en-US" sz="2000" dirty="0">
                <a:solidFill>
                  <a:schemeClr val="tx1"/>
                </a:solidFill>
              </a:rPr>
              <a:t>Rejected students never learn why or what to fix</a:t>
            </a:r>
            <a:endParaRPr lang="en-US" sz="2000" dirty="0"/>
          </a:p>
        </p:txBody>
      </p:sp>
      <p:sp>
        <p:nvSpPr>
          <p:cNvPr id="6" name="Stat 1 card"/>
          <p:cNvSpPr/>
          <p:nvPr/>
        </p:nvSpPr>
        <p:spPr>
          <a:xfrm>
            <a:off x="7589520" y="1120140"/>
            <a:ext cx="4023360" cy="1417320"/>
          </a:xfrm>
          <a:prstGeom prst="roundRect">
            <a:avLst>
              <a:gd name="adj" fmla="val 7742"/>
            </a:avLst>
          </a:prstGeom>
          <a:solidFill>
            <a:schemeClr val="accent2"/>
          </a:solidFill>
          <a:ln/>
        </p:spPr>
      </p:sp>
      <p:sp>
        <p:nvSpPr>
          <p:cNvPr id="7" name="Stat 1 value"/>
          <p:cNvSpPr txBox="1"/>
          <p:nvPr/>
        </p:nvSpPr>
        <p:spPr>
          <a:xfrm>
            <a:off x="7818120" y="1229868"/>
            <a:ext cx="3566160" cy="731520"/>
          </a:xfrm>
          <a:prstGeom prst="rect">
            <a:avLst/>
          </a:prstGeom>
          <a:noFill/>
          <a:ln/>
        </p:spPr>
        <p:txBody>
          <a:bodyPr wrap="square" lIns="0" tIns="0" rIns="0" bIns="0" rtlCol="0" anchor="ctr"/>
          <a:lstStyle/>
          <a:p>
            <a:pPr indent="0" marL="0">
              <a:buNone/>
            </a:pPr>
            <a:r>
              <a:rPr lang="en-US" sz="4000" b="1" dirty="0">
                <a:solidFill>
                  <a:schemeClr val="accent3"/>
                </a:solidFill>
              </a:rPr>
              <a:t>~7 s</a:t>
            </a:r>
            <a:endParaRPr lang="en-US" sz="4000" dirty="0"/>
          </a:p>
        </p:txBody>
      </p:sp>
      <p:sp>
        <p:nvSpPr>
          <p:cNvPr id="8" name="Stat 1 label"/>
          <p:cNvSpPr txBox="1"/>
          <p:nvPr/>
        </p:nvSpPr>
        <p:spPr>
          <a:xfrm>
            <a:off x="7818120" y="1961388"/>
            <a:ext cx="3566160" cy="502920"/>
          </a:xfrm>
          <a:prstGeom prst="rect">
            <a:avLst/>
          </a:prstGeom>
          <a:noFill/>
          <a:ln/>
        </p:spPr>
        <p:txBody>
          <a:bodyPr wrap="square" lIns="0" tIns="0" rIns="0" bIns="0" rtlCol="0" anchor="t"/>
          <a:lstStyle/>
          <a:p>
            <a:pPr indent="0" marL="0">
              <a:buNone/>
            </a:pPr>
            <a:r>
              <a:rPr lang="en-US" sz="1300" dirty="0">
                <a:solidFill>
                  <a:schemeClr val="tx1"/>
                </a:solidFill>
              </a:rPr>
              <a:t>first human scan of a resume (Ladders eye-tracking study 2018, approx.)</a:t>
            </a:r>
            <a:endParaRPr lang="en-US" sz="1300" dirty="0"/>
          </a:p>
        </p:txBody>
      </p:sp>
      <p:sp>
        <p:nvSpPr>
          <p:cNvPr id="9" name="Stat 2 card"/>
          <p:cNvSpPr/>
          <p:nvPr/>
        </p:nvSpPr>
        <p:spPr>
          <a:xfrm>
            <a:off x="7589520" y="2811780"/>
            <a:ext cx="4023360" cy="1417320"/>
          </a:xfrm>
          <a:prstGeom prst="roundRect">
            <a:avLst>
              <a:gd name="adj" fmla="val 7742"/>
            </a:avLst>
          </a:prstGeom>
          <a:solidFill>
            <a:schemeClr val="accent2"/>
          </a:solidFill>
          <a:ln/>
        </p:spPr>
      </p:sp>
      <p:sp>
        <p:nvSpPr>
          <p:cNvPr id="10" name="Stat 2 value"/>
          <p:cNvSpPr txBox="1"/>
          <p:nvPr/>
        </p:nvSpPr>
        <p:spPr>
          <a:xfrm>
            <a:off x="7818120" y="2921508"/>
            <a:ext cx="3566160" cy="731520"/>
          </a:xfrm>
          <a:prstGeom prst="rect">
            <a:avLst/>
          </a:prstGeom>
          <a:noFill/>
          <a:ln/>
        </p:spPr>
        <p:txBody>
          <a:bodyPr wrap="square" lIns="0" tIns="0" rIns="0" bIns="0" rtlCol="0" anchor="ctr"/>
          <a:lstStyle/>
          <a:p>
            <a:pPr indent="0" marL="0">
              <a:buNone/>
            </a:pPr>
            <a:r>
              <a:rPr lang="en-US" sz="4000" b="1" dirty="0">
                <a:solidFill>
                  <a:schemeClr val="accent3"/>
                </a:solidFill>
              </a:rPr>
              <a:t>~50%</a:t>
            </a:r>
            <a:endParaRPr lang="en-US" sz="4000" dirty="0"/>
          </a:p>
        </p:txBody>
      </p:sp>
      <p:sp>
        <p:nvSpPr>
          <p:cNvPr id="11" name="Stat 2 label"/>
          <p:cNvSpPr txBox="1"/>
          <p:nvPr/>
        </p:nvSpPr>
        <p:spPr>
          <a:xfrm>
            <a:off x="7818120" y="3653028"/>
            <a:ext cx="3566160" cy="502920"/>
          </a:xfrm>
          <a:prstGeom prst="rect">
            <a:avLst/>
          </a:prstGeom>
          <a:noFill/>
          <a:ln/>
        </p:spPr>
        <p:txBody>
          <a:bodyPr wrap="square" lIns="0" tIns="0" rIns="0" bIns="0" rtlCol="0" anchor="t"/>
          <a:lstStyle/>
          <a:p>
            <a:pPr indent="0" marL="0">
              <a:buNone/>
            </a:pPr>
            <a:r>
              <a:rPr lang="en-US" sz="1300" dirty="0">
                <a:solidFill>
                  <a:schemeClr val="tx1"/>
                </a:solidFill>
              </a:rPr>
              <a:t>more callbacks for identical resumes, name changed (Bertrand &amp; Mullainathan 2004, approx.)</a:t>
            </a:r>
            <a:endParaRPr lang="en-US" sz="1300" dirty="0"/>
          </a:p>
        </p:txBody>
      </p:sp>
      <p:sp>
        <p:nvSpPr>
          <p:cNvPr id="12" name="Stat 3 card"/>
          <p:cNvSpPr/>
          <p:nvPr/>
        </p:nvSpPr>
        <p:spPr>
          <a:xfrm>
            <a:off x="7589520" y="4503420"/>
            <a:ext cx="4023360" cy="1417320"/>
          </a:xfrm>
          <a:prstGeom prst="roundRect">
            <a:avLst>
              <a:gd name="adj" fmla="val 7742"/>
            </a:avLst>
          </a:prstGeom>
          <a:solidFill>
            <a:schemeClr val="accent2"/>
          </a:solidFill>
          <a:ln/>
        </p:spPr>
      </p:sp>
      <p:sp>
        <p:nvSpPr>
          <p:cNvPr id="13" name="Stat 3 value"/>
          <p:cNvSpPr txBox="1"/>
          <p:nvPr/>
        </p:nvSpPr>
        <p:spPr>
          <a:xfrm>
            <a:off x="7818120" y="4613148"/>
            <a:ext cx="3566160" cy="731520"/>
          </a:xfrm>
          <a:prstGeom prst="rect">
            <a:avLst/>
          </a:prstGeom>
          <a:noFill/>
          <a:ln/>
        </p:spPr>
        <p:txBody>
          <a:bodyPr wrap="square" lIns="0" tIns="0" rIns="0" bIns="0" rtlCol="0" anchor="ctr"/>
          <a:lstStyle/>
          <a:p>
            <a:pPr indent="0" marL="0">
              <a:buNone/>
            </a:pPr>
            <a:r>
              <a:rPr lang="en-US" sz="4000" b="1" dirty="0">
                <a:solidFill>
                  <a:schemeClr val="accent3"/>
                </a:solidFill>
              </a:rPr>
              <a:t>#11 → #2</a:t>
            </a:r>
            <a:endParaRPr lang="en-US" sz="4000" dirty="0"/>
          </a:p>
        </p:txBody>
      </p:sp>
      <p:sp>
        <p:nvSpPr>
          <p:cNvPr id="14" name="Stat 3 label"/>
          <p:cNvSpPr txBox="1"/>
          <p:nvPr/>
        </p:nvSpPr>
        <p:spPr>
          <a:xfrm>
            <a:off x="7818120" y="5344668"/>
            <a:ext cx="3566160" cy="502920"/>
          </a:xfrm>
          <a:prstGeom prst="rect">
            <a:avLst/>
          </a:prstGeom>
          <a:noFill/>
          <a:ln/>
        </p:spPr>
        <p:txBody>
          <a:bodyPr wrap="square" lIns="0" tIns="0" rIns="0" bIns="0" rtlCol="0" anchor="t"/>
          <a:lstStyle/>
          <a:p>
            <a:pPr indent="0" marL="0">
              <a:buNone/>
            </a:pPr>
            <a:r>
              <a:rPr lang="en-US" sz="1300" dirty="0">
                <a:solidFill>
                  <a:schemeClr val="tx1"/>
                </a:solidFill>
              </a:rPr>
              <a:t>strong 'ReactJS, JS, TS' resume: keyword ATS vs ResumeRadar (our demo)</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Our solution: ResumeRadar</a:t>
            </a:r>
            <a:endParaRPr lang="en-US" sz="3600" dirty="0"/>
          </a:p>
        </p:txBody>
      </p:sp>
      <p:sp>
        <p:nvSpPr>
          <p:cNvPr id="3" name="Solution circle"/>
          <p:cNvSpPr/>
          <p:nvPr/>
        </p:nvSpPr>
        <p:spPr>
          <a:xfrm>
            <a:off x="548640" y="3246120"/>
            <a:ext cx="548640" cy="548640"/>
          </a:xfrm>
          <a:prstGeom prst="ellipse">
            <a:avLst/>
          </a:prstGeom>
          <a:solidFill>
            <a:schemeClr val="accent1"/>
          </a:solidFill>
          <a:ln/>
        </p:spPr>
      </p:sp>
      <p:pic>
        <p:nvPicPr>
          <p:cNvPr id="4" name="Solution icon" descr="preencoded.png">    </p:cNvPr>
          <p:cNvPicPr>
            <a:picLocks noChangeAspect="1"/>
          </p:cNvPicPr>
          <p:nvPr/>
        </p:nvPicPr>
        <p:blipFill>
          <a:blip r:embed="rId1"/>
          <a:stretch>
            <a:fillRect/>
          </a:stretch>
        </p:blipFill>
        <p:spPr>
          <a:xfrm>
            <a:off x="685800" y="3383280"/>
            <a:ext cx="274320" cy="274320"/>
          </a:xfrm>
          <a:prstGeom prst="rect">
            <a:avLst/>
          </a:prstGeom>
        </p:spPr>
      </p:pic>
      <p:sp>
        <p:nvSpPr>
          <p:cNvPr id="5" name="Solution bullets"/>
          <p:cNvSpPr txBox="1"/>
          <p:nvPr/>
        </p:nvSpPr>
        <p:spPr>
          <a:xfrm>
            <a:off x="1325880" y="1325880"/>
            <a:ext cx="4754880" cy="4389120"/>
          </a:xfrm>
          <a:prstGeom prst="rect">
            <a:avLst/>
          </a:prstGeom>
          <a:noFill/>
          <a:ln/>
        </p:spPr>
        <p:txBody>
          <a:bodyPr wrap="square" lIns="0" tIns="0" rIns="0" bIns="0" rtlCol="0" anchor="ctr"/>
          <a:lstStyle/>
          <a:p>
            <a:pPr marL="228600" indent="-228600">
              <a:spcAft>
                <a:spcPts val="1000"/>
              </a:spcAft>
              <a:buSzPct val="100000"/>
              <a:buChar char="•"/>
            </a:pPr>
            <a:r>
              <a:rPr lang="en-US" sz="2000" dirty="0">
                <a:solidFill>
                  <a:schemeClr val="tx1"/>
                </a:solidFill>
              </a:rPr>
              <a:t>Rank resumes against a JD with a transparent weighted score</a:t>
            </a:r>
            <a:endParaRPr lang="en-US" sz="2000" dirty="0"/>
          </a:p>
          <a:p>
            <a:pPr marL="228600" indent="-228600">
              <a:spcAft>
                <a:spcPts val="1000"/>
              </a:spcAft>
              <a:buSzPct val="100000"/>
              <a:buChar char="•"/>
            </a:pPr>
            <a:r>
              <a:rPr lang="en-US" sz="2000" dirty="0">
                <a:solidFill>
                  <a:schemeClr val="tx1"/>
                </a:solidFill>
              </a:rPr>
              <a:t>231-skill ontology understands synonyms: JS = JavaScript, k8s = Kubernetes</a:t>
            </a:r>
            <a:endParaRPr lang="en-US" sz="2000" dirty="0"/>
          </a:p>
          <a:p>
            <a:pPr marL="228600" indent="-228600">
              <a:spcAft>
                <a:spcPts val="1000"/>
              </a:spcAft>
              <a:buSzPct val="100000"/>
              <a:buChar char="•"/>
            </a:pPr>
            <a:r>
              <a:rPr lang="en-US" sz="2000" dirty="0">
                <a:solidFill>
                  <a:schemeClr val="tx1"/>
                </a:solidFill>
              </a:rPr>
              <a:t>Blind mode masks identity; a bias check proves the ranking is unchanged</a:t>
            </a:r>
            <a:endParaRPr lang="en-US" sz="2000" dirty="0"/>
          </a:p>
          <a:p>
            <a:pPr marL="228600" indent="-228600">
              <a:spcAft>
                <a:spcPts val="1000"/>
              </a:spcAft>
              <a:buSzPct val="100000"/>
              <a:buChar char="•"/>
            </a:pPr>
            <a:r>
              <a:rPr lang="en-US" sz="2000" dirty="0">
                <a:solidFill>
                  <a:schemeClr val="tx1"/>
                </a:solidFill>
              </a:rPr>
              <a:t>Students get gaps, a learning plan, bullet rewrites and interview prep</a:t>
            </a:r>
            <a:endParaRPr lang="en-US" sz="2000" dirty="0"/>
          </a:p>
        </p:txBody>
      </p:sp>
      <p:sp>
        <p:nvSpPr>
          <p:cNvPr id="6" name="Solution screenshot frame"/>
          <p:cNvSpPr/>
          <p:nvPr/>
        </p:nvSpPr>
        <p:spPr>
          <a:xfrm>
            <a:off x="6391656" y="1545336"/>
            <a:ext cx="5276088" cy="3338703"/>
          </a:xfrm>
          <a:prstGeom prst="roundRect">
            <a:avLst>
              <a:gd name="adj" fmla="val 2191"/>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pic>
        <p:nvPicPr>
          <p:cNvPr id="7" name="Solution screenshot" descr="ResumeRadar screenshot">    </p:cNvPr>
          <p:cNvPicPr>
            <a:picLocks noChangeAspect="1"/>
          </p:cNvPicPr>
          <p:nvPr/>
        </p:nvPicPr>
        <p:blipFill>
          <a:blip r:embed="rId2"/>
          <a:stretch>
            <a:fillRect/>
          </a:stretch>
        </p:blipFill>
        <p:spPr>
          <a:xfrm>
            <a:off x="6446520" y="1600200"/>
            <a:ext cx="5166360" cy="322897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Key features</a:t>
            </a:r>
            <a:endParaRPr lang="en-US" sz="3600" dirty="0"/>
          </a:p>
        </p:txBody>
      </p:sp>
      <p:sp>
        <p:nvSpPr>
          <p:cNvPr id="3" name="Feature 1 card"/>
          <p:cNvSpPr/>
          <p:nvPr/>
        </p:nvSpPr>
        <p:spPr>
          <a:xfrm>
            <a:off x="548640" y="1371600"/>
            <a:ext cx="3515258" cy="2194560"/>
          </a:xfrm>
          <a:prstGeom prst="roundRect">
            <a:avLst>
              <a:gd name="adj" fmla="val 5000"/>
            </a:avLst>
          </a:prstGeom>
          <a:solidFill>
            <a:schemeClr val="bg2"/>
          </a:solidFill>
          <a:ln/>
        </p:spPr>
      </p:sp>
      <p:sp>
        <p:nvSpPr>
          <p:cNvPr id="4" name="Feature 1 circle"/>
          <p:cNvSpPr/>
          <p:nvPr/>
        </p:nvSpPr>
        <p:spPr>
          <a:xfrm>
            <a:off x="822960" y="1645920"/>
            <a:ext cx="548640" cy="548640"/>
          </a:xfrm>
          <a:prstGeom prst="ellipse">
            <a:avLst/>
          </a:prstGeom>
          <a:solidFill>
            <a:schemeClr val="accent1"/>
          </a:solidFill>
          <a:ln/>
        </p:spPr>
      </p:sp>
      <p:pic>
        <p:nvPicPr>
          <p:cNvPr id="5" name="Feature 1 icon" descr="preencoded.png">    </p:cNvPr>
          <p:cNvPicPr>
            <a:picLocks noChangeAspect="1"/>
          </p:cNvPicPr>
          <p:nvPr/>
        </p:nvPicPr>
        <p:blipFill>
          <a:blip r:embed="rId1"/>
          <a:stretch>
            <a:fillRect/>
          </a:stretch>
        </p:blipFill>
        <p:spPr>
          <a:xfrm>
            <a:off x="960120" y="1783080"/>
            <a:ext cx="274320" cy="274320"/>
          </a:xfrm>
          <a:prstGeom prst="rect">
            <a:avLst/>
          </a:prstGeom>
        </p:spPr>
      </p:pic>
      <p:sp>
        <p:nvSpPr>
          <p:cNvPr id="6" name="Feature 1 title"/>
          <p:cNvSpPr txBox="1"/>
          <p:nvPr/>
        </p:nvSpPr>
        <p:spPr>
          <a:xfrm>
            <a:off x="1554480" y="164592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Explainable match score</a:t>
            </a:r>
            <a:endParaRPr lang="en-US" sz="1800" dirty="0"/>
          </a:p>
        </p:txBody>
      </p:sp>
      <p:sp>
        <p:nvSpPr>
          <p:cNvPr id="7" name="Feature 1 text"/>
          <p:cNvSpPr txBox="1"/>
          <p:nvPr/>
        </p:nvSpPr>
        <p:spPr>
          <a:xfrm>
            <a:off x="822960" y="233172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Must/nice skills, TF-IDF context, experience, evidence: every point shown</a:t>
            </a:r>
            <a:endParaRPr lang="en-US" sz="1400" dirty="0"/>
          </a:p>
        </p:txBody>
      </p:sp>
      <p:sp>
        <p:nvSpPr>
          <p:cNvPr id="8" name="Feature 2 card"/>
          <p:cNvSpPr/>
          <p:nvPr/>
        </p:nvSpPr>
        <p:spPr>
          <a:xfrm>
            <a:off x="4338218" y="1371600"/>
            <a:ext cx="3515258" cy="2194560"/>
          </a:xfrm>
          <a:prstGeom prst="roundRect">
            <a:avLst>
              <a:gd name="adj" fmla="val 5000"/>
            </a:avLst>
          </a:prstGeom>
          <a:solidFill>
            <a:schemeClr val="bg2"/>
          </a:solidFill>
          <a:ln/>
        </p:spPr>
      </p:sp>
      <p:sp>
        <p:nvSpPr>
          <p:cNvPr id="9" name="Feature 2 circle"/>
          <p:cNvSpPr/>
          <p:nvPr/>
        </p:nvSpPr>
        <p:spPr>
          <a:xfrm>
            <a:off x="4612538" y="1645920"/>
            <a:ext cx="548640" cy="548640"/>
          </a:xfrm>
          <a:prstGeom prst="ellipse">
            <a:avLst/>
          </a:prstGeom>
          <a:solidFill>
            <a:schemeClr val="accent1"/>
          </a:solidFill>
          <a:ln/>
        </p:spPr>
      </p:sp>
      <p:pic>
        <p:nvPicPr>
          <p:cNvPr id="10" name="Feature 2 icon" descr="preencoded.png">    </p:cNvPr>
          <p:cNvPicPr>
            <a:picLocks noChangeAspect="1"/>
          </p:cNvPicPr>
          <p:nvPr/>
        </p:nvPicPr>
        <p:blipFill>
          <a:blip r:embed="rId2"/>
          <a:stretch>
            <a:fillRect/>
          </a:stretch>
        </p:blipFill>
        <p:spPr>
          <a:xfrm>
            <a:off x="4749698" y="1783080"/>
            <a:ext cx="274320" cy="274320"/>
          </a:xfrm>
          <a:prstGeom prst="rect">
            <a:avLst/>
          </a:prstGeom>
        </p:spPr>
      </p:pic>
      <p:sp>
        <p:nvSpPr>
          <p:cNvPr id="11" name="Feature 2 title"/>
          <p:cNvSpPr txBox="1"/>
          <p:nvPr/>
        </p:nvSpPr>
        <p:spPr>
          <a:xfrm>
            <a:off x="5344058" y="164592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Blind mode + bias check</a:t>
            </a:r>
            <a:endParaRPr lang="en-US" sz="1800" dirty="0"/>
          </a:p>
        </p:txBody>
      </p:sp>
      <p:sp>
        <p:nvSpPr>
          <p:cNvPr id="12" name="Feature 2 text"/>
          <p:cNvSpPr txBox="1"/>
          <p:nvPr/>
        </p:nvSpPr>
        <p:spPr>
          <a:xfrm>
            <a:off x="4612538" y="233172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Identity deleted or swapped: blind score change is exactly 0.00</a:t>
            </a:r>
            <a:endParaRPr lang="en-US" sz="1400" dirty="0"/>
          </a:p>
        </p:txBody>
      </p:sp>
      <p:sp>
        <p:nvSpPr>
          <p:cNvPr id="13" name="Feature 3 card"/>
          <p:cNvSpPr/>
          <p:nvPr/>
        </p:nvSpPr>
        <p:spPr>
          <a:xfrm>
            <a:off x="8127797" y="1371600"/>
            <a:ext cx="3515258" cy="2194560"/>
          </a:xfrm>
          <a:prstGeom prst="roundRect">
            <a:avLst>
              <a:gd name="adj" fmla="val 5000"/>
            </a:avLst>
          </a:prstGeom>
          <a:solidFill>
            <a:schemeClr val="bg2"/>
          </a:solidFill>
          <a:ln/>
        </p:spPr>
      </p:sp>
      <p:sp>
        <p:nvSpPr>
          <p:cNvPr id="14" name="Feature 3 circle"/>
          <p:cNvSpPr/>
          <p:nvPr/>
        </p:nvSpPr>
        <p:spPr>
          <a:xfrm>
            <a:off x="8402117" y="1645920"/>
            <a:ext cx="548640" cy="548640"/>
          </a:xfrm>
          <a:prstGeom prst="ellipse">
            <a:avLst/>
          </a:prstGeom>
          <a:solidFill>
            <a:schemeClr val="accent1"/>
          </a:solidFill>
          <a:ln/>
        </p:spPr>
      </p:sp>
      <p:pic>
        <p:nvPicPr>
          <p:cNvPr id="15" name="Feature 3 icon" descr="preencoded.png">    </p:cNvPr>
          <p:cNvPicPr>
            <a:picLocks noChangeAspect="1"/>
          </p:cNvPicPr>
          <p:nvPr/>
        </p:nvPicPr>
        <p:blipFill>
          <a:blip r:embed="rId3"/>
          <a:stretch>
            <a:fillRect/>
          </a:stretch>
        </p:blipFill>
        <p:spPr>
          <a:xfrm>
            <a:off x="8539277" y="1783080"/>
            <a:ext cx="274320" cy="274320"/>
          </a:xfrm>
          <a:prstGeom prst="rect">
            <a:avLst/>
          </a:prstGeom>
        </p:spPr>
      </p:pic>
      <p:sp>
        <p:nvSpPr>
          <p:cNvPr id="16" name="Feature 3 title"/>
          <p:cNvSpPr txBox="1"/>
          <p:nvPr/>
        </p:nvSpPr>
        <p:spPr>
          <a:xfrm>
            <a:off x="9133637" y="164592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JD bias lint</a:t>
            </a:r>
            <a:endParaRPr lang="en-US" sz="1800" dirty="0"/>
          </a:p>
        </p:txBody>
      </p:sp>
      <p:sp>
        <p:nvSpPr>
          <p:cNvPr id="17" name="Feature 3 text"/>
          <p:cNvSpPr txBox="1"/>
          <p:nvPr/>
        </p:nvSpPr>
        <p:spPr>
          <a:xfrm>
            <a:off x="8402117" y="233172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Flags 'IIT/NIT preferred', age limits and gendered wording</a:t>
            </a:r>
            <a:endParaRPr lang="en-US" sz="1400" dirty="0"/>
          </a:p>
        </p:txBody>
      </p:sp>
      <p:sp>
        <p:nvSpPr>
          <p:cNvPr id="18" name="Feature 4 card"/>
          <p:cNvSpPr/>
          <p:nvPr/>
        </p:nvSpPr>
        <p:spPr>
          <a:xfrm>
            <a:off x="548640" y="3840480"/>
            <a:ext cx="3515258" cy="2194560"/>
          </a:xfrm>
          <a:prstGeom prst="roundRect">
            <a:avLst>
              <a:gd name="adj" fmla="val 5000"/>
            </a:avLst>
          </a:prstGeom>
          <a:solidFill>
            <a:schemeClr val="bg2"/>
          </a:solidFill>
          <a:ln/>
        </p:spPr>
      </p:sp>
      <p:sp>
        <p:nvSpPr>
          <p:cNvPr id="19" name="Feature 4 circle"/>
          <p:cNvSpPr/>
          <p:nvPr/>
        </p:nvSpPr>
        <p:spPr>
          <a:xfrm>
            <a:off x="822960" y="4114800"/>
            <a:ext cx="548640" cy="548640"/>
          </a:xfrm>
          <a:prstGeom prst="ellipse">
            <a:avLst/>
          </a:prstGeom>
          <a:solidFill>
            <a:schemeClr val="accent1"/>
          </a:solidFill>
          <a:ln/>
        </p:spPr>
      </p:sp>
      <p:pic>
        <p:nvPicPr>
          <p:cNvPr id="20" name="Feature 4 icon" descr="preencoded.png">    </p:cNvPr>
          <p:cNvPicPr>
            <a:picLocks noChangeAspect="1"/>
          </p:cNvPicPr>
          <p:nvPr/>
        </p:nvPicPr>
        <p:blipFill>
          <a:blip r:embed="rId4"/>
          <a:stretch>
            <a:fillRect/>
          </a:stretch>
        </p:blipFill>
        <p:spPr>
          <a:xfrm>
            <a:off x="960120" y="4251960"/>
            <a:ext cx="274320" cy="274320"/>
          </a:xfrm>
          <a:prstGeom prst="rect">
            <a:avLst/>
          </a:prstGeom>
        </p:spPr>
      </p:pic>
      <p:sp>
        <p:nvSpPr>
          <p:cNvPr id="21" name="Feature 4 title"/>
          <p:cNvSpPr txBox="1"/>
          <p:nvPr/>
        </p:nvSpPr>
        <p:spPr>
          <a:xfrm>
            <a:off x="1554480" y="411480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Learning path</a:t>
            </a:r>
            <a:endParaRPr lang="en-US" sz="1800" dirty="0"/>
          </a:p>
        </p:txBody>
      </p:sp>
      <p:sp>
        <p:nvSpPr>
          <p:cNvPr id="22" name="Feature 4 text"/>
          <p:cNvSpPr txBox="1"/>
          <p:nvPr/>
        </p:nvSpPr>
        <p:spPr>
          <a:xfrm>
            <a:off x="822960" y="480060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Missing skills plus prerequisites ordered by topological sort</a:t>
            </a:r>
            <a:endParaRPr lang="en-US" sz="1400" dirty="0"/>
          </a:p>
        </p:txBody>
      </p:sp>
      <p:sp>
        <p:nvSpPr>
          <p:cNvPr id="23" name="Feature 5 card"/>
          <p:cNvSpPr/>
          <p:nvPr/>
        </p:nvSpPr>
        <p:spPr>
          <a:xfrm>
            <a:off x="4338218" y="3840480"/>
            <a:ext cx="3515258" cy="2194560"/>
          </a:xfrm>
          <a:prstGeom prst="roundRect">
            <a:avLst>
              <a:gd name="adj" fmla="val 5000"/>
            </a:avLst>
          </a:prstGeom>
          <a:solidFill>
            <a:schemeClr val="bg2"/>
          </a:solidFill>
          <a:ln/>
        </p:spPr>
      </p:sp>
      <p:sp>
        <p:nvSpPr>
          <p:cNvPr id="24" name="Feature 5 circle"/>
          <p:cNvSpPr/>
          <p:nvPr/>
        </p:nvSpPr>
        <p:spPr>
          <a:xfrm>
            <a:off x="4612538" y="4114800"/>
            <a:ext cx="548640" cy="548640"/>
          </a:xfrm>
          <a:prstGeom prst="ellipse">
            <a:avLst/>
          </a:prstGeom>
          <a:solidFill>
            <a:schemeClr val="accent1"/>
          </a:solidFill>
          <a:ln/>
        </p:spPr>
      </p:sp>
      <p:pic>
        <p:nvPicPr>
          <p:cNvPr id="25" name="Feature 5 icon" descr="preencoded.png">    </p:cNvPr>
          <p:cNvPicPr>
            <a:picLocks noChangeAspect="1"/>
          </p:cNvPicPr>
          <p:nvPr/>
        </p:nvPicPr>
        <p:blipFill>
          <a:blip r:embed="rId5"/>
          <a:stretch>
            <a:fillRect/>
          </a:stretch>
        </p:blipFill>
        <p:spPr>
          <a:xfrm>
            <a:off x="4749698" y="4251960"/>
            <a:ext cx="274320" cy="274320"/>
          </a:xfrm>
          <a:prstGeom prst="rect">
            <a:avLst/>
          </a:prstGeom>
        </p:spPr>
      </p:pic>
      <p:sp>
        <p:nvSpPr>
          <p:cNvPr id="26" name="Feature 5 title"/>
          <p:cNvSpPr txBox="1"/>
          <p:nvPr/>
        </p:nvSpPr>
        <p:spPr>
          <a:xfrm>
            <a:off x="5344058" y="411480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Bullet coach + ATS check</a:t>
            </a:r>
            <a:endParaRPr lang="en-US" sz="1800" dirty="0"/>
          </a:p>
        </p:txBody>
      </p:sp>
      <p:sp>
        <p:nvSpPr>
          <p:cNvPr id="27" name="Feature 5 text"/>
          <p:cNvSpPr txBox="1"/>
          <p:nvPr/>
        </p:nvSpPr>
        <p:spPr>
          <a:xfrm>
            <a:off x="4612538" y="480060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Weak bullets rewritten; 9 ATS rules with points and fixes</a:t>
            </a:r>
            <a:endParaRPr lang="en-US" sz="1400" dirty="0"/>
          </a:p>
        </p:txBody>
      </p:sp>
      <p:sp>
        <p:nvSpPr>
          <p:cNvPr id="28" name="Feature 6 card"/>
          <p:cNvSpPr/>
          <p:nvPr/>
        </p:nvSpPr>
        <p:spPr>
          <a:xfrm>
            <a:off x="8127797" y="3840480"/>
            <a:ext cx="3515258" cy="2194560"/>
          </a:xfrm>
          <a:prstGeom prst="roundRect">
            <a:avLst>
              <a:gd name="adj" fmla="val 5000"/>
            </a:avLst>
          </a:prstGeom>
          <a:solidFill>
            <a:schemeClr val="bg2"/>
          </a:solidFill>
          <a:ln/>
        </p:spPr>
      </p:sp>
      <p:sp>
        <p:nvSpPr>
          <p:cNvPr id="29" name="Feature 6 circle"/>
          <p:cNvSpPr/>
          <p:nvPr/>
        </p:nvSpPr>
        <p:spPr>
          <a:xfrm>
            <a:off x="8402117" y="4114800"/>
            <a:ext cx="548640" cy="548640"/>
          </a:xfrm>
          <a:prstGeom prst="ellipse">
            <a:avLst/>
          </a:prstGeom>
          <a:solidFill>
            <a:schemeClr val="accent1"/>
          </a:solidFill>
          <a:ln/>
        </p:spPr>
      </p:sp>
      <p:pic>
        <p:nvPicPr>
          <p:cNvPr id="30" name="Feature 6 icon" descr="preencoded.png">    </p:cNvPr>
          <p:cNvPicPr>
            <a:picLocks noChangeAspect="1"/>
          </p:cNvPicPr>
          <p:nvPr/>
        </p:nvPicPr>
        <p:blipFill>
          <a:blip r:embed="rId6"/>
          <a:stretch>
            <a:fillRect/>
          </a:stretch>
        </p:blipFill>
        <p:spPr>
          <a:xfrm>
            <a:off x="8539277" y="4251960"/>
            <a:ext cx="274320" cy="274320"/>
          </a:xfrm>
          <a:prstGeom prst="rect">
            <a:avLst/>
          </a:prstGeom>
        </p:spPr>
      </p:pic>
      <p:sp>
        <p:nvSpPr>
          <p:cNvPr id="31" name="Feature 6 title"/>
          <p:cNvSpPr txBox="1"/>
          <p:nvPr/>
        </p:nvSpPr>
        <p:spPr>
          <a:xfrm>
            <a:off x="9133637" y="4114800"/>
            <a:ext cx="2280818" cy="548640"/>
          </a:xfrm>
          <a:prstGeom prst="rect">
            <a:avLst/>
          </a:prstGeom>
          <a:noFill/>
          <a:ln/>
        </p:spPr>
        <p:txBody>
          <a:bodyPr wrap="square" lIns="0" tIns="0" rIns="0" bIns="0" rtlCol="0" anchor="ctr"/>
          <a:lstStyle/>
          <a:p>
            <a:pPr indent="0" marL="0">
              <a:buNone/>
            </a:pPr>
            <a:r>
              <a:rPr lang="en-US" sz="1800" b="1" dirty="0">
                <a:solidFill>
                  <a:schemeClr val="tx1"/>
                </a:solidFill>
              </a:rPr>
              <a:t>Interview prep</a:t>
            </a:r>
            <a:endParaRPr lang="en-US" sz="1800" dirty="0"/>
          </a:p>
        </p:txBody>
      </p:sp>
      <p:sp>
        <p:nvSpPr>
          <p:cNvPr id="32" name="Feature 6 text"/>
          <p:cNvSpPr txBox="1"/>
          <p:nvPr/>
        </p:nvSpPr>
        <p:spPr>
          <a:xfrm>
            <a:off x="8402117" y="4800600"/>
            <a:ext cx="2966618" cy="1051560"/>
          </a:xfrm>
          <a:prstGeom prst="rect">
            <a:avLst/>
          </a:prstGeom>
          <a:noFill/>
          <a:ln/>
        </p:spPr>
        <p:txBody>
          <a:bodyPr wrap="square" lIns="0" tIns="0" rIns="0" bIns="0" rtlCol="0" anchor="t"/>
          <a:lstStyle/>
          <a:p>
            <a:pPr indent="0" marL="0">
              <a:buNone/>
            </a:pPr>
            <a:r>
              <a:rPr lang="en-US" sz="1400" dirty="0">
                <a:solidFill>
                  <a:schemeClr val="accent4"/>
                </a:solidFill>
              </a:rPr>
              <a:t>115 questions on claimed skills, gaps and your projects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System architecture</a:t>
            </a:r>
            <a:endParaRPr lang="en-US" sz="3600" dirty="0"/>
          </a:p>
        </p:txBody>
      </p:sp>
      <p:sp>
        <p:nvSpPr>
          <p:cNvPr id="3" name="Layer 1"/>
          <p:cNvSpPr/>
          <p:nvPr/>
        </p:nvSpPr>
        <p:spPr>
          <a:xfrm>
            <a:off x="548640" y="1325880"/>
            <a:ext cx="7498080" cy="632460"/>
          </a:xfrm>
          <a:prstGeom prst="roundRect">
            <a:avLst>
              <a:gd name="adj" fmla="val 14458"/>
            </a:avLst>
          </a:prstGeom>
          <a:solidFill>
            <a:schemeClr val="accent2"/>
          </a:solidFill>
          <a:ln/>
        </p:spPr>
      </p:sp>
      <p:sp>
        <p:nvSpPr>
          <p:cNvPr id="4" name="Layer 1 text"/>
          <p:cNvSpPr txBox="1"/>
          <p:nvPr/>
        </p:nvSpPr>
        <p:spPr>
          <a:xfrm>
            <a:off x="822960" y="1325880"/>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Browser UI (vanilla JS + SVG)</a:t>
            </a:r>
            <a:pPr indent="0" marL="0">
              <a:buNone/>
            </a:pPr>
            <a:r>
              <a:rPr lang="en-US" sz="1500" dirty="0">
                <a:solidFill>
                  <a:schemeClr val="tx1"/>
                </a:solidFill>
              </a:rPr>
              <a:t>   recruiter screen, coach, how it works</a:t>
            </a:r>
            <a:endParaRPr lang="en-US" sz="1500" dirty="0"/>
          </a:p>
        </p:txBody>
      </p:sp>
      <p:sp>
        <p:nvSpPr>
          <p:cNvPr id="5" name="Arrow 1"/>
          <p:cNvSpPr/>
          <p:nvPr/>
        </p:nvSpPr>
        <p:spPr>
          <a:xfrm>
            <a:off x="4206240" y="1976628"/>
            <a:ext cx="201168" cy="164592"/>
          </a:xfrm>
          <a:prstGeom prst="downArrow">
            <a:avLst/>
          </a:prstGeom>
          <a:solidFill>
            <a:schemeClr val="accent4"/>
          </a:solidFill>
          <a:ln/>
        </p:spPr>
      </p:sp>
      <p:sp>
        <p:nvSpPr>
          <p:cNvPr id="6" name="Layer 2"/>
          <p:cNvSpPr/>
          <p:nvPr/>
        </p:nvSpPr>
        <p:spPr>
          <a:xfrm>
            <a:off x="548640" y="2159508"/>
            <a:ext cx="7498080" cy="632460"/>
          </a:xfrm>
          <a:prstGeom prst="roundRect">
            <a:avLst>
              <a:gd name="adj" fmla="val 14458"/>
            </a:avLst>
          </a:prstGeom>
          <a:solidFill>
            <a:schemeClr val="bg2"/>
          </a:solidFill>
          <a:ln/>
        </p:spPr>
      </p:sp>
      <p:sp>
        <p:nvSpPr>
          <p:cNvPr id="7" name="Layer 2 text"/>
          <p:cNvSpPr txBox="1"/>
          <p:nvPr/>
        </p:nvSpPr>
        <p:spPr>
          <a:xfrm>
            <a:off x="822960" y="2159508"/>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app.py ThreadingHTTPServer</a:t>
            </a:r>
            <a:pPr indent="0" marL="0">
              <a:buNone/>
            </a:pPr>
            <a:r>
              <a:rPr lang="en-US" sz="1500" dirty="0">
                <a:solidFill>
                  <a:schemeClr val="tx1"/>
                </a:solidFill>
              </a:rPr>
              <a:t>   14 JSON endpoints, validation</a:t>
            </a:r>
            <a:endParaRPr lang="en-US" sz="1500" dirty="0"/>
          </a:p>
        </p:txBody>
      </p:sp>
      <p:sp>
        <p:nvSpPr>
          <p:cNvPr id="8" name="Arrow 2"/>
          <p:cNvSpPr/>
          <p:nvPr/>
        </p:nvSpPr>
        <p:spPr>
          <a:xfrm>
            <a:off x="4206240" y="2810256"/>
            <a:ext cx="201168" cy="164592"/>
          </a:xfrm>
          <a:prstGeom prst="downArrow">
            <a:avLst/>
          </a:prstGeom>
          <a:solidFill>
            <a:schemeClr val="accent4"/>
          </a:solidFill>
          <a:ln/>
        </p:spPr>
      </p:sp>
      <p:sp>
        <p:nvSpPr>
          <p:cNvPr id="9" name="Layer 3"/>
          <p:cNvSpPr/>
          <p:nvPr/>
        </p:nvSpPr>
        <p:spPr>
          <a:xfrm>
            <a:off x="548640" y="2993136"/>
            <a:ext cx="7498080" cy="632460"/>
          </a:xfrm>
          <a:prstGeom prst="roundRect">
            <a:avLst>
              <a:gd name="adj" fmla="val 14458"/>
            </a:avLst>
          </a:prstGeom>
          <a:solidFill>
            <a:schemeClr val="accent2"/>
          </a:solidFill>
          <a:ln/>
        </p:spPr>
      </p:sp>
      <p:sp>
        <p:nvSpPr>
          <p:cNvPr id="10" name="Layer 3 text"/>
          <p:cNvSpPr txBox="1"/>
          <p:nvPr/>
        </p:nvSpPr>
        <p:spPr>
          <a:xfrm>
            <a:off x="822960" y="2993136"/>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blind.py</a:t>
            </a:r>
            <a:pPr indent="0" marL="0">
              <a:buNone/>
            </a:pPr>
            <a:r>
              <a:rPr lang="en-US" sz="1500" dirty="0">
                <a:solidFill>
                  <a:schemeClr val="tx1"/>
                </a:solidFill>
              </a:rPr>
              <a:t>   mask / strip / swap identity spans</a:t>
            </a:r>
            <a:endParaRPr lang="en-US" sz="1500" dirty="0"/>
          </a:p>
        </p:txBody>
      </p:sp>
      <p:sp>
        <p:nvSpPr>
          <p:cNvPr id="11" name="Arrow 3"/>
          <p:cNvSpPr/>
          <p:nvPr/>
        </p:nvSpPr>
        <p:spPr>
          <a:xfrm>
            <a:off x="4206240" y="3643884"/>
            <a:ext cx="201168" cy="164592"/>
          </a:xfrm>
          <a:prstGeom prst="downArrow">
            <a:avLst/>
          </a:prstGeom>
          <a:solidFill>
            <a:schemeClr val="accent4"/>
          </a:solidFill>
          <a:ln/>
        </p:spPr>
      </p:sp>
      <p:sp>
        <p:nvSpPr>
          <p:cNvPr id="12" name="Layer 4"/>
          <p:cNvSpPr/>
          <p:nvPr/>
        </p:nvSpPr>
        <p:spPr>
          <a:xfrm>
            <a:off x="548640" y="3826764"/>
            <a:ext cx="7498080" cy="632460"/>
          </a:xfrm>
          <a:prstGeom prst="roundRect">
            <a:avLst>
              <a:gd name="adj" fmla="val 14458"/>
            </a:avLst>
          </a:prstGeom>
          <a:solidFill>
            <a:schemeClr val="bg2"/>
          </a:solidFill>
          <a:ln/>
        </p:spPr>
      </p:sp>
      <p:sp>
        <p:nvSpPr>
          <p:cNvPr id="13" name="Layer 4 text"/>
          <p:cNvSpPr txBox="1"/>
          <p:nvPr/>
        </p:nvSpPr>
        <p:spPr>
          <a:xfrm>
            <a:off x="822960" y="3826764"/>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extract.py + jd.py + ontology.py</a:t>
            </a:r>
            <a:pPr indent="0" marL="0">
              <a:buNone/>
            </a:pPr>
            <a:r>
              <a:rPr lang="en-US" sz="1500" dirty="0">
                <a:solidFill>
                  <a:schemeClr val="tx1"/>
                </a:solidFill>
              </a:rPr>
              <a:t>   skills, roles, requirements</a:t>
            </a:r>
            <a:endParaRPr lang="en-US" sz="1500" dirty="0"/>
          </a:p>
        </p:txBody>
      </p:sp>
      <p:sp>
        <p:nvSpPr>
          <p:cNvPr id="14" name="Arrow 4"/>
          <p:cNvSpPr/>
          <p:nvPr/>
        </p:nvSpPr>
        <p:spPr>
          <a:xfrm>
            <a:off x="4206240" y="4477512"/>
            <a:ext cx="201168" cy="164592"/>
          </a:xfrm>
          <a:prstGeom prst="downArrow">
            <a:avLst/>
          </a:prstGeom>
          <a:solidFill>
            <a:schemeClr val="accent4"/>
          </a:solidFill>
          <a:ln/>
        </p:spPr>
      </p:sp>
      <p:sp>
        <p:nvSpPr>
          <p:cNvPr id="15" name="Layer 5"/>
          <p:cNvSpPr/>
          <p:nvPr/>
        </p:nvSpPr>
        <p:spPr>
          <a:xfrm>
            <a:off x="548640" y="4660392"/>
            <a:ext cx="7498080" cy="632460"/>
          </a:xfrm>
          <a:prstGeom prst="roundRect">
            <a:avLst>
              <a:gd name="adj" fmla="val 14458"/>
            </a:avLst>
          </a:prstGeom>
          <a:solidFill>
            <a:schemeClr val="accent2"/>
          </a:solidFill>
          <a:ln/>
        </p:spPr>
      </p:sp>
      <p:sp>
        <p:nvSpPr>
          <p:cNvPr id="16" name="Layer 5 text"/>
          <p:cNvSpPr txBox="1"/>
          <p:nvPr/>
        </p:nvSpPr>
        <p:spPr>
          <a:xfrm>
            <a:off x="822960" y="4660392"/>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tfidf.py + scoring.py</a:t>
            </a:r>
            <a:pPr indent="0" marL="0">
              <a:buNone/>
            </a:pPr>
            <a:r>
              <a:rPr lang="en-US" sz="1500" dirty="0">
                <a:solidFill>
                  <a:schemeClr val="tx1"/>
                </a:solidFill>
              </a:rPr>
              <a:t>   weighted, explained match score</a:t>
            </a:r>
            <a:endParaRPr lang="en-US" sz="1500" dirty="0"/>
          </a:p>
        </p:txBody>
      </p:sp>
      <p:sp>
        <p:nvSpPr>
          <p:cNvPr id="17" name="Arrow 5"/>
          <p:cNvSpPr/>
          <p:nvPr/>
        </p:nvSpPr>
        <p:spPr>
          <a:xfrm>
            <a:off x="4206240" y="5311140"/>
            <a:ext cx="201168" cy="164592"/>
          </a:xfrm>
          <a:prstGeom prst="downArrow">
            <a:avLst/>
          </a:prstGeom>
          <a:solidFill>
            <a:schemeClr val="accent4"/>
          </a:solidFill>
          <a:ln/>
        </p:spPr>
      </p:sp>
      <p:sp>
        <p:nvSpPr>
          <p:cNvPr id="18" name="Layer 6"/>
          <p:cNvSpPr/>
          <p:nvPr/>
        </p:nvSpPr>
        <p:spPr>
          <a:xfrm>
            <a:off x="548640" y="5494020"/>
            <a:ext cx="7498080" cy="632460"/>
          </a:xfrm>
          <a:prstGeom prst="roundRect">
            <a:avLst>
              <a:gd name="adj" fmla="val 14458"/>
            </a:avLst>
          </a:prstGeom>
          <a:solidFill>
            <a:schemeClr val="bg2"/>
          </a:solidFill>
          <a:ln/>
        </p:spPr>
      </p:sp>
      <p:sp>
        <p:nvSpPr>
          <p:cNvPr id="19" name="Layer 6 text"/>
          <p:cNvSpPr txBox="1"/>
          <p:nvPr/>
        </p:nvSpPr>
        <p:spPr>
          <a:xfrm>
            <a:off x="822960" y="5494020"/>
            <a:ext cx="7040880" cy="632460"/>
          </a:xfrm>
          <a:prstGeom prst="rect">
            <a:avLst/>
          </a:prstGeom>
          <a:noFill/>
          <a:ln/>
        </p:spPr>
        <p:txBody>
          <a:bodyPr wrap="square" lIns="0" tIns="0" rIns="0" bIns="0" rtlCol="0" anchor="ctr"/>
          <a:lstStyle/>
          <a:p>
            <a:pPr indent="0" marL="0">
              <a:buNone/>
            </a:pPr>
            <a:r>
              <a:rPr lang="en-US" sz="1500" b="1" dirty="0">
                <a:solidFill>
                  <a:schemeClr val="accent3"/>
                </a:solidFill>
              </a:rPr>
              <a:t>gaps.py / ats.py / interview.py</a:t>
            </a:r>
            <a:pPr indent="0" marL="0">
              <a:buNone/>
            </a:pPr>
            <a:r>
              <a:rPr lang="en-US" sz="1500" dirty="0">
                <a:solidFill>
                  <a:schemeClr val="tx1"/>
                </a:solidFill>
              </a:rPr>
              <a:t>   coaching outputs</a:t>
            </a:r>
            <a:endParaRPr lang="en-US" sz="1500" dirty="0"/>
          </a:p>
        </p:txBody>
      </p:sp>
      <p:sp>
        <p:nvSpPr>
          <p:cNvPr id="20" name="Tech card"/>
          <p:cNvSpPr/>
          <p:nvPr/>
        </p:nvSpPr>
        <p:spPr>
          <a:xfrm>
            <a:off x="8412480" y="1325880"/>
            <a:ext cx="3230575" cy="4800600"/>
          </a:xfrm>
          <a:prstGeom prst="roundRect">
            <a:avLst>
              <a:gd name="adj" fmla="val 3397"/>
            </a:avLst>
          </a:prstGeom>
          <a:solidFill>
            <a:schemeClr val="tx2"/>
          </a:solidFill>
          <a:ln/>
        </p:spPr>
      </p:sp>
      <p:sp>
        <p:nvSpPr>
          <p:cNvPr id="21" name="Tech title"/>
          <p:cNvSpPr txBox="1"/>
          <p:nvPr/>
        </p:nvSpPr>
        <p:spPr>
          <a:xfrm>
            <a:off x="8686800" y="1554480"/>
            <a:ext cx="2743200" cy="457200"/>
          </a:xfrm>
          <a:prstGeom prst="rect">
            <a:avLst/>
          </a:prstGeom>
          <a:noFill/>
          <a:ln/>
        </p:spPr>
        <p:txBody>
          <a:bodyPr wrap="square" lIns="0" tIns="0" rIns="0" bIns="0" rtlCol="0" anchor="ctr"/>
          <a:lstStyle/>
          <a:p>
            <a:pPr indent="0" marL="0">
              <a:buNone/>
            </a:pPr>
            <a:r>
              <a:rPr lang="en-US" sz="1800" b="1" dirty="0">
                <a:solidFill>
                  <a:schemeClr val="bg1"/>
                </a:solidFill>
              </a:rPr>
              <a:t>Tech stack</a:t>
            </a:r>
            <a:endParaRPr lang="en-US" sz="1800" dirty="0"/>
          </a:p>
        </p:txBody>
      </p:sp>
      <p:sp>
        <p:nvSpPr>
          <p:cNvPr id="22" name="Tech list"/>
          <p:cNvSpPr txBox="1"/>
          <p:nvPr/>
        </p:nvSpPr>
        <p:spPr>
          <a:xfrm>
            <a:off x="8686800" y="2103120"/>
            <a:ext cx="2743200" cy="274320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chemeClr val="bg1"/>
                </a:solidFill>
              </a:rPr>
              <a:t>Python 3 stdlib only (http.server, re, math, heapq)</a:t>
            </a:r>
            <a:endParaRPr lang="en-US" sz="1400" dirty="0"/>
          </a:p>
          <a:p>
            <a:pPr marL="228600" indent="-228600">
              <a:spcAft>
                <a:spcPts val="1000"/>
              </a:spcAft>
              <a:buSzPct val="100000"/>
              <a:buChar char="•"/>
            </a:pPr>
            <a:r>
              <a:rPr lang="en-US" sz="1400" dirty="0">
                <a:solidFill>
                  <a:schemeClr val="bg1"/>
                </a:solidFill>
              </a:rPr>
              <a:t>Vanilla HTML/CSS/JS, inline SVG, no CDN</a:t>
            </a:r>
            <a:endParaRPr lang="en-US" sz="1400" dirty="0"/>
          </a:p>
          <a:p>
            <a:pPr marL="228600" indent="-228600">
              <a:spcAft>
                <a:spcPts val="1000"/>
              </a:spcAft>
              <a:buSzPct val="100000"/>
              <a:buChar char="•"/>
            </a:pPr>
            <a:r>
              <a:rPr lang="en-US" sz="1400" dirty="0">
                <a:solidFill>
                  <a:schemeClr val="bg1"/>
                </a:solidFill>
              </a:rPr>
              <a:t>Fully offline, no API keys, no data leaves the laptop</a:t>
            </a:r>
            <a:endParaRPr lang="en-US" sz="1400" dirty="0"/>
          </a:p>
          <a:p>
            <a:pPr marL="228600" indent="-228600">
              <a:spcAft>
                <a:spcPts val="1000"/>
              </a:spcAft>
              <a:buSzPct val="100000"/>
              <a:buChar char="•"/>
            </a:pPr>
            <a:r>
              <a:rPr lang="en-US" sz="1400" dirty="0">
                <a:solidFill>
                  <a:schemeClr val="bg1"/>
                </a:solidFill>
              </a:rPr>
              <a:t>unittest: 77 tests</a:t>
            </a:r>
            <a:endParaRPr lang="en-US" sz="1400" dirty="0"/>
          </a:p>
        </p:txBody>
      </p:sp>
      <p:sp>
        <p:nvSpPr>
          <p:cNvPr id="23" name="Offline note"/>
          <p:cNvSpPr txBox="1"/>
          <p:nvPr/>
        </p:nvSpPr>
        <p:spPr>
          <a:xfrm>
            <a:off x="8686800" y="5120640"/>
            <a:ext cx="2743200" cy="777240"/>
          </a:xfrm>
          <a:prstGeom prst="rect">
            <a:avLst/>
          </a:prstGeom>
          <a:noFill/>
          <a:ln/>
        </p:spPr>
        <p:txBody>
          <a:bodyPr wrap="square" lIns="0" tIns="0" rIns="0" bIns="0" rtlCol="0" anchor="b"/>
          <a:lstStyle/>
          <a:p>
            <a:pPr indent="0" marL="0">
              <a:buNone/>
            </a:pPr>
            <a:r>
              <a:rPr lang="en-US" sz="1300" i="1" dirty="0">
                <a:solidFill>
                  <a:schemeClr val="accent6"/>
                </a:solidFill>
              </a:rPr>
              <a:t>Runs fully offline · no installs · python app.py</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Algorithms built from scratch</a:t>
            </a:r>
            <a:endParaRPr lang="en-US" sz="3600" dirty="0"/>
          </a:p>
        </p:txBody>
      </p:sp>
      <p:sp>
        <p:nvSpPr>
          <p:cNvPr id="3" name="Algorithm 1 card"/>
          <p:cNvSpPr/>
          <p:nvPr/>
        </p:nvSpPr>
        <p:spPr>
          <a:xfrm>
            <a:off x="548640" y="1371600"/>
            <a:ext cx="5410048" cy="1432560"/>
          </a:xfrm>
          <a:prstGeom prst="roundRect">
            <a:avLst>
              <a:gd name="adj" fmla="val 6383"/>
            </a:avLst>
          </a:prstGeom>
          <a:solidFill>
            <a:schemeClr val="bg2"/>
          </a:solidFill>
          <a:ln/>
        </p:spPr>
      </p:sp>
      <p:sp>
        <p:nvSpPr>
          <p:cNvPr id="4" name="Algorithm 1 number"/>
          <p:cNvSpPr txBox="1"/>
          <p:nvPr/>
        </p:nvSpPr>
        <p:spPr>
          <a:xfrm>
            <a:off x="777240" y="137160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01</a:t>
            </a:r>
            <a:endParaRPr lang="en-US" sz="2800" dirty="0"/>
          </a:p>
        </p:txBody>
      </p:sp>
      <p:sp>
        <p:nvSpPr>
          <p:cNvPr id="5" name="Algorithm 1 text"/>
          <p:cNvSpPr txBox="1"/>
          <p:nvPr/>
        </p:nvSpPr>
        <p:spPr>
          <a:xfrm>
            <a:off x="1554480" y="137160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Longest-match alias dictionary with case rules</a:t>
            </a:r>
            <a:endParaRPr lang="en-US" sz="1700" dirty="0"/>
          </a:p>
          <a:p>
            <a:pPr indent="0" marL="0">
              <a:buNone/>
            </a:pPr>
            <a:r>
              <a:rPr lang="en-US" sz="1400" dirty="0">
                <a:solidFill>
                  <a:schemeClr val="accent4"/>
                </a:solidFill>
              </a:rPr>
              <a:t>skill extraction</a:t>
            </a:r>
            <a:endParaRPr lang="en-US" sz="1700" dirty="0"/>
          </a:p>
        </p:txBody>
      </p:sp>
      <p:sp>
        <p:nvSpPr>
          <p:cNvPr id="6" name="Algorithm 2 card"/>
          <p:cNvSpPr/>
          <p:nvPr/>
        </p:nvSpPr>
        <p:spPr>
          <a:xfrm>
            <a:off x="6233008" y="1371600"/>
            <a:ext cx="5410048" cy="1432560"/>
          </a:xfrm>
          <a:prstGeom prst="roundRect">
            <a:avLst>
              <a:gd name="adj" fmla="val 6383"/>
            </a:avLst>
          </a:prstGeom>
          <a:solidFill>
            <a:schemeClr val="bg2"/>
          </a:solidFill>
          <a:ln/>
        </p:spPr>
      </p:sp>
      <p:sp>
        <p:nvSpPr>
          <p:cNvPr id="7" name="Algorithm 2 number"/>
          <p:cNvSpPr txBox="1"/>
          <p:nvPr/>
        </p:nvSpPr>
        <p:spPr>
          <a:xfrm>
            <a:off x="6461608" y="137160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02</a:t>
            </a:r>
            <a:endParaRPr lang="en-US" sz="2800" dirty="0"/>
          </a:p>
        </p:txBody>
      </p:sp>
      <p:sp>
        <p:nvSpPr>
          <p:cNvPr id="8" name="Algorithm 2 text"/>
          <p:cNvSpPr txBox="1"/>
          <p:nvPr/>
        </p:nvSpPr>
        <p:spPr>
          <a:xfrm>
            <a:off x="7238848" y="137160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Sublinear TF-IDF + cosine with skill tokens</a:t>
            </a:r>
            <a:endParaRPr lang="en-US" sz="1700" dirty="0"/>
          </a:p>
          <a:p>
            <a:pPr indent="0" marL="0">
              <a:buNone/>
            </a:pPr>
            <a:r>
              <a:rPr lang="en-US" sz="1400" dirty="0">
                <a:solidFill>
                  <a:schemeClr val="accent4"/>
                </a:solidFill>
              </a:rPr>
              <a:t>context similarity</a:t>
            </a:r>
            <a:endParaRPr lang="en-US" sz="1700" dirty="0"/>
          </a:p>
        </p:txBody>
      </p:sp>
      <p:sp>
        <p:nvSpPr>
          <p:cNvPr id="9" name="Algorithm 3 card"/>
          <p:cNvSpPr/>
          <p:nvPr/>
        </p:nvSpPr>
        <p:spPr>
          <a:xfrm>
            <a:off x="548640" y="3032760"/>
            <a:ext cx="5410048" cy="1432560"/>
          </a:xfrm>
          <a:prstGeom prst="roundRect">
            <a:avLst>
              <a:gd name="adj" fmla="val 6383"/>
            </a:avLst>
          </a:prstGeom>
          <a:solidFill>
            <a:schemeClr val="bg2"/>
          </a:solidFill>
          <a:ln/>
        </p:spPr>
      </p:sp>
      <p:sp>
        <p:nvSpPr>
          <p:cNvPr id="10" name="Algorithm 3 number"/>
          <p:cNvSpPr txBox="1"/>
          <p:nvPr/>
        </p:nvSpPr>
        <p:spPr>
          <a:xfrm>
            <a:off x="777240" y="303276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03</a:t>
            </a:r>
            <a:endParaRPr lang="en-US" sz="2800" dirty="0"/>
          </a:p>
        </p:txBody>
      </p:sp>
      <p:sp>
        <p:nvSpPr>
          <p:cNvPr id="11" name="Algorithm 3 text"/>
          <p:cNvSpPr txBox="1"/>
          <p:nvPr/>
        </p:nvSpPr>
        <p:spPr>
          <a:xfrm>
            <a:off x="1554480" y="303276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Weighted linear score with implied/related credit</a:t>
            </a:r>
            <a:endParaRPr lang="en-US" sz="1700" dirty="0"/>
          </a:p>
          <a:p>
            <a:pPr indent="0" marL="0">
              <a:buNone/>
            </a:pPr>
            <a:r>
              <a:rPr lang="en-US" sz="1400" dirty="0">
                <a:solidFill>
                  <a:schemeClr val="accent4"/>
                </a:solidFill>
              </a:rPr>
              <a:t>ranking</a:t>
            </a:r>
            <a:endParaRPr lang="en-US" sz="1700" dirty="0"/>
          </a:p>
        </p:txBody>
      </p:sp>
      <p:sp>
        <p:nvSpPr>
          <p:cNvPr id="12" name="Algorithm 4 card"/>
          <p:cNvSpPr/>
          <p:nvPr/>
        </p:nvSpPr>
        <p:spPr>
          <a:xfrm>
            <a:off x="6233008" y="3032760"/>
            <a:ext cx="5410048" cy="1432560"/>
          </a:xfrm>
          <a:prstGeom prst="roundRect">
            <a:avLst>
              <a:gd name="adj" fmla="val 6383"/>
            </a:avLst>
          </a:prstGeom>
          <a:solidFill>
            <a:schemeClr val="bg2"/>
          </a:solidFill>
          <a:ln/>
        </p:spPr>
      </p:sp>
      <p:sp>
        <p:nvSpPr>
          <p:cNvPr id="13" name="Algorithm 4 number"/>
          <p:cNvSpPr txBox="1"/>
          <p:nvPr/>
        </p:nvSpPr>
        <p:spPr>
          <a:xfrm>
            <a:off x="6461608" y="303276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04</a:t>
            </a:r>
            <a:endParaRPr lang="en-US" sz="2800" dirty="0"/>
          </a:p>
        </p:txBody>
      </p:sp>
      <p:sp>
        <p:nvSpPr>
          <p:cNvPr id="14" name="Algorithm 4 text"/>
          <p:cNvSpPr txBox="1"/>
          <p:nvPr/>
        </p:nvSpPr>
        <p:spPr>
          <a:xfrm>
            <a:off x="7238848" y="303276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Interval union of dated roles</a:t>
            </a:r>
            <a:endParaRPr lang="en-US" sz="1700" dirty="0"/>
          </a:p>
          <a:p>
            <a:pPr indent="0" marL="0">
              <a:buNone/>
            </a:pPr>
            <a:r>
              <a:rPr lang="en-US" sz="1400" dirty="0">
                <a:solidFill>
                  <a:schemeClr val="accent4"/>
                </a:solidFill>
              </a:rPr>
              <a:t>relevant experience</a:t>
            </a:r>
            <a:endParaRPr lang="en-US" sz="1700" dirty="0"/>
          </a:p>
        </p:txBody>
      </p:sp>
      <p:sp>
        <p:nvSpPr>
          <p:cNvPr id="15" name="Algorithm 5 card"/>
          <p:cNvSpPr/>
          <p:nvPr/>
        </p:nvSpPr>
        <p:spPr>
          <a:xfrm>
            <a:off x="548640" y="4693920"/>
            <a:ext cx="5410048" cy="1432560"/>
          </a:xfrm>
          <a:prstGeom prst="roundRect">
            <a:avLst>
              <a:gd name="adj" fmla="val 6383"/>
            </a:avLst>
          </a:prstGeom>
          <a:solidFill>
            <a:schemeClr val="bg2"/>
          </a:solidFill>
          <a:ln/>
        </p:spPr>
      </p:sp>
      <p:sp>
        <p:nvSpPr>
          <p:cNvPr id="16" name="Algorithm 5 number"/>
          <p:cNvSpPr txBox="1"/>
          <p:nvPr/>
        </p:nvSpPr>
        <p:spPr>
          <a:xfrm>
            <a:off x="777240" y="469392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05</a:t>
            </a:r>
            <a:endParaRPr lang="en-US" sz="2800" dirty="0"/>
          </a:p>
        </p:txBody>
      </p:sp>
      <p:sp>
        <p:nvSpPr>
          <p:cNvPr id="17" name="Algorithm 5 text"/>
          <p:cNvSpPr txBox="1"/>
          <p:nvPr/>
        </p:nvSpPr>
        <p:spPr>
          <a:xfrm>
            <a:off x="1554480" y="469392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Counterfactual identity swap + Spearman rho</a:t>
            </a:r>
            <a:endParaRPr lang="en-US" sz="1700" dirty="0"/>
          </a:p>
          <a:p>
            <a:pPr indent="0" marL="0">
              <a:buNone/>
            </a:pPr>
            <a:r>
              <a:rPr lang="en-US" sz="1400" dirty="0">
                <a:solidFill>
                  <a:schemeClr val="accent4"/>
                </a:solidFill>
              </a:rPr>
              <a:t>bias check</a:t>
            </a:r>
            <a:endParaRPr lang="en-US" sz="1700" dirty="0"/>
          </a:p>
        </p:txBody>
      </p:sp>
      <p:sp>
        <p:nvSpPr>
          <p:cNvPr id="18" name="Algorithm 6 card"/>
          <p:cNvSpPr/>
          <p:nvPr/>
        </p:nvSpPr>
        <p:spPr>
          <a:xfrm>
            <a:off x="6233008" y="4693920"/>
            <a:ext cx="5410048" cy="1432560"/>
          </a:xfrm>
          <a:prstGeom prst="roundRect">
            <a:avLst>
              <a:gd name="adj" fmla="val 6383"/>
            </a:avLst>
          </a:prstGeom>
          <a:solidFill>
            <a:schemeClr val="bg2"/>
          </a:solidFill>
          <a:ln/>
        </p:spPr>
      </p:sp>
      <p:sp>
        <p:nvSpPr>
          <p:cNvPr id="19" name="Algorithm 6 number"/>
          <p:cNvSpPr txBox="1"/>
          <p:nvPr/>
        </p:nvSpPr>
        <p:spPr>
          <a:xfrm>
            <a:off x="6461608" y="4693920"/>
            <a:ext cx="731520" cy="1432560"/>
          </a:xfrm>
          <a:prstGeom prst="rect">
            <a:avLst/>
          </a:prstGeom>
          <a:noFill/>
          <a:ln/>
        </p:spPr>
        <p:txBody>
          <a:bodyPr wrap="square" lIns="0" tIns="0" rIns="0" bIns="0" rtlCol="0" anchor="ctr"/>
          <a:lstStyle/>
          <a:p>
            <a:pPr indent="0" marL="0">
              <a:buNone/>
            </a:pPr>
            <a:r>
              <a:rPr lang="en-US" sz="2800" b="1" dirty="0">
                <a:solidFill>
                  <a:schemeClr val="accent1"/>
                </a:solidFill>
              </a:rPr>
              <a:t>06</a:t>
            </a:r>
            <a:endParaRPr lang="en-US" sz="2800" dirty="0"/>
          </a:p>
        </p:txBody>
      </p:sp>
      <p:sp>
        <p:nvSpPr>
          <p:cNvPr id="20" name="Algorithm 6 text"/>
          <p:cNvSpPr txBox="1"/>
          <p:nvPr/>
        </p:nvSpPr>
        <p:spPr>
          <a:xfrm>
            <a:off x="7238848" y="4693920"/>
            <a:ext cx="4221328" cy="1432560"/>
          </a:xfrm>
          <a:prstGeom prst="rect">
            <a:avLst/>
          </a:prstGeom>
          <a:noFill/>
          <a:ln/>
        </p:spPr>
        <p:txBody>
          <a:bodyPr wrap="square" lIns="0" tIns="0" rIns="0" bIns="0" rtlCol="0" anchor="ctr"/>
          <a:lstStyle/>
          <a:p>
            <a:pPr indent="0" marL="0">
              <a:buNone/>
            </a:pPr>
            <a:r>
              <a:rPr lang="en-US" sz="1700" b="1" dirty="0">
                <a:solidFill>
                  <a:schemeClr val="tx1"/>
                </a:solidFill>
              </a:rPr>
              <a:t>Kahn topological sort</a:t>
            </a:r>
            <a:endParaRPr lang="en-US" sz="1700" dirty="0"/>
          </a:p>
          <a:p>
            <a:pPr indent="0" marL="0">
              <a:buNone/>
            </a:pPr>
            <a:r>
              <a:rPr lang="en-US" sz="1400" dirty="0">
                <a:solidFill>
                  <a:schemeClr val="accent4"/>
                </a:solidFill>
              </a:rPr>
              <a:t>prerequisite-ordered learning path</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What makes it different</a:t>
            </a:r>
            <a:endParaRPr lang="en-US" sz="3600" dirty="0"/>
          </a:p>
        </p:txBody>
      </p:sp>
      <p:sp>
        <p:nvSpPr>
          <p:cNvPr id="3" name="Innovation 1 card"/>
          <p:cNvSpPr/>
          <p:nvPr/>
        </p:nvSpPr>
        <p:spPr>
          <a:xfrm>
            <a:off x="548640" y="1371600"/>
            <a:ext cx="5410048" cy="2148840"/>
          </a:xfrm>
          <a:prstGeom prst="roundRect">
            <a:avLst>
              <a:gd name="adj" fmla="val 5106"/>
            </a:avLst>
          </a:prstGeom>
          <a:solidFill>
            <a:schemeClr val="accent2"/>
          </a:solidFill>
          <a:ln/>
        </p:spPr>
      </p:sp>
      <p:sp>
        <p:nvSpPr>
          <p:cNvPr id="4" name="Innovation 1 circle"/>
          <p:cNvSpPr/>
          <p:nvPr/>
        </p:nvSpPr>
        <p:spPr>
          <a:xfrm>
            <a:off x="868680" y="2103120"/>
            <a:ext cx="685800" cy="685800"/>
          </a:xfrm>
          <a:prstGeom prst="ellipse">
            <a:avLst/>
          </a:prstGeom>
          <a:solidFill>
            <a:schemeClr val="accent1"/>
          </a:solidFill>
          <a:ln/>
        </p:spPr>
      </p:sp>
      <p:pic>
        <p:nvPicPr>
          <p:cNvPr id="5" name="Innovation 1 icon" descr="preencoded.png">    </p:cNvPr>
          <p:cNvPicPr>
            <a:picLocks noChangeAspect="1"/>
          </p:cNvPicPr>
          <p:nvPr/>
        </p:nvPicPr>
        <p:blipFill>
          <a:blip r:embed="rId1"/>
          <a:stretch>
            <a:fillRect/>
          </a:stretch>
        </p:blipFill>
        <p:spPr>
          <a:xfrm>
            <a:off x="1040130" y="2274570"/>
            <a:ext cx="342900" cy="342900"/>
          </a:xfrm>
          <a:prstGeom prst="rect">
            <a:avLst/>
          </a:prstGeom>
        </p:spPr>
      </p:pic>
      <p:sp>
        <p:nvSpPr>
          <p:cNvPr id="6" name="Innovation 1 text"/>
          <p:cNvSpPr txBox="1"/>
          <p:nvPr/>
        </p:nvSpPr>
        <p:spPr>
          <a:xfrm>
            <a:off x="1783080" y="1371600"/>
            <a:ext cx="3901288" cy="2148840"/>
          </a:xfrm>
          <a:prstGeom prst="rect">
            <a:avLst/>
          </a:prstGeom>
          <a:noFill/>
          <a:ln/>
        </p:spPr>
        <p:txBody>
          <a:bodyPr wrap="square" lIns="0" tIns="0" rIns="0" bIns="0" rtlCol="0" anchor="ctr"/>
          <a:lstStyle/>
          <a:p>
            <a:pPr indent="0" marL="0">
              <a:buNone/>
            </a:pPr>
            <a:r>
              <a:rPr lang="en-US" sz="2000" dirty="0">
                <a:solidFill>
                  <a:schemeClr val="tx1"/>
                </a:solidFill>
              </a:rPr>
              <a:t>Fairness verified on every batch, not just claimed</a:t>
            </a:r>
            <a:endParaRPr lang="en-US" sz="2000" dirty="0"/>
          </a:p>
        </p:txBody>
      </p:sp>
      <p:sp>
        <p:nvSpPr>
          <p:cNvPr id="7" name="Innovation 2 card"/>
          <p:cNvSpPr/>
          <p:nvPr/>
        </p:nvSpPr>
        <p:spPr>
          <a:xfrm>
            <a:off x="6233008" y="1371600"/>
            <a:ext cx="5410048" cy="2148840"/>
          </a:xfrm>
          <a:prstGeom prst="roundRect">
            <a:avLst>
              <a:gd name="adj" fmla="val 5106"/>
            </a:avLst>
          </a:prstGeom>
          <a:solidFill>
            <a:schemeClr val="bg2"/>
          </a:solidFill>
          <a:ln/>
        </p:spPr>
      </p:sp>
      <p:sp>
        <p:nvSpPr>
          <p:cNvPr id="8" name="Innovation 2 circle"/>
          <p:cNvSpPr/>
          <p:nvPr/>
        </p:nvSpPr>
        <p:spPr>
          <a:xfrm>
            <a:off x="6553048" y="2103120"/>
            <a:ext cx="685800" cy="685800"/>
          </a:xfrm>
          <a:prstGeom prst="ellipse">
            <a:avLst/>
          </a:prstGeom>
          <a:solidFill>
            <a:schemeClr val="accent1"/>
          </a:solidFill>
          <a:ln/>
        </p:spPr>
      </p:sp>
      <p:pic>
        <p:nvPicPr>
          <p:cNvPr id="9" name="Innovation 2 icon" descr="preencoded.png">    </p:cNvPr>
          <p:cNvPicPr>
            <a:picLocks noChangeAspect="1"/>
          </p:cNvPicPr>
          <p:nvPr/>
        </p:nvPicPr>
        <p:blipFill>
          <a:blip r:embed="rId2"/>
          <a:stretch>
            <a:fillRect/>
          </a:stretch>
        </p:blipFill>
        <p:spPr>
          <a:xfrm>
            <a:off x="6724498" y="2274570"/>
            <a:ext cx="342900" cy="342900"/>
          </a:xfrm>
          <a:prstGeom prst="rect">
            <a:avLst/>
          </a:prstGeom>
        </p:spPr>
      </p:pic>
      <p:sp>
        <p:nvSpPr>
          <p:cNvPr id="10" name="Innovation 2 text"/>
          <p:cNvSpPr txBox="1"/>
          <p:nvPr/>
        </p:nvSpPr>
        <p:spPr>
          <a:xfrm>
            <a:off x="7467448" y="1371600"/>
            <a:ext cx="3901288" cy="2148840"/>
          </a:xfrm>
          <a:prstGeom prst="rect">
            <a:avLst/>
          </a:prstGeom>
          <a:noFill/>
          <a:ln/>
        </p:spPr>
        <p:txBody>
          <a:bodyPr wrap="square" lIns="0" tIns="0" rIns="0" bIns="0" rtlCol="0" anchor="ctr"/>
          <a:lstStyle/>
          <a:p>
            <a:pPr indent="0" marL="0">
              <a:buNone/>
            </a:pPr>
            <a:r>
              <a:rPr lang="en-US" sz="2000" dirty="0">
                <a:solidFill>
                  <a:schemeClr val="tx1"/>
                </a:solidFill>
              </a:rPr>
              <a:t>Skill-aware matching: synonyms, implied and related skills</a:t>
            </a:r>
            <a:endParaRPr lang="en-US" sz="2000" dirty="0"/>
          </a:p>
        </p:txBody>
      </p:sp>
      <p:sp>
        <p:nvSpPr>
          <p:cNvPr id="11" name="Innovation 3 card"/>
          <p:cNvSpPr/>
          <p:nvPr/>
        </p:nvSpPr>
        <p:spPr>
          <a:xfrm>
            <a:off x="548640" y="3794760"/>
            <a:ext cx="5410048" cy="2148840"/>
          </a:xfrm>
          <a:prstGeom prst="roundRect">
            <a:avLst>
              <a:gd name="adj" fmla="val 5106"/>
            </a:avLst>
          </a:prstGeom>
          <a:solidFill>
            <a:schemeClr val="bg2"/>
          </a:solidFill>
          <a:ln/>
        </p:spPr>
      </p:sp>
      <p:sp>
        <p:nvSpPr>
          <p:cNvPr id="12" name="Innovation 3 circle"/>
          <p:cNvSpPr/>
          <p:nvPr/>
        </p:nvSpPr>
        <p:spPr>
          <a:xfrm>
            <a:off x="868680" y="4526280"/>
            <a:ext cx="685800" cy="685800"/>
          </a:xfrm>
          <a:prstGeom prst="ellipse">
            <a:avLst/>
          </a:prstGeom>
          <a:solidFill>
            <a:schemeClr val="accent1"/>
          </a:solidFill>
          <a:ln/>
        </p:spPr>
      </p:sp>
      <p:pic>
        <p:nvPicPr>
          <p:cNvPr id="13" name="Innovation 3 icon" descr="preencoded.png">    </p:cNvPr>
          <p:cNvPicPr>
            <a:picLocks noChangeAspect="1"/>
          </p:cNvPicPr>
          <p:nvPr/>
        </p:nvPicPr>
        <p:blipFill>
          <a:blip r:embed="rId3"/>
          <a:stretch>
            <a:fillRect/>
          </a:stretch>
        </p:blipFill>
        <p:spPr>
          <a:xfrm>
            <a:off x="1040130" y="4697730"/>
            <a:ext cx="342900" cy="342900"/>
          </a:xfrm>
          <a:prstGeom prst="rect">
            <a:avLst/>
          </a:prstGeom>
        </p:spPr>
      </p:pic>
      <p:sp>
        <p:nvSpPr>
          <p:cNvPr id="14" name="Innovation 3 text"/>
          <p:cNvSpPr txBox="1"/>
          <p:nvPr/>
        </p:nvSpPr>
        <p:spPr>
          <a:xfrm>
            <a:off x="1783080" y="3794760"/>
            <a:ext cx="3901288" cy="2148840"/>
          </a:xfrm>
          <a:prstGeom prst="rect">
            <a:avLst/>
          </a:prstGeom>
          <a:noFill/>
          <a:ln/>
        </p:spPr>
        <p:txBody>
          <a:bodyPr wrap="square" lIns="0" tIns="0" rIns="0" bIns="0" rtlCol="0" anchor="ctr"/>
          <a:lstStyle/>
          <a:p>
            <a:pPr indent="0" marL="0">
              <a:buNone/>
            </a:pPr>
            <a:r>
              <a:rPr lang="en-US" sz="2000" dirty="0">
                <a:solidFill>
                  <a:schemeClr val="tx1"/>
                </a:solidFill>
              </a:rPr>
              <a:t>Proven-in-work evidence beats keyword stuffing</a:t>
            </a:r>
            <a:endParaRPr lang="en-US" sz="2000" dirty="0"/>
          </a:p>
        </p:txBody>
      </p:sp>
      <p:sp>
        <p:nvSpPr>
          <p:cNvPr id="15" name="Innovation 4 card"/>
          <p:cNvSpPr/>
          <p:nvPr/>
        </p:nvSpPr>
        <p:spPr>
          <a:xfrm>
            <a:off x="6233008" y="3794760"/>
            <a:ext cx="5410048" cy="2148840"/>
          </a:xfrm>
          <a:prstGeom prst="roundRect">
            <a:avLst>
              <a:gd name="adj" fmla="val 5106"/>
            </a:avLst>
          </a:prstGeom>
          <a:solidFill>
            <a:schemeClr val="accent2"/>
          </a:solidFill>
          <a:ln/>
        </p:spPr>
      </p:sp>
      <p:sp>
        <p:nvSpPr>
          <p:cNvPr id="16" name="Innovation 4 circle"/>
          <p:cNvSpPr/>
          <p:nvPr/>
        </p:nvSpPr>
        <p:spPr>
          <a:xfrm>
            <a:off x="6553048" y="4526280"/>
            <a:ext cx="685800" cy="685800"/>
          </a:xfrm>
          <a:prstGeom prst="ellipse">
            <a:avLst/>
          </a:prstGeom>
          <a:solidFill>
            <a:schemeClr val="accent1"/>
          </a:solidFill>
          <a:ln/>
        </p:spPr>
      </p:sp>
      <p:pic>
        <p:nvPicPr>
          <p:cNvPr id="17" name="Innovation 4 icon" descr="preencoded.png">    </p:cNvPr>
          <p:cNvPicPr>
            <a:picLocks noChangeAspect="1"/>
          </p:cNvPicPr>
          <p:nvPr/>
        </p:nvPicPr>
        <p:blipFill>
          <a:blip r:embed="rId4"/>
          <a:stretch>
            <a:fillRect/>
          </a:stretch>
        </p:blipFill>
        <p:spPr>
          <a:xfrm>
            <a:off x="6724498" y="4697730"/>
            <a:ext cx="342900" cy="342900"/>
          </a:xfrm>
          <a:prstGeom prst="rect">
            <a:avLst/>
          </a:prstGeom>
        </p:spPr>
      </p:pic>
      <p:sp>
        <p:nvSpPr>
          <p:cNvPr id="18" name="Innovation 4 text"/>
          <p:cNvSpPr txBox="1"/>
          <p:nvPr/>
        </p:nvSpPr>
        <p:spPr>
          <a:xfrm>
            <a:off x="7467448" y="3794760"/>
            <a:ext cx="3901288" cy="2148840"/>
          </a:xfrm>
          <a:prstGeom prst="rect">
            <a:avLst/>
          </a:prstGeom>
          <a:noFill/>
          <a:ln/>
        </p:spPr>
        <p:txBody>
          <a:bodyPr wrap="square" lIns="0" tIns="0" rIns="0" bIns="0" rtlCol="0" anchor="ctr"/>
          <a:lstStyle/>
          <a:p>
            <a:pPr indent="0" marL="0">
              <a:buNone/>
            </a:pPr>
            <a:r>
              <a:rPr lang="en-US" sz="2000" dirty="0">
                <a:solidFill>
                  <a:schemeClr val="tx1"/>
                </a:solidFill>
              </a:rPr>
              <a:t>One model serves recruiters and coaches students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Measured results</a:t>
            </a:r>
            <a:endParaRPr lang="en-US" sz="3600" dirty="0"/>
          </a:p>
        </p:txBody>
      </p:sp>
      <p:sp>
        <p:nvSpPr>
          <p:cNvPr id="3" name="Result 1 card"/>
          <p:cNvSpPr/>
          <p:nvPr/>
        </p:nvSpPr>
        <p:spPr>
          <a:xfrm>
            <a:off x="548640"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4" name="Result 1 value"/>
          <p:cNvSpPr txBox="1"/>
          <p:nvPr/>
        </p:nvSpPr>
        <p:spPr>
          <a:xfrm>
            <a:off x="777240"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0.00</a:t>
            </a:r>
            <a:endParaRPr lang="en-US" sz="4000" dirty="0"/>
          </a:p>
        </p:txBody>
      </p:sp>
      <p:sp>
        <p:nvSpPr>
          <p:cNvPr id="5" name="Result 1 label"/>
          <p:cNvSpPr txBox="1"/>
          <p:nvPr/>
        </p:nvSpPr>
        <p:spPr>
          <a:xfrm>
            <a:off x="777240"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blind-mode score change after identity swap (standard mode: up to 1.7)</a:t>
            </a:r>
            <a:endParaRPr lang="en-US" sz="1400" dirty="0"/>
          </a:p>
        </p:txBody>
      </p:sp>
      <p:sp>
        <p:nvSpPr>
          <p:cNvPr id="6" name="Result 2 card"/>
          <p:cNvSpPr/>
          <p:nvPr/>
        </p:nvSpPr>
        <p:spPr>
          <a:xfrm>
            <a:off x="3390824"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7" name="Result 2 value"/>
          <p:cNvSpPr txBox="1"/>
          <p:nvPr/>
        </p:nvSpPr>
        <p:spPr>
          <a:xfrm>
            <a:off x="3619424"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0.84</a:t>
            </a:r>
            <a:endParaRPr lang="en-US" sz="4000" dirty="0"/>
          </a:p>
        </p:txBody>
      </p:sp>
      <p:sp>
        <p:nvSpPr>
          <p:cNvPr id="8" name="Result 2 label"/>
          <p:cNvSpPr txBox="1"/>
          <p:nvPr/>
        </p:nvSpPr>
        <p:spPr>
          <a:xfrm>
            <a:off x="3619424"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mean Spearman vs hand labels (keyword ATS 0.82)</a:t>
            </a:r>
            <a:endParaRPr lang="en-US" sz="1400" dirty="0"/>
          </a:p>
        </p:txBody>
      </p:sp>
      <p:sp>
        <p:nvSpPr>
          <p:cNvPr id="9" name="Result 3 card"/>
          <p:cNvSpPr/>
          <p:nvPr/>
        </p:nvSpPr>
        <p:spPr>
          <a:xfrm>
            <a:off x="6233008"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10" name="Result 3 value"/>
          <p:cNvSpPr txBox="1"/>
          <p:nvPr/>
        </p:nvSpPr>
        <p:spPr>
          <a:xfrm>
            <a:off x="6461608"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0.99</a:t>
            </a:r>
            <a:endParaRPr lang="en-US" sz="4000" dirty="0"/>
          </a:p>
        </p:txBody>
      </p:sp>
      <p:sp>
        <p:nvSpPr>
          <p:cNvPr id="11" name="Result 3 label"/>
          <p:cNvSpPr txBox="1"/>
          <p:nvPr/>
        </p:nvSpPr>
        <p:spPr>
          <a:xfrm>
            <a:off x="6461608"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skill-extraction F1 on 28 tricky snippets (keyword 0.76)</a:t>
            </a:r>
            <a:endParaRPr lang="en-US" sz="1400" dirty="0"/>
          </a:p>
        </p:txBody>
      </p:sp>
      <p:sp>
        <p:nvSpPr>
          <p:cNvPr id="12" name="Result 4 card"/>
          <p:cNvSpPr/>
          <p:nvPr/>
        </p:nvSpPr>
        <p:spPr>
          <a:xfrm>
            <a:off x="9075191" y="1463040"/>
            <a:ext cx="2567864" cy="2377440"/>
          </a:xfrm>
          <a:prstGeom prst="roundRect">
            <a:avLst>
              <a:gd name="adj" fmla="val 4615"/>
            </a:avLst>
          </a:prstGeom>
          <a:solidFill>
            <a:schemeClr val="tx2"/>
          </a:solidFill>
          <a:ln/>
          <a:effectLst>
            <a:outerShdw sx="100000" sy="100000" kx="0" ky="0" algn="bl" rotWithShape="0" blurRad="101600" dist="25400" dir="5400000">
              <a:srgbClr val="000000">
                <a:alpha val="14000"/>
              </a:srgbClr>
            </a:outerShdw>
          </a:effectLst>
        </p:spPr>
      </p:sp>
      <p:sp>
        <p:nvSpPr>
          <p:cNvPr id="13" name="Result 4 value"/>
          <p:cNvSpPr txBox="1"/>
          <p:nvPr/>
        </p:nvSpPr>
        <p:spPr>
          <a:xfrm>
            <a:off x="9303791" y="1645920"/>
            <a:ext cx="2110664" cy="1097280"/>
          </a:xfrm>
          <a:prstGeom prst="rect">
            <a:avLst/>
          </a:prstGeom>
          <a:noFill/>
          <a:ln/>
        </p:spPr>
        <p:txBody>
          <a:bodyPr wrap="square" lIns="0" tIns="0" rIns="0" bIns="0" rtlCol="0" anchor="ctr">
            <a:normAutofit/>
          </a:bodyPr>
          <a:lstStyle/>
          <a:p>
            <a:pPr algn="ctr" indent="0" marL="0">
              <a:buNone/>
            </a:pPr>
            <a:r>
              <a:rPr lang="en-US" sz="4000" b="1" dirty="0">
                <a:solidFill>
                  <a:schemeClr val="accent6"/>
                </a:solidFill>
              </a:rPr>
              <a:t>3.8 ms</a:t>
            </a:r>
            <a:endParaRPr lang="en-US" sz="4000" dirty="0"/>
          </a:p>
        </p:txBody>
      </p:sp>
      <p:sp>
        <p:nvSpPr>
          <p:cNvPr id="14" name="Result 4 label"/>
          <p:cNvSpPr txBox="1"/>
          <p:nvPr/>
        </p:nvSpPr>
        <p:spPr>
          <a:xfrm>
            <a:off x="9303791" y="2743200"/>
            <a:ext cx="2110664" cy="914400"/>
          </a:xfrm>
          <a:prstGeom prst="rect">
            <a:avLst/>
          </a:prstGeom>
          <a:noFill/>
          <a:ln/>
        </p:spPr>
        <p:txBody>
          <a:bodyPr wrap="square" lIns="0" tIns="0" rIns="0" bIns="0" rtlCol="0" anchor="t"/>
          <a:lstStyle/>
          <a:p>
            <a:pPr algn="ctr" indent="0" marL="0">
              <a:buNone/>
            </a:pPr>
            <a:r>
              <a:rPr lang="en-US" sz="1400" dirty="0">
                <a:solidFill>
                  <a:schemeClr val="bg1"/>
                </a:solidFill>
              </a:rPr>
              <a:t>full report per resume; 100 resumes in 0.38 s</a:t>
            </a:r>
            <a:endParaRPr lang="en-US" sz="1400" dirty="0"/>
          </a:p>
        </p:txBody>
      </p:sp>
      <p:sp>
        <p:nvSpPr>
          <p:cNvPr id="15" name="Results caveat"/>
          <p:cNvSpPr txBox="1"/>
          <p:nvPr/>
        </p:nvSpPr>
        <p:spPr>
          <a:xfrm>
            <a:off x="548640" y="4160520"/>
            <a:ext cx="11094415" cy="457200"/>
          </a:xfrm>
          <a:prstGeom prst="rect">
            <a:avLst/>
          </a:prstGeom>
          <a:noFill/>
          <a:ln/>
        </p:spPr>
        <p:txBody>
          <a:bodyPr wrap="square" lIns="0" tIns="0" rIns="0" bIns="0" rtlCol="0" anchor="ctr"/>
          <a:lstStyle/>
          <a:p>
            <a:pPr indent="0" marL="0">
              <a:buNone/>
            </a:pPr>
            <a:r>
              <a:rPr lang="en-US" sz="1200" i="1" dirty="0">
                <a:solidFill>
                  <a:schemeClr val="accent4"/>
                </a:solidFill>
              </a:rPr>
              <a:t>Measured on held-out data generated by the project (see REPORT.md for method). Real-world performance needs field validation.</a:t>
            </a:r>
            <a:endParaRPr lang="en-US" sz="1200" dirty="0"/>
          </a:p>
        </p:txBody>
      </p:sp>
      <p:sp>
        <p:nvSpPr>
          <p:cNvPr id="16" name="Impact strip"/>
          <p:cNvSpPr/>
          <p:nvPr/>
        </p:nvSpPr>
        <p:spPr>
          <a:xfrm>
            <a:off x="548640" y="4754880"/>
            <a:ext cx="11094415" cy="1371600"/>
          </a:xfrm>
          <a:prstGeom prst="roundRect">
            <a:avLst>
              <a:gd name="adj" fmla="val 8000"/>
            </a:avLst>
          </a:prstGeom>
          <a:solidFill>
            <a:schemeClr val="accent2"/>
          </a:solidFill>
          <a:ln/>
        </p:spPr>
      </p:sp>
      <p:sp>
        <p:nvSpPr>
          <p:cNvPr id="17" name="Impact circle"/>
          <p:cNvSpPr/>
          <p:nvPr/>
        </p:nvSpPr>
        <p:spPr>
          <a:xfrm>
            <a:off x="822960" y="5120640"/>
            <a:ext cx="640080" cy="640080"/>
          </a:xfrm>
          <a:prstGeom prst="ellipse">
            <a:avLst/>
          </a:prstGeom>
          <a:solidFill>
            <a:schemeClr val="accent1"/>
          </a:solidFill>
          <a:ln/>
        </p:spPr>
      </p:sp>
      <p:pic>
        <p:nvPicPr>
          <p:cNvPr id="18" name="Impact icon" descr="preencoded.png">    </p:cNvPr>
          <p:cNvPicPr>
            <a:picLocks noChangeAspect="1"/>
          </p:cNvPicPr>
          <p:nvPr/>
        </p:nvPicPr>
        <p:blipFill>
          <a:blip r:embed="rId1"/>
          <a:stretch>
            <a:fillRect/>
          </a:stretch>
        </p:blipFill>
        <p:spPr>
          <a:xfrm>
            <a:off x="982980" y="5280660"/>
            <a:ext cx="320040" cy="320040"/>
          </a:xfrm>
          <a:prstGeom prst="rect">
            <a:avLst/>
          </a:prstGeom>
        </p:spPr>
      </p:pic>
      <p:sp>
        <p:nvSpPr>
          <p:cNvPr id="19" name="Impact text"/>
          <p:cNvSpPr txBox="1"/>
          <p:nvPr/>
        </p:nvSpPr>
        <p:spPr>
          <a:xfrm>
            <a:off x="1737360" y="4754880"/>
            <a:ext cx="9631375" cy="1371600"/>
          </a:xfrm>
          <a:prstGeom prst="rect">
            <a:avLst/>
          </a:prstGeom>
          <a:noFill/>
          <a:ln/>
        </p:spPr>
        <p:txBody>
          <a:bodyPr wrap="square" lIns="0" tIns="0" rIns="0" bIns="0" rtlCol="0" anchor="ctr"/>
          <a:lstStyle/>
          <a:p>
            <a:pPr indent="0" marL="0">
              <a:buNone/>
            </a:pPr>
            <a:r>
              <a:rPr lang="en-US" sz="1500" b="1" dirty="0">
                <a:solidFill>
                  <a:schemeClr val="accent3"/>
                </a:solidFill>
              </a:rPr>
              <a:t>Impact  </a:t>
            </a:r>
            <a:pPr indent="0" marL="0">
              <a:buNone/>
            </a:pPr>
            <a:r>
              <a:rPr lang="en-US" sz="1500" dirty="0">
                <a:solidFill>
                  <a:schemeClr val="tx1"/>
                </a:solidFill>
              </a:rPr>
              <a:t>Skills, not college brand or gender, decide the shortlist  ·  Every rejected student gets a concrete learning plan  ·  Placement cells can pre-check every resume for every drive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Live demo in 3 minutes</a:t>
            </a:r>
            <a:endParaRPr lang="en-US" sz="3600" dirty="0"/>
          </a:p>
        </p:txBody>
      </p:sp>
      <p:sp>
        <p:nvSpPr>
          <p:cNvPr id="3" name="Step 1 dot"/>
          <p:cNvSpPr/>
          <p:nvPr/>
        </p:nvSpPr>
        <p:spPr>
          <a:xfrm>
            <a:off x="548640" y="1472184"/>
            <a:ext cx="457200" cy="457200"/>
          </a:xfrm>
          <a:prstGeom prst="ellipse">
            <a:avLst/>
          </a:prstGeom>
          <a:solidFill>
            <a:schemeClr val="accent1"/>
          </a:solidFill>
          <a:ln/>
        </p:spPr>
      </p:sp>
      <p:sp>
        <p:nvSpPr>
          <p:cNvPr id="4" name="Step 1 number"/>
          <p:cNvSpPr txBox="1"/>
          <p:nvPr/>
        </p:nvSpPr>
        <p:spPr>
          <a:xfrm>
            <a:off x="548640" y="14721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Step 1 text"/>
          <p:cNvSpPr txBox="1"/>
          <p:nvPr/>
        </p:nvSpPr>
        <p:spPr>
          <a:xfrm>
            <a:off x="1234440" y="1371600"/>
            <a:ext cx="5120640" cy="658368"/>
          </a:xfrm>
          <a:prstGeom prst="rect">
            <a:avLst/>
          </a:prstGeom>
          <a:noFill/>
          <a:ln/>
        </p:spPr>
        <p:txBody>
          <a:bodyPr wrap="square" lIns="0" tIns="0" rIns="0" bIns="0" rtlCol="0" anchor="ctr"/>
          <a:lstStyle/>
          <a:p>
            <a:pPr indent="0" marL="0">
              <a:buNone/>
            </a:pPr>
            <a:r>
              <a:rPr lang="en-US" sz="1600" dirty="0">
                <a:solidFill>
                  <a:schemeClr val="tx1"/>
                </a:solidFill>
              </a:rPr>
              <a:t>Wi-Fi off, click Load demo data: 20 resumes ranked in ~90 ms</a:t>
            </a:r>
            <a:endParaRPr lang="en-US" sz="1600" dirty="0"/>
          </a:p>
        </p:txBody>
      </p:sp>
      <p:sp>
        <p:nvSpPr>
          <p:cNvPr id="6" name="Step 2 dot"/>
          <p:cNvSpPr/>
          <p:nvPr/>
        </p:nvSpPr>
        <p:spPr>
          <a:xfrm>
            <a:off x="548640" y="2240280"/>
            <a:ext cx="457200" cy="457200"/>
          </a:xfrm>
          <a:prstGeom prst="ellipse">
            <a:avLst/>
          </a:prstGeom>
          <a:solidFill>
            <a:schemeClr val="accent1"/>
          </a:solidFill>
          <a:ln/>
        </p:spPr>
      </p:sp>
      <p:sp>
        <p:nvSpPr>
          <p:cNvPr id="7" name="Step 2 number"/>
          <p:cNvSpPr txBox="1"/>
          <p:nvPr/>
        </p:nvSpPr>
        <p:spPr>
          <a:xfrm>
            <a:off x="548640" y="22402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Step 2 text"/>
          <p:cNvSpPr txBox="1"/>
          <p:nvPr/>
        </p:nvSpPr>
        <p:spPr>
          <a:xfrm>
            <a:off x="1234440" y="2139696"/>
            <a:ext cx="5120640" cy="658368"/>
          </a:xfrm>
          <a:prstGeom prst="rect">
            <a:avLst/>
          </a:prstGeom>
          <a:noFill/>
          <a:ln/>
        </p:spPr>
        <p:txBody>
          <a:bodyPr wrap="square" lIns="0" tIns="0" rIns="0" bIns="0" rtlCol="0" anchor="ctr"/>
          <a:lstStyle/>
          <a:p>
            <a:pPr indent="0" marL="0">
              <a:buNone/>
            </a:pPr>
            <a:r>
              <a:rPr lang="en-US" sz="1600" dirty="0">
                <a:solidFill>
                  <a:schemeClr val="tx1"/>
                </a:solidFill>
              </a:rPr>
              <a:t>Show JD bias lint: 'IIT/NIT preferred', 'age below 28'</a:t>
            </a:r>
            <a:endParaRPr lang="en-US" sz="1600" dirty="0"/>
          </a:p>
        </p:txBody>
      </p:sp>
      <p:sp>
        <p:nvSpPr>
          <p:cNvPr id="9" name="Step 3 dot"/>
          <p:cNvSpPr/>
          <p:nvPr/>
        </p:nvSpPr>
        <p:spPr>
          <a:xfrm>
            <a:off x="548640" y="3008376"/>
            <a:ext cx="457200" cy="457200"/>
          </a:xfrm>
          <a:prstGeom prst="ellipse">
            <a:avLst/>
          </a:prstGeom>
          <a:solidFill>
            <a:schemeClr val="accent1"/>
          </a:solidFill>
          <a:ln/>
        </p:spPr>
      </p:sp>
      <p:sp>
        <p:nvSpPr>
          <p:cNvPr id="10" name="Step 3 number"/>
          <p:cNvSpPr txBox="1"/>
          <p:nvPr/>
        </p:nvSpPr>
        <p:spPr>
          <a:xfrm>
            <a:off x="548640" y="30083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Step 3 text"/>
          <p:cNvSpPr txBox="1"/>
          <p:nvPr/>
        </p:nvSpPr>
        <p:spPr>
          <a:xfrm>
            <a:off x="1234440" y="2907792"/>
            <a:ext cx="5120640" cy="658368"/>
          </a:xfrm>
          <a:prstGeom prst="rect">
            <a:avLst/>
          </a:prstGeom>
          <a:noFill/>
          <a:ln/>
        </p:spPr>
        <p:txBody>
          <a:bodyPr wrap="square" lIns="0" tIns="0" rIns="0" bIns="0" rtlCol="0" anchor="ctr"/>
          <a:lstStyle/>
          <a:p>
            <a:pPr indent="0" marL="0">
              <a:buNone/>
            </a:pPr>
            <a:r>
              <a:rPr lang="en-US" sz="1600" dirty="0">
                <a:solidFill>
                  <a:schemeClr val="tx1"/>
                </a:solidFill>
              </a:rPr>
              <a:t>Open a score breakdown; show synonym and stuffing signals</a:t>
            </a:r>
            <a:endParaRPr lang="en-US" sz="1600" dirty="0"/>
          </a:p>
        </p:txBody>
      </p:sp>
      <p:sp>
        <p:nvSpPr>
          <p:cNvPr id="12" name="Step 4 dot"/>
          <p:cNvSpPr/>
          <p:nvPr/>
        </p:nvSpPr>
        <p:spPr>
          <a:xfrm>
            <a:off x="548640" y="3776472"/>
            <a:ext cx="457200" cy="457200"/>
          </a:xfrm>
          <a:prstGeom prst="ellipse">
            <a:avLst/>
          </a:prstGeom>
          <a:solidFill>
            <a:schemeClr val="accent1"/>
          </a:solidFill>
          <a:ln/>
        </p:spPr>
      </p:sp>
      <p:sp>
        <p:nvSpPr>
          <p:cNvPr id="13" name="Step 4 number"/>
          <p:cNvSpPr txBox="1"/>
          <p:nvPr/>
        </p:nvSpPr>
        <p:spPr>
          <a:xfrm>
            <a:off x="548640" y="37764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Step 4 text"/>
          <p:cNvSpPr txBox="1"/>
          <p:nvPr/>
        </p:nvSpPr>
        <p:spPr>
          <a:xfrm>
            <a:off x="1234440" y="3675888"/>
            <a:ext cx="5120640" cy="658368"/>
          </a:xfrm>
          <a:prstGeom prst="rect">
            <a:avLst/>
          </a:prstGeom>
          <a:noFill/>
          <a:ln/>
        </p:spPr>
        <p:txBody>
          <a:bodyPr wrap="square" lIns="0" tIns="0" rIns="0" bIns="0" rtlCol="0" anchor="ctr"/>
          <a:lstStyle/>
          <a:p>
            <a:pPr indent="0" marL="0">
              <a:buNone/>
            </a:pPr>
            <a:r>
              <a:rPr lang="en-US" sz="1600" dirty="0">
                <a:solidFill>
                  <a:schemeClr val="tx1"/>
                </a:solidFill>
              </a:rPr>
              <a:t>Blind view and bias check: 0.00 vs 1.1 pts drift</a:t>
            </a:r>
            <a:endParaRPr lang="en-US" sz="1600" dirty="0"/>
          </a:p>
        </p:txBody>
      </p:sp>
      <p:sp>
        <p:nvSpPr>
          <p:cNvPr id="15" name="Step 5 dot"/>
          <p:cNvSpPr/>
          <p:nvPr/>
        </p:nvSpPr>
        <p:spPr>
          <a:xfrm>
            <a:off x="548640" y="4544568"/>
            <a:ext cx="457200" cy="457200"/>
          </a:xfrm>
          <a:prstGeom prst="ellipse">
            <a:avLst/>
          </a:prstGeom>
          <a:solidFill>
            <a:schemeClr val="accent1"/>
          </a:solidFill>
          <a:ln/>
        </p:spPr>
      </p:sp>
      <p:sp>
        <p:nvSpPr>
          <p:cNvPr id="16" name="Step 5 number"/>
          <p:cNvSpPr txBox="1"/>
          <p:nvPr/>
        </p:nvSpPr>
        <p:spPr>
          <a:xfrm>
            <a:off x="548640" y="45445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Step 5 text"/>
          <p:cNvSpPr txBox="1"/>
          <p:nvPr/>
        </p:nvSpPr>
        <p:spPr>
          <a:xfrm>
            <a:off x="1234440" y="4443984"/>
            <a:ext cx="5120640" cy="658368"/>
          </a:xfrm>
          <a:prstGeom prst="rect">
            <a:avLst/>
          </a:prstGeom>
          <a:noFill/>
          <a:ln/>
        </p:spPr>
        <p:txBody>
          <a:bodyPr wrap="square" lIns="0" tIns="0" rIns="0" bIns="0" rtlCol="0" anchor="ctr"/>
          <a:lstStyle/>
          <a:p>
            <a:pPr indent="0" marL="0">
              <a:buNone/>
            </a:pPr>
            <a:r>
              <a:rPr lang="en-US" sz="1600" dirty="0">
                <a:solidFill>
                  <a:schemeClr val="tx1"/>
                </a:solidFill>
              </a:rPr>
              <a:t>Candidate coach: gaps, learning path, bullet rewrites</a:t>
            </a:r>
            <a:endParaRPr lang="en-US" sz="1600" dirty="0"/>
          </a:p>
        </p:txBody>
      </p:sp>
      <p:sp>
        <p:nvSpPr>
          <p:cNvPr id="18" name="Step 6 dot"/>
          <p:cNvSpPr/>
          <p:nvPr/>
        </p:nvSpPr>
        <p:spPr>
          <a:xfrm>
            <a:off x="548640" y="5312664"/>
            <a:ext cx="457200" cy="457200"/>
          </a:xfrm>
          <a:prstGeom prst="ellipse">
            <a:avLst/>
          </a:prstGeom>
          <a:solidFill>
            <a:schemeClr val="accent1"/>
          </a:solidFill>
          <a:ln/>
        </p:spPr>
      </p:sp>
      <p:sp>
        <p:nvSpPr>
          <p:cNvPr id="19" name="Step 6 number"/>
          <p:cNvSpPr txBox="1"/>
          <p:nvPr/>
        </p:nvSpPr>
        <p:spPr>
          <a:xfrm>
            <a:off x="548640" y="53126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0" name="Step 6 text"/>
          <p:cNvSpPr txBox="1"/>
          <p:nvPr/>
        </p:nvSpPr>
        <p:spPr>
          <a:xfrm>
            <a:off x="1234440" y="5212080"/>
            <a:ext cx="5120640" cy="658368"/>
          </a:xfrm>
          <a:prstGeom prst="rect">
            <a:avLst/>
          </a:prstGeom>
          <a:noFill/>
          <a:ln/>
        </p:spPr>
        <p:txBody>
          <a:bodyPr wrap="square" lIns="0" tIns="0" rIns="0" bIns="0" rtlCol="0" anchor="ctr"/>
          <a:lstStyle/>
          <a:p>
            <a:pPr indent="0" marL="0">
              <a:buNone/>
            </a:pPr>
            <a:r>
              <a:rPr lang="en-US" sz="1600" dirty="0">
                <a:solidFill>
                  <a:schemeClr val="tx1"/>
                </a:solidFill>
              </a:rPr>
              <a:t>How it works: run the live evaluation</a:t>
            </a:r>
            <a:endParaRPr lang="en-US" sz="1600" dirty="0"/>
          </a:p>
        </p:txBody>
      </p:sp>
      <p:sp>
        <p:nvSpPr>
          <p:cNvPr id="21" name="Demo screenshot frame"/>
          <p:cNvSpPr/>
          <p:nvPr/>
        </p:nvSpPr>
        <p:spPr>
          <a:xfrm>
            <a:off x="6528816" y="1545336"/>
            <a:ext cx="5138928" cy="3252978"/>
          </a:xfrm>
          <a:prstGeom prst="roundRect">
            <a:avLst>
              <a:gd name="adj" fmla="val 2249"/>
            </a:avLst>
          </a:prstGeom>
          <a:solidFill>
            <a:schemeClr val="bg1"/>
          </a:solidFill>
          <a:ln w="12700">
            <a:solidFill>
              <a:schemeClr val="bg2"/>
            </a:solidFill>
            <a:prstDash val="solid"/>
          </a:ln>
          <a:effectLst>
            <a:outerShdw sx="100000" sy="100000" kx="0" ky="0" algn="bl" rotWithShape="0" blurRad="101600" dist="25400" dir="5400000">
              <a:srgbClr val="000000">
                <a:alpha val="14000"/>
              </a:srgbClr>
            </a:outerShdw>
          </a:effectLst>
        </p:spPr>
      </p:sp>
      <p:pic>
        <p:nvPicPr>
          <p:cNvPr id="22" name="Demo screenshot" descr="ResumeRadar screenshot">    </p:cNvPr>
          <p:cNvPicPr>
            <a:picLocks noChangeAspect="1"/>
          </p:cNvPicPr>
          <p:nvPr/>
        </p:nvPicPr>
        <p:blipFill>
          <a:blip r:embed="rId1"/>
          <a:stretch>
            <a:fillRect/>
          </a:stretch>
        </p:blipFill>
        <p:spPr>
          <a:xfrm>
            <a:off x="6583680" y="1600200"/>
            <a:ext cx="5029200" cy="3143250"/>
          </a:xfrm>
          <a:prstGeom prst="rect">
            <a:avLst/>
          </a:prstGeom>
        </p:spPr>
      </p:pic>
      <p:sp>
        <p:nvSpPr>
          <p:cNvPr id="23" name="Run command"/>
          <p:cNvSpPr txBox="1"/>
          <p:nvPr/>
        </p:nvSpPr>
        <p:spPr>
          <a:xfrm>
            <a:off x="6583680" y="5029200"/>
            <a:ext cx="5029200" cy="457200"/>
          </a:xfrm>
          <a:prstGeom prst="rect">
            <a:avLst/>
          </a:prstGeom>
          <a:noFill/>
          <a:ln/>
        </p:spPr>
        <p:txBody>
          <a:bodyPr wrap="square" lIns="0" tIns="0" rIns="0" bIns="0" rtlCol="0" anchor="ctr"/>
          <a:lstStyle/>
          <a:p>
            <a:pPr algn="ctr" indent="0" marL="0">
              <a:buNone/>
            </a:pPr>
            <a:r>
              <a:rPr lang="en-US" sz="1400" dirty="0">
                <a:solidFill>
                  <a:schemeClr val="accent3"/>
                </a:solidFill>
                <a:latin typeface="Courier New" pitchFamily="34" charset="0"/>
                <a:ea typeface="Courier New" pitchFamily="34" charset="-122"/>
                <a:cs typeface="Courier New" pitchFamily="34" charset="-120"/>
              </a:rPr>
              <a:t>python app.py  →  http://localhost:8008</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Feasibility, business model &amp; roadmap</a:t>
            </a:r>
            <a:endParaRPr lang="en-US" sz="3600" dirty="0"/>
          </a:p>
        </p:txBody>
      </p:sp>
      <p:sp>
        <p:nvSpPr>
          <p:cNvPr id="3" name="Business model card"/>
          <p:cNvSpPr/>
          <p:nvPr/>
        </p:nvSpPr>
        <p:spPr>
          <a:xfrm>
            <a:off x="548640" y="1371600"/>
            <a:ext cx="5410048" cy="4297680"/>
          </a:xfrm>
          <a:prstGeom prst="roundRect">
            <a:avLst>
              <a:gd name="adj" fmla="val 2553"/>
            </a:avLst>
          </a:prstGeom>
          <a:solidFill>
            <a:schemeClr val="bg2"/>
          </a:solidFill>
          <a:ln/>
        </p:spPr>
      </p:sp>
      <p:sp>
        <p:nvSpPr>
          <p:cNvPr id="4" name="Business model circle"/>
          <p:cNvSpPr/>
          <p:nvPr/>
        </p:nvSpPr>
        <p:spPr>
          <a:xfrm>
            <a:off x="868680" y="1645920"/>
            <a:ext cx="548640" cy="548640"/>
          </a:xfrm>
          <a:prstGeom prst="ellipse">
            <a:avLst/>
          </a:prstGeom>
          <a:solidFill>
            <a:schemeClr val="accent1"/>
          </a:solidFill>
          <a:ln/>
        </p:spPr>
      </p:sp>
      <p:pic>
        <p:nvPicPr>
          <p:cNvPr id="5" name="Business model icon" descr="preencoded.png">    </p:cNvPr>
          <p:cNvPicPr>
            <a:picLocks noChangeAspect="1"/>
          </p:cNvPicPr>
          <p:nvPr/>
        </p:nvPicPr>
        <p:blipFill>
          <a:blip r:embed="rId1"/>
          <a:stretch>
            <a:fillRect/>
          </a:stretch>
        </p:blipFill>
        <p:spPr>
          <a:xfrm>
            <a:off x="1005840" y="1783080"/>
            <a:ext cx="274320" cy="274320"/>
          </a:xfrm>
          <a:prstGeom prst="rect">
            <a:avLst/>
          </a:prstGeom>
        </p:spPr>
      </p:pic>
      <p:sp>
        <p:nvSpPr>
          <p:cNvPr id="6" name="Business model title"/>
          <p:cNvSpPr txBox="1"/>
          <p:nvPr/>
        </p:nvSpPr>
        <p:spPr>
          <a:xfrm>
            <a:off x="1600200" y="1645920"/>
            <a:ext cx="4038448" cy="548640"/>
          </a:xfrm>
          <a:prstGeom prst="rect">
            <a:avLst/>
          </a:prstGeom>
          <a:noFill/>
          <a:ln/>
        </p:spPr>
        <p:txBody>
          <a:bodyPr wrap="square" lIns="0" tIns="0" rIns="0" bIns="0" rtlCol="0" anchor="ctr"/>
          <a:lstStyle/>
          <a:p>
            <a:pPr indent="0" marL="0">
              <a:buNone/>
            </a:pPr>
            <a:r>
              <a:rPr lang="en-US" sz="2000" b="1" dirty="0">
                <a:solidFill>
                  <a:schemeClr val="tx1"/>
                </a:solidFill>
              </a:rPr>
              <a:t>Business model</a:t>
            </a:r>
            <a:endParaRPr lang="en-US" sz="2000" dirty="0"/>
          </a:p>
        </p:txBody>
      </p:sp>
      <p:sp>
        <p:nvSpPr>
          <p:cNvPr id="7" name="Business model list"/>
          <p:cNvSpPr txBox="1"/>
          <p:nvPr/>
        </p:nvSpPr>
        <p:spPr>
          <a:xfrm>
            <a:off x="914400" y="2468880"/>
            <a:ext cx="4678528"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Free candidate coach for students and colleges</a:t>
            </a:r>
            <a:endParaRPr lang="en-US" sz="1600" dirty="0"/>
          </a:p>
          <a:p>
            <a:pPr marL="228600" indent="-228600">
              <a:spcAft>
                <a:spcPts val="1000"/>
              </a:spcAft>
              <a:buSzPct val="100000"/>
              <a:buChar char="•"/>
            </a:pPr>
            <a:r>
              <a:rPr lang="en-US" sz="1600" dirty="0">
                <a:solidFill>
                  <a:schemeClr val="tx1"/>
                </a:solidFill>
              </a:rPr>
              <a:t>Recruiter licence per seat or per hiring drive</a:t>
            </a:r>
            <a:endParaRPr lang="en-US" sz="1600" dirty="0"/>
          </a:p>
          <a:p>
            <a:pPr marL="228600" indent="-228600">
              <a:spcAft>
                <a:spcPts val="1000"/>
              </a:spcAft>
              <a:buSzPct val="100000"/>
              <a:buChar char="•"/>
            </a:pPr>
            <a:r>
              <a:rPr lang="en-US" sz="1600" dirty="0">
                <a:solidFill>
                  <a:schemeClr val="tx1"/>
                </a:solidFill>
              </a:rPr>
              <a:t>On-premise edition for firms that cannot use SaaS</a:t>
            </a:r>
            <a:endParaRPr lang="en-US" sz="1600" dirty="0"/>
          </a:p>
          <a:p>
            <a:pPr marL="228600" indent="-228600">
              <a:spcAft>
                <a:spcPts val="1000"/>
              </a:spcAft>
              <a:buSzPct val="100000"/>
              <a:buChar char="•"/>
            </a:pPr>
            <a:r>
              <a:rPr lang="en-US" sz="1600" dirty="0">
                <a:solidFill>
                  <a:schemeClr val="tx1"/>
                </a:solidFill>
              </a:rPr>
              <a:t>Paid domain ontology packs and ATS integrations</a:t>
            </a:r>
            <a:endParaRPr lang="en-US" sz="1600" dirty="0"/>
          </a:p>
        </p:txBody>
      </p:sp>
      <p:sp>
        <p:nvSpPr>
          <p:cNvPr id="8" name="Future scope card"/>
          <p:cNvSpPr/>
          <p:nvPr/>
        </p:nvSpPr>
        <p:spPr>
          <a:xfrm>
            <a:off x="6233008" y="1371600"/>
            <a:ext cx="5410048" cy="4297680"/>
          </a:xfrm>
          <a:prstGeom prst="roundRect">
            <a:avLst>
              <a:gd name="adj" fmla="val 2553"/>
            </a:avLst>
          </a:prstGeom>
          <a:solidFill>
            <a:schemeClr val="accent2"/>
          </a:solidFill>
          <a:ln/>
        </p:spPr>
      </p:sp>
      <p:sp>
        <p:nvSpPr>
          <p:cNvPr id="9" name="Future scope circle"/>
          <p:cNvSpPr/>
          <p:nvPr/>
        </p:nvSpPr>
        <p:spPr>
          <a:xfrm>
            <a:off x="6553048" y="1645920"/>
            <a:ext cx="548640" cy="548640"/>
          </a:xfrm>
          <a:prstGeom prst="ellipse">
            <a:avLst/>
          </a:prstGeom>
          <a:solidFill>
            <a:schemeClr val="accent1"/>
          </a:solidFill>
          <a:ln/>
        </p:spPr>
      </p:sp>
      <p:pic>
        <p:nvPicPr>
          <p:cNvPr id="10" name="Future scope icon" descr="preencoded.png">    </p:cNvPr>
          <p:cNvPicPr>
            <a:picLocks noChangeAspect="1"/>
          </p:cNvPicPr>
          <p:nvPr/>
        </p:nvPicPr>
        <p:blipFill>
          <a:blip r:embed="rId2"/>
          <a:stretch>
            <a:fillRect/>
          </a:stretch>
        </p:blipFill>
        <p:spPr>
          <a:xfrm>
            <a:off x="6690208" y="1783080"/>
            <a:ext cx="274320" cy="274320"/>
          </a:xfrm>
          <a:prstGeom prst="rect">
            <a:avLst/>
          </a:prstGeom>
        </p:spPr>
      </p:pic>
      <p:sp>
        <p:nvSpPr>
          <p:cNvPr id="11" name="Future scope title"/>
          <p:cNvSpPr txBox="1"/>
          <p:nvPr/>
        </p:nvSpPr>
        <p:spPr>
          <a:xfrm>
            <a:off x="7284568" y="1645920"/>
            <a:ext cx="4038448" cy="548640"/>
          </a:xfrm>
          <a:prstGeom prst="rect">
            <a:avLst/>
          </a:prstGeom>
          <a:noFill/>
          <a:ln/>
        </p:spPr>
        <p:txBody>
          <a:bodyPr wrap="square" lIns="0" tIns="0" rIns="0" bIns="0" rtlCol="0" anchor="ctr"/>
          <a:lstStyle/>
          <a:p>
            <a:pPr indent="0" marL="0">
              <a:buNone/>
            </a:pPr>
            <a:r>
              <a:rPr lang="en-US" sz="2000" b="1" dirty="0">
                <a:solidFill>
                  <a:schemeClr val="tx1"/>
                </a:solidFill>
              </a:rPr>
              <a:t>Future scope</a:t>
            </a:r>
            <a:endParaRPr lang="en-US" sz="2000" dirty="0"/>
          </a:p>
        </p:txBody>
      </p:sp>
      <p:sp>
        <p:nvSpPr>
          <p:cNvPr id="12" name="Future scope list"/>
          <p:cNvSpPr txBox="1"/>
          <p:nvPr/>
        </p:nvSpPr>
        <p:spPr>
          <a:xfrm>
            <a:off x="6598768" y="2468880"/>
            <a:ext cx="4678528" cy="30175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Offline PDF/DOCX import</a:t>
            </a:r>
            <a:endParaRPr lang="en-US" sz="1600" dirty="0"/>
          </a:p>
          <a:p>
            <a:pPr marL="228600" indent="-228600">
              <a:spcAft>
                <a:spcPts val="1000"/>
              </a:spcAft>
              <a:buSzPct val="100000"/>
              <a:buChar char="•"/>
            </a:pPr>
            <a:r>
              <a:rPr lang="en-US" sz="1600" dirty="0">
                <a:solidFill>
                  <a:schemeClr val="tx1"/>
                </a:solidFill>
              </a:rPr>
              <a:t>Weights learned from recruiter decisions, still explainable</a:t>
            </a:r>
            <a:endParaRPr lang="en-US" sz="1600" dirty="0"/>
          </a:p>
          <a:p>
            <a:pPr marL="228600" indent="-228600">
              <a:spcAft>
                <a:spcPts val="1000"/>
              </a:spcAft>
              <a:buSzPct val="100000"/>
              <a:buChar char="•"/>
            </a:pPr>
            <a:r>
              <a:rPr lang="en-US" sz="1600" dirty="0">
                <a:solidFill>
                  <a:schemeClr val="tx1"/>
                </a:solidFill>
              </a:rPr>
              <a:t>Tamil and Hindi resume support</a:t>
            </a:r>
            <a:endParaRPr lang="en-US" sz="1600" dirty="0"/>
          </a:p>
          <a:p>
            <a:pPr marL="228600" indent="-228600">
              <a:spcAft>
                <a:spcPts val="1000"/>
              </a:spcAft>
              <a:buSzPct val="100000"/>
              <a:buChar char="•"/>
            </a:pPr>
            <a:r>
              <a:rPr lang="en-US" sz="1600" dirty="0">
                <a:solidFill>
                  <a:schemeClr val="tx1"/>
                </a:solidFill>
              </a:rPr>
              <a:t>Exportable fairness audit per hiring drive</a:t>
            </a:r>
            <a:endParaRPr lang="en-US" sz="1600" dirty="0"/>
          </a:p>
          <a:p>
            <a:pPr marL="228600" indent="-228600">
              <a:spcAft>
                <a:spcPts val="1000"/>
              </a:spcAft>
              <a:buSzPct val="100000"/>
              <a:buChar char="•"/>
            </a:pPr>
            <a:r>
              <a:rPr lang="en-US" sz="1600" dirty="0">
                <a:solidFill>
                  <a:schemeClr val="tx1"/>
                </a:solidFill>
              </a:rPr>
              <a:t>Optional embeddings, checked by the same bias test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hanks"/>
          <p:cNvSpPr txBox="1"/>
          <p:nvPr/>
        </p:nvSpPr>
        <p:spPr>
          <a:xfrm>
            <a:off x="548640" y="1463040"/>
            <a:ext cx="6400800" cy="1097280"/>
          </a:xfrm>
          <a:prstGeom prst="rect">
            <a:avLst/>
          </a:prstGeom>
          <a:noFill/>
          <a:ln/>
        </p:spPr>
        <p:txBody>
          <a:bodyPr wrap="square" lIns="0" tIns="0" rIns="0" bIns="0" rtlCol="0" anchor="ctr"/>
          <a:lstStyle/>
          <a:p>
            <a:pPr indent="0" marL="0">
              <a:buNone/>
            </a:pPr>
            <a:r>
              <a:rPr lang="en-US" sz="6000" b="1" dirty="0">
                <a:solidFill>
                  <a:schemeClr val="bg1"/>
                </a:solidFill>
              </a:rPr>
              <a:t>Thank you</a:t>
            </a:r>
            <a:endParaRPr lang="en-US" sz="6000" dirty="0"/>
          </a:p>
        </p:txBody>
      </p:sp>
      <p:sp>
        <p:nvSpPr>
          <p:cNvPr id="3" name="Thanks tagline"/>
          <p:cNvSpPr txBox="1"/>
          <p:nvPr/>
        </p:nvSpPr>
        <p:spPr>
          <a:xfrm>
            <a:off x="548640" y="2651760"/>
            <a:ext cx="6400800" cy="822960"/>
          </a:xfrm>
          <a:prstGeom prst="rect">
            <a:avLst/>
          </a:prstGeom>
          <a:noFill/>
          <a:ln/>
        </p:spPr>
        <p:txBody>
          <a:bodyPr wrap="square" lIns="0" tIns="0" rIns="0" bIns="0" rtlCol="0" anchor="t"/>
          <a:lstStyle/>
          <a:p>
            <a:pPr indent="0" marL="0">
              <a:buNone/>
            </a:pPr>
            <a:r>
              <a:rPr lang="en-US" sz="2000" dirty="0">
                <a:solidFill>
                  <a:schemeClr val="accent6"/>
                </a:solidFill>
              </a:rPr>
              <a:t>ResumeRadar · Fair, explainable AI resume screening and career coaching</a:t>
            </a:r>
            <a:endParaRPr lang="en-US" sz="2000" dirty="0"/>
          </a:p>
        </p:txBody>
      </p:sp>
      <p:sp>
        <p:nvSpPr>
          <p:cNvPr id="4" name="Links"/>
          <p:cNvSpPr txBox="1"/>
          <p:nvPr/>
        </p:nvSpPr>
        <p:spPr>
          <a:xfrm>
            <a:off x="548640" y="3931920"/>
            <a:ext cx="10515600" cy="914400"/>
          </a:xfrm>
          <a:prstGeom prst="rect">
            <a:avLst/>
          </a:prstGeom>
          <a:noFill/>
          <a:ln/>
        </p:spPr>
        <p:txBody>
          <a:bodyPr wrap="square" lIns="0" tIns="0" rIns="0" bIns="0" rtlCol="0" anchor="t"/>
          <a:lstStyle/>
          <a:p>
            <a:pPr indent="0" marL="0">
              <a:spcAft>
                <a:spcPts val="800"/>
              </a:spcAft>
              <a:buNone/>
            </a:pPr>
            <a:r>
              <a:rPr lang="en-US" sz="1500" b="1" dirty="0">
                <a:solidFill>
                  <a:schemeClr val="accent6"/>
                </a:solidFill>
              </a:rPr>
              <a:t>Code  </a:t>
            </a:r>
            <a:pPr indent="0" marL="0">
              <a:spcAft>
                <a:spcPts val="800"/>
              </a:spcAft>
              <a:buNone/>
            </a:pPr>
            <a:r>
              <a:rPr lang="en-US" sz="1500" dirty="0">
                <a:solidFill>
                  <a:schemeClr val="bg1"/>
                </a:solidFill>
              </a:rPr>
              <a:t>https://github.com/jayeskumar/a/tree/claude/confident-fermi-dpeh2g/projects/08-resumeradar</a:t>
            </a:r>
            <a:endParaRPr lang="en-US" sz="1500" dirty="0"/>
          </a:p>
          <a:p>
            <a:pPr indent="0" marL="0">
              <a:spcAft>
                <a:spcPts val="800"/>
              </a:spcAft>
              <a:buNone/>
            </a:pPr>
            <a:r>
              <a:rPr lang="en-US" sz="1500" b="1" dirty="0">
                <a:solidFill>
                  <a:schemeClr val="accent6"/>
                </a:solidFill>
              </a:rPr>
              <a:t>Run  </a:t>
            </a:r>
            <a:pPr indent="0" marL="0">
              <a:spcAft>
                <a:spcPts val="800"/>
              </a:spcAft>
              <a:buNone/>
            </a:pPr>
            <a:r>
              <a:rPr lang="en-US" sz="1500" dirty="0">
                <a:solidFill>
                  <a:schemeClr val="bg1"/>
                </a:solidFill>
                <a:latin typeface="Courier New" pitchFamily="34" charset="0"/>
                <a:ea typeface="Courier New" pitchFamily="34" charset="-122"/>
                <a:cs typeface="Courier New" pitchFamily="34" charset="-120"/>
              </a:rPr>
              <a:t>cd projects/08-resumeradar &amp;&amp; python app.py</a:t>
            </a:r>
            <a:endParaRPr lang="en-US" sz="1500" dirty="0"/>
          </a:p>
        </p:txBody>
      </p:sp>
      <p:sp>
        <p:nvSpPr>
          <p:cNvPr id="5" name="Questions"/>
          <p:cNvSpPr txBox="1"/>
          <p:nvPr/>
        </p:nvSpPr>
        <p:spPr>
          <a:xfrm>
            <a:off x="548640" y="5303520"/>
            <a:ext cx="5486400" cy="640080"/>
          </a:xfrm>
          <a:prstGeom prst="rect">
            <a:avLst/>
          </a:prstGeom>
          <a:noFill/>
          <a:ln/>
        </p:spPr>
        <p:txBody>
          <a:bodyPr wrap="square" lIns="0" tIns="0" rIns="0" bIns="0" rtlCol="0" anchor="ctr"/>
          <a:lstStyle/>
          <a:p>
            <a:pPr indent="0" marL="0">
              <a:buNone/>
            </a:pPr>
            <a:r>
              <a:rPr lang="en-US" sz="2600" b="1" dirty="0">
                <a:solidFill>
                  <a:schemeClr val="accent6"/>
                </a:solidFill>
              </a:rPr>
              <a:t>Questions?</a:t>
            </a:r>
            <a:endParaRPr lang="en-US" sz="2600" dirty="0"/>
          </a:p>
        </p:txBody>
      </p:sp>
      <p:sp>
        <p:nvSpPr>
          <p:cNvPr id="6" name="QR card"/>
          <p:cNvSpPr/>
          <p:nvPr/>
        </p:nvSpPr>
        <p:spPr>
          <a:xfrm>
            <a:off x="9098280" y="1234440"/>
            <a:ext cx="2514600" cy="2514600"/>
          </a:xfrm>
          <a:prstGeom prst="roundRect">
            <a:avLst>
              <a:gd name="adj" fmla="val 4364"/>
            </a:avLst>
          </a:prstGeom>
          <a:solidFill>
            <a:schemeClr val="bg1"/>
          </a:solidFill>
          <a:ln/>
        </p:spPr>
      </p:sp>
      <p:pic>
        <p:nvPicPr>
          <p:cNvPr id="7" name="QR code" descr="QR code linking to the project's code">    </p:cNvPr>
          <p:cNvPicPr>
            <a:picLocks noChangeAspect="1"/>
          </p:cNvPicPr>
          <p:nvPr/>
        </p:nvPicPr>
        <p:blipFill>
          <a:blip r:embed="rId1"/>
          <a:stretch>
            <a:fillRect/>
          </a:stretch>
        </p:blipFill>
        <p:spPr>
          <a:xfrm>
            <a:off x="9189720" y="1325880"/>
            <a:ext cx="2331720" cy="2331720"/>
          </a:xfrm>
          <a:prstGeom prst="rect">
            <a:avLst/>
          </a:prstGeom>
        </p:spPr>
      </p:pic>
      <p:sp>
        <p:nvSpPr>
          <p:cNvPr id="8" name="QR caption"/>
          <p:cNvSpPr txBox="1"/>
          <p:nvPr/>
        </p:nvSpPr>
        <p:spPr>
          <a:xfrm>
            <a:off x="9098280" y="3767328"/>
            <a:ext cx="2514600" cy="274320"/>
          </a:xfrm>
          <a:prstGeom prst="rect">
            <a:avLst/>
          </a:prstGeom>
          <a:noFill/>
          <a:ln/>
        </p:spPr>
        <p:txBody>
          <a:bodyPr wrap="square" lIns="0" tIns="0" rIns="0" bIns="0" rtlCol="0" anchor="ctr"/>
          <a:lstStyle/>
          <a:p>
            <a:pPr algn="ctr" indent="0" marL="0">
              <a:buNone/>
            </a:pPr>
            <a:r>
              <a:rPr lang="en-US" sz="1200" dirty="0">
                <a:solidFill>
                  <a:schemeClr val="accent6"/>
                </a:solidFill>
              </a:rPr>
              <a:t>Scan for the code</a:t>
            </a:r>
            <a:endParaRPr lang="en-US" sz="1200" dirty="0"/>
          </a:p>
        </p:txBody>
      </p:sp>
    </p:spTree>
  </p:cSld>
  <p:clrMapOvr>
    <a:masterClrMapping/>
  </p:clrMapOvr>
</p:sld>
</file>

<file path=ppt/theme/theme1.xml><?xml version="1.0" encoding="utf-8"?>
<a:theme xmlns:a="http://schemas.openxmlformats.org/drawingml/2006/main" name="ResumeRadar QUANTIX">
  <a:themeElements>
    <a:clrScheme name="ResumeRadar QUANTIX">
      <a:dk1>
        <a:srgbClr val="141B34"/>
      </a:dk1>
      <a:lt1>
        <a:srgbClr val="FFFFFF"/>
      </a:lt1>
      <a:dk2>
        <a:srgbClr val="0B1026"/>
      </a:dk2>
      <a:lt2>
        <a:srgbClr val="F3F4F8"/>
      </a:lt2>
      <a:accent1>
        <a:srgbClr val="DB2777"/>
      </a:accent1>
      <a:accent2>
        <a:srgbClr val="FBE5EF"/>
      </a:accent2>
      <a:accent3>
        <a:srgbClr val="8E194D"/>
      </a:accent3>
      <a:accent4>
        <a:srgbClr val="5B6478"/>
      </a:accent4>
      <a:accent5>
        <a:srgbClr val="391538"/>
      </a:accent5>
      <a:accent6>
        <a:srgbClr val="EB88B4"/>
      </a:accent6>
      <a:hlink>
        <a:srgbClr val="AF1F5F"/>
      </a:hlink>
      <a:folHlink>
        <a:srgbClr val="5B6478"/>
      </a:folHlink>
    </a:clrScheme>
    <a:fontScheme name="ResumeRadar QUANTIX">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ResumeRadar – Fair, explainable AI resume screening and career coaching</dc:title>
  <dc:subject>QUANTIX 2K26 · Artificial Intelligence &amp; Machine Learning</dc:subject>
  <dc:creator>Your Team Name</dc:creator>
  <cp:lastModifiedBy>Your Team Name</cp:lastModifiedBy>
  <cp:revision>1</cp:revision>
  <dcterms:created xsi:type="dcterms:W3CDTF">2026-10-20T08:08:40Z</dcterms:created>
  <dcterms:modified xsi:type="dcterms:W3CDTF">2026-10-20T08:08:40Z</dcterms:modified>
</cp:coreProperties>
</file>