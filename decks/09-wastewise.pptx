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b4f0227-750c-c626-7eba-c65cc5daee65}">
          <p14:sldIdLst>
            <p14:sldId id="256"/>
          </p14:sldIdLst>
        </p14:section>
        <p14:section name="Problem &amp; solution" id="{cce27241-8aa1-95cc-5a29-ca35cea5d266}">
          <p14:sldIdLst>
            <p14:sldId id="257"/>
            <p14:sldId id="258"/>
          </p14:sldIdLst>
        </p14:section>
        <p14:section name="Product" id="{7ea2a669-189c-9188-4c9b-808dfbbf1c11}">
          <p14:sldIdLst>
            <p14:sldId id="259"/>
            <p14:sldId id="260"/>
            <p14:sldId id="261"/>
          </p14:sldIdLst>
        </p14:section>
        <p14:section name="Why us" id="{4b967429-9b56-82c2-1359-eba14190fbbe}">
          <p14:sldIdLst>
            <p14:sldId id="262"/>
            <p14:sldId id="263"/>
          </p14:sldIdLst>
        </p14:section>
        <p14:section name="Demo" id="{96c6af7e-83d5-a1c7-e843-5274a7d89e78}">
          <p14:sldIdLst>
            <p14:sldId id="264"/>
          </p14:sldIdLst>
        </p14:section>
        <p14:section name="Roadmap" id="{c200f359-6bfe-5136-0282-45b11c8a5c73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Smart bins and optimised collection routes for cleaner cities. Introduce the team,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Trucks follow fixed beats, whatever the bins hold Half-full bins get emptied while market bins overflow Wasted diesel, crew hours and CO2 every single day Citizens unsure which bin an item goes in Key numbers: 1.5 lakh+ t/day urban solid waste generated in India (CPCB, approx.); 3 streams wet / dry / hazardous segregation required by SWM Rules 2016; 40% avg bin fill at pickup on a fixed beat (our simulation).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Forecast every bin's fill and time-to-full Collect only bins that need it, with a stated reason Clarke-Wright + 2-opt routes for 3 capacity-limited trucks Bilingual bin guide and green-points ward leaderboard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Fill forecaster: Seasonal smoothing learns weekday and market-day spikes; hours to full. Explainable pickups: Rule A: &gt;=75% at pickup. Rule B: overflow guard with +1 sigma margin. Route optimiser: Clarke-Wright savings, 2-opt and truck packing in under 1 ms. Live map playback: Animated trucks, bins coloured by fill, fixed beat toggle. Day simulator: Same waste, two policies: km, diesel, CO2 and overflows side by side. Which bin? EN/TA: Naive Bayes on English, Tamil and Tanglish names; green points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top to bottom: Smart bin sensors (simulated) -&gt; daily fill readings. Forecaster -&gt; predicted fill at pickup and tomorrow. Planner rules A/B -&gt; today's bins with reasons. Clarke-Wright + 2-opt + LPT -&gt; truck trips in shift. Simulator -&gt; fixed beat vs WasteWise on same waste. Python stdlib API -&gt; vanilla JS + SVG dashboard. Stack: Python 3 standard library only, http.server JSON API, Vanilla HTML/CSS/JS, Hand-drawn SVG map and charts, unittest (45 tests), Runs fully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Algorithms: Seasonal exponential smoothing - per-bin daily fill forecast. OLS + weekday dummies (Gaussian elimination) - backtest rival. Clarke-Wright savings - capacitated route construction. 2-opt - uncross each route, never longer. Longest-trip-first packing - trips onto trucks in shift. Multinomial Naive Bayes + char 3-grams - EN/TA bin guide. Stress that nothing is a black box: every decision can be explained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Predicts overflow before it happens, not after Fair baseline: same trucks, window and waste Every pickup, route and answer explained Tamil + Tanglish item names out of the 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-43% truck km and diesel vs fixed beat (30-day sim); 12 -&gt; 1 overflowing bin-days in the month; 0.4 ms daily planning time, CW + 2-opt; 78% bin-guide accuracy on unseen item names. Impact: ~3,650 L diesel and ~9.8 t CO2 a year per 40 bins (sim) ~Rs 3.3 lakh diesel a year per 40 bins at Rs 90/L Fewer overflowing bins near markets and bus stands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1. Run demo: trucks animate, 30 km vs 61.5 km today 2. Toggle fixed beat: 36 half-full pickups, 4 bins left 3. Route card: fixed order 45 -&gt; CW 30.5 -&gt; 2-opt 30 km 4. Click market bin: Wednesday spike, rule B fires 5. Next day: fixed beat overflows, WasteWise none 6. Run to day 30: -43% km, overflows 12 -&gt; 1 7. Ask Tamil 'thengai odu', earn green points, see Impact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SaaS per bin per month for municipalities Sensor + software bundle via local integrators Segregation analytics for compost and recyclers Free campus tier as a showcase Next: Real road network distances and time windows Multi-depot, mixed fleet, inter-route moves Festival and rain effects in the forecaster Driver phone app and Tamil WhatsApp reporting bot Photo-based contamination check at the bin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 line, invite questions. Keep the demo tab open in case judges want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QUANTIX 2K26 · WasteWise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ain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SUSTAINABILITY, CLEANTECH &amp; GREEN ENERGY</a:t>
            </a:r>
            <a:endParaRPr lang="en-US" sz="1200" dirty="0"/>
          </a:p>
        </p:txBody>
      </p:sp>
      <p:sp>
        <p:nvSpPr>
          <p:cNvPr id="3" name="Product name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WasteWise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Smart bins and optimised collection routes for cleaner cities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Your 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QUANTIX 2K26 · 24-hour hackathon · K.S.R. College of Engineering</a:t>
            </a:r>
            <a:endParaRPr lang="en-US" sz="1400" dirty="0"/>
          </a:p>
        </p:txBody>
      </p:sp>
      <p:sp>
        <p:nvSpPr>
          <p:cNvPr id="6" name="Hero screenshot frame"/>
          <p:cNvSpPr/>
          <p:nvPr/>
        </p:nvSpPr>
        <p:spPr>
          <a:xfrm>
            <a:off x="6620256" y="1682496"/>
            <a:ext cx="5047488" cy="3195828"/>
          </a:xfrm>
          <a:prstGeom prst="roundRect">
            <a:avLst>
              <a:gd name="adj" fmla="val 22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Hero screenshot" descr="WasteWi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Problem bullets"/>
          <p:cNvSpPr txBox="1"/>
          <p:nvPr/>
        </p:nvSpPr>
        <p:spPr>
          <a:xfrm>
            <a:off x="1325880" y="13258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Trucks follow fixed beats, whatever the bins hold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Half-full bins get emptied while market bins overflow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Wasted diesel, crew hours and CO2 every single day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Citizens unsure which bin an item goes in</a:t>
            </a:r>
            <a:endParaRPr lang="en-US" sz="2000" dirty="0"/>
          </a:p>
        </p:txBody>
      </p:sp>
      <p:sp>
        <p:nvSpPr>
          <p:cNvPr id="6" name="Stat 1 card"/>
          <p:cNvSpPr/>
          <p:nvPr/>
        </p:nvSpPr>
        <p:spPr>
          <a:xfrm>
            <a:off x="7589520" y="11201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7818120" y="12298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1.5 lakh+ t/day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818120" y="19613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urban solid waste generated in India (CPCB, approx.)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7589520" y="28117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7818120" y="29215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3 streams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7818120" y="36530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wet / dry / hazardous segregation required by SWM Rules 2016</a:t>
            </a:r>
            <a:endParaRPr lang="en-US" sz="1300" dirty="0"/>
          </a:p>
        </p:txBody>
      </p:sp>
      <p:sp>
        <p:nvSpPr>
          <p:cNvPr id="12" name="Stat 3 card"/>
          <p:cNvSpPr/>
          <p:nvPr/>
        </p:nvSpPr>
        <p:spPr>
          <a:xfrm>
            <a:off x="7589520" y="45034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3" name="Stat 3 value"/>
          <p:cNvSpPr txBox="1"/>
          <p:nvPr/>
        </p:nvSpPr>
        <p:spPr>
          <a:xfrm>
            <a:off x="7818120" y="46131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40%</a:t>
            </a:r>
            <a:endParaRPr lang="en-US" sz="4000" dirty="0"/>
          </a:p>
        </p:txBody>
      </p:sp>
      <p:sp>
        <p:nvSpPr>
          <p:cNvPr id="14" name="Stat 3 label"/>
          <p:cNvSpPr txBox="1"/>
          <p:nvPr/>
        </p:nvSpPr>
        <p:spPr>
          <a:xfrm>
            <a:off x="7818120" y="53446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avg bin fill at pickup on a fixed beat (our simulation)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WasteWise</a:t>
            </a:r>
            <a:endParaRPr lang="en-US" sz="3600" dirty="0"/>
          </a:p>
        </p:txBody>
      </p:sp>
      <p:sp>
        <p:nvSpPr>
          <p:cNvPr id="3" name="Solution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Solution bullets"/>
          <p:cNvSpPr txBox="1"/>
          <p:nvPr/>
        </p:nvSpPr>
        <p:spPr>
          <a:xfrm>
            <a:off x="1325880" y="13258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Forecast every bin's fill and time-to-full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Collect only bins that need it, with a stated reason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Clarke-Wright + 2-opt routes for 3 capacity-limited trucks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Bilingual bin guide and green-points ward leaderboard</a:t>
            </a:r>
            <a:endParaRPr lang="en-US" sz="2000" dirty="0"/>
          </a:p>
        </p:txBody>
      </p:sp>
      <p:sp>
        <p:nvSpPr>
          <p:cNvPr id="6" name="Solution screenshot frame"/>
          <p:cNvSpPr/>
          <p:nvPr/>
        </p:nvSpPr>
        <p:spPr>
          <a:xfrm>
            <a:off x="6391656" y="1545336"/>
            <a:ext cx="5276088" cy="3338703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Solution screenshot" descr="WasteWise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166360" cy="32289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554480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Fill forecaster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22960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Seasonal smoothing learns weekday and market-day spikes; hours to full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783080"/>
            <a:ext cx="274320" cy="274320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5344058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Explainable pickups</a:t>
            </a:r>
            <a:endParaRPr lang="en-US" sz="18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4612538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Rule A: &gt;=75% at pickup. Rule B: overflow guard with +1 sigma margin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127797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783080"/>
            <a:ext cx="274320" cy="274320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9133637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Route optimiser</a:t>
            </a:r>
            <a:endParaRPr lang="en-US" sz="18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8402117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Clarke-Wright savings, 2-opt and truck packing in under 1 ms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554480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 map playback</a:t>
            </a:r>
            <a:endParaRPr lang="en-US" sz="18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822960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Animated trucks, bins coloured by fill, fixed beat toggle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251960"/>
            <a:ext cx="274320" cy="274320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5344058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Day simulator</a:t>
            </a:r>
            <a:endParaRPr lang="en-US" sz="18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4612538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Same waste, two policies: km, diesel, CO2 and overflows side by side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127797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4251960"/>
            <a:ext cx="274320" cy="274320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9133637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bin? EN/TA</a:t>
            </a:r>
            <a:endParaRPr lang="en-US" sz="18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8402117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Naive Bayes on English, Tamil and Tanglish names; green points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4" name="Layer 1 text"/>
          <p:cNvSpPr txBox="1"/>
          <p:nvPr/>
        </p:nvSpPr>
        <p:spPr>
          <a:xfrm>
            <a:off x="822960" y="132588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Smart bin sensors (simulated)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daily fill readings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4206240" y="1976628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Layer 2"/>
          <p:cNvSpPr/>
          <p:nvPr/>
        </p:nvSpPr>
        <p:spPr>
          <a:xfrm>
            <a:off x="548640" y="2159508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7" name="Layer 2 text"/>
          <p:cNvSpPr txBox="1"/>
          <p:nvPr/>
        </p:nvSpPr>
        <p:spPr>
          <a:xfrm>
            <a:off x="822960" y="2159508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Forecaster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predicted fill at pickup and tomorrow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206240" y="2810256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Layer 3"/>
          <p:cNvSpPr/>
          <p:nvPr/>
        </p:nvSpPr>
        <p:spPr>
          <a:xfrm>
            <a:off x="548640" y="2993136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0" name="Layer 3 text"/>
          <p:cNvSpPr txBox="1"/>
          <p:nvPr/>
        </p:nvSpPr>
        <p:spPr>
          <a:xfrm>
            <a:off x="822960" y="2993136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Planner rules A/B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today's bins with reasons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4206240" y="3643884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2" name="Layer 4"/>
          <p:cNvSpPr/>
          <p:nvPr/>
        </p:nvSpPr>
        <p:spPr>
          <a:xfrm>
            <a:off x="548640" y="3826764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3" name="Layer 4 text"/>
          <p:cNvSpPr txBox="1"/>
          <p:nvPr/>
        </p:nvSpPr>
        <p:spPr>
          <a:xfrm>
            <a:off x="822960" y="3826764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Clarke-Wright + 2-opt + LPT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truck trips in shift</a:t>
            </a:r>
            <a:endParaRPr lang="en-US" sz="1500" dirty="0"/>
          </a:p>
        </p:txBody>
      </p:sp>
      <p:sp>
        <p:nvSpPr>
          <p:cNvPr id="14" name="Arrow 4"/>
          <p:cNvSpPr/>
          <p:nvPr/>
        </p:nvSpPr>
        <p:spPr>
          <a:xfrm>
            <a:off x="4206240" y="4477512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ayer 5"/>
          <p:cNvSpPr/>
          <p:nvPr/>
        </p:nvSpPr>
        <p:spPr>
          <a:xfrm>
            <a:off x="548640" y="4660392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6" name="Layer 5 text"/>
          <p:cNvSpPr txBox="1"/>
          <p:nvPr/>
        </p:nvSpPr>
        <p:spPr>
          <a:xfrm>
            <a:off x="822960" y="4660392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Simulator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fixed beat vs WasteWise on same waste</a:t>
            </a:r>
            <a:endParaRPr lang="en-US" sz="1500" dirty="0"/>
          </a:p>
        </p:txBody>
      </p:sp>
      <p:sp>
        <p:nvSpPr>
          <p:cNvPr id="17" name="Arrow 5"/>
          <p:cNvSpPr/>
          <p:nvPr/>
        </p:nvSpPr>
        <p:spPr>
          <a:xfrm>
            <a:off x="4206240" y="5311140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6"/>
          <p:cNvSpPr/>
          <p:nvPr/>
        </p:nvSpPr>
        <p:spPr>
          <a:xfrm>
            <a:off x="548640" y="549402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9" name="Layer 6 text"/>
          <p:cNvSpPr txBox="1"/>
          <p:nvPr/>
        </p:nvSpPr>
        <p:spPr>
          <a:xfrm>
            <a:off x="822960" y="549402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Python stdlib API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vanilla JS + SVG dashboard</a:t>
            </a:r>
            <a:endParaRPr lang="en-US" sz="1500" dirty="0"/>
          </a:p>
        </p:txBody>
      </p:sp>
      <p:sp>
        <p:nvSpPr>
          <p:cNvPr id="20" name="Tech card"/>
          <p:cNvSpPr/>
          <p:nvPr/>
        </p:nvSpPr>
        <p:spPr>
          <a:xfrm>
            <a:off x="8412480" y="1325880"/>
            <a:ext cx="3230575" cy="480060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21" name="Tech title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22" name="Tech list"/>
          <p:cNvSpPr txBox="1"/>
          <p:nvPr/>
        </p:nvSpPr>
        <p:spPr>
          <a:xfrm>
            <a:off x="8686800" y="2103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3 standard library only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http.server JSON API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Vanilla HTML/CSS/JS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Hand-drawn SVG map and charts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unittest (45 tests)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Runs fully offline</a:t>
            </a:r>
            <a:endParaRPr lang="en-US" sz="1400" dirty="0"/>
          </a:p>
        </p:txBody>
      </p:sp>
      <p:sp>
        <p:nvSpPr>
          <p:cNvPr id="23" name="Offline note"/>
          <p:cNvSpPr txBox="1"/>
          <p:nvPr/>
        </p:nvSpPr>
        <p:spPr>
          <a:xfrm>
            <a:off x="8686800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Runs fully offline · no installs · python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built from scratch</a:t>
            </a:r>
            <a:endParaRPr lang="en-US" sz="3600" dirty="0"/>
          </a:p>
        </p:txBody>
      </p:sp>
      <p:sp>
        <p:nvSpPr>
          <p:cNvPr id="3" name="Algorithm 1 card"/>
          <p:cNvSpPr/>
          <p:nvPr/>
        </p:nvSpPr>
        <p:spPr>
          <a:xfrm>
            <a:off x="548640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Algorithm 1 number"/>
          <p:cNvSpPr txBox="1"/>
          <p:nvPr/>
        </p:nvSpPr>
        <p:spPr>
          <a:xfrm>
            <a:off x="777240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Algorithm 1 text"/>
          <p:cNvSpPr txBox="1"/>
          <p:nvPr/>
        </p:nvSpPr>
        <p:spPr>
          <a:xfrm>
            <a:off x="1554480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Seasonal exponential smoothing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per-bin daily fill forecast</a:t>
            </a:r>
            <a:endParaRPr lang="en-US" sz="1700" dirty="0"/>
          </a:p>
        </p:txBody>
      </p:sp>
      <p:sp>
        <p:nvSpPr>
          <p:cNvPr id="6" name="Algorithm 2 card"/>
          <p:cNvSpPr/>
          <p:nvPr/>
        </p:nvSpPr>
        <p:spPr>
          <a:xfrm>
            <a:off x="6233008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7" name="Algorithm 2 number"/>
          <p:cNvSpPr txBox="1"/>
          <p:nvPr/>
        </p:nvSpPr>
        <p:spPr>
          <a:xfrm>
            <a:off x="6461608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lgorithm 2 text"/>
          <p:cNvSpPr txBox="1"/>
          <p:nvPr/>
        </p:nvSpPr>
        <p:spPr>
          <a:xfrm>
            <a:off x="7238848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OLS + weekday dummies (Gaussian elimination)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backtest rival</a:t>
            </a:r>
            <a:endParaRPr lang="en-US" sz="1700" dirty="0"/>
          </a:p>
        </p:txBody>
      </p:sp>
      <p:sp>
        <p:nvSpPr>
          <p:cNvPr id="9" name="Algorithm 3 card"/>
          <p:cNvSpPr/>
          <p:nvPr/>
        </p:nvSpPr>
        <p:spPr>
          <a:xfrm>
            <a:off x="548640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Algorithm 3 number"/>
          <p:cNvSpPr txBox="1"/>
          <p:nvPr/>
        </p:nvSpPr>
        <p:spPr>
          <a:xfrm>
            <a:off x="777240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Algorithm 3 text"/>
          <p:cNvSpPr txBox="1"/>
          <p:nvPr/>
        </p:nvSpPr>
        <p:spPr>
          <a:xfrm>
            <a:off x="1554480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Clarke-Wright savings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capacitated route construction</a:t>
            </a:r>
            <a:endParaRPr lang="en-US" sz="1700" dirty="0"/>
          </a:p>
        </p:txBody>
      </p:sp>
      <p:sp>
        <p:nvSpPr>
          <p:cNvPr id="12" name="Algorithm 4 card"/>
          <p:cNvSpPr/>
          <p:nvPr/>
        </p:nvSpPr>
        <p:spPr>
          <a:xfrm>
            <a:off x="6233008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3" name="Algorithm 4 number"/>
          <p:cNvSpPr txBox="1"/>
          <p:nvPr/>
        </p:nvSpPr>
        <p:spPr>
          <a:xfrm>
            <a:off x="6461608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Algorithm 4 text"/>
          <p:cNvSpPr txBox="1"/>
          <p:nvPr/>
        </p:nvSpPr>
        <p:spPr>
          <a:xfrm>
            <a:off x="7238848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2-opt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uncross each route, never longer</a:t>
            </a:r>
            <a:endParaRPr lang="en-US" sz="1700" dirty="0"/>
          </a:p>
        </p:txBody>
      </p:sp>
      <p:sp>
        <p:nvSpPr>
          <p:cNvPr id="15" name="Algorithm 5 card"/>
          <p:cNvSpPr/>
          <p:nvPr/>
        </p:nvSpPr>
        <p:spPr>
          <a:xfrm>
            <a:off x="548640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6" name="Algorithm 5 number"/>
          <p:cNvSpPr txBox="1"/>
          <p:nvPr/>
        </p:nvSpPr>
        <p:spPr>
          <a:xfrm>
            <a:off x="777240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Algorithm 5 text"/>
          <p:cNvSpPr txBox="1"/>
          <p:nvPr/>
        </p:nvSpPr>
        <p:spPr>
          <a:xfrm>
            <a:off x="1554480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Longest-trip-first packing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trips onto trucks in shift</a:t>
            </a:r>
            <a:endParaRPr lang="en-US" sz="1700" dirty="0"/>
          </a:p>
        </p:txBody>
      </p:sp>
      <p:sp>
        <p:nvSpPr>
          <p:cNvPr id="18" name="Algorithm 6 card"/>
          <p:cNvSpPr/>
          <p:nvPr/>
        </p:nvSpPr>
        <p:spPr>
          <a:xfrm>
            <a:off x="6233008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9" name="Algorithm 6 number"/>
          <p:cNvSpPr txBox="1"/>
          <p:nvPr/>
        </p:nvSpPr>
        <p:spPr>
          <a:xfrm>
            <a:off x="6461608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06</a:t>
            </a:r>
            <a:endParaRPr lang="en-US" sz="2800" dirty="0"/>
          </a:p>
        </p:txBody>
      </p:sp>
      <p:sp>
        <p:nvSpPr>
          <p:cNvPr id="20" name="Algorithm 6 text"/>
          <p:cNvSpPr txBox="1"/>
          <p:nvPr/>
        </p:nvSpPr>
        <p:spPr>
          <a:xfrm>
            <a:off x="7238848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Multinomial Naive Bayes + char 3-grams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EN/TA bin guide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Innovation 1 card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4" name="Innovation 1 circle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ova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Innovation 1 text"/>
          <p:cNvSpPr txBox="1"/>
          <p:nvPr/>
        </p:nvSpPr>
        <p:spPr>
          <a:xfrm>
            <a:off x="1783080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Predicts overflow before it happens, not after</a:t>
            </a:r>
            <a:endParaRPr lang="en-US" sz="2000" dirty="0"/>
          </a:p>
        </p:txBody>
      </p:sp>
      <p:sp>
        <p:nvSpPr>
          <p:cNvPr id="7" name="Innovation 2 card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Innovation 2 circle"/>
          <p:cNvSpPr/>
          <p:nvPr/>
        </p:nvSpPr>
        <p:spPr>
          <a:xfrm>
            <a:off x="655304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nova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274570"/>
            <a:ext cx="342900" cy="342900"/>
          </a:xfrm>
          <a:prstGeom prst="rect">
            <a:avLst/>
          </a:prstGeom>
        </p:spPr>
      </p:pic>
      <p:sp>
        <p:nvSpPr>
          <p:cNvPr id="10" name="Innovation 2 text"/>
          <p:cNvSpPr txBox="1"/>
          <p:nvPr/>
        </p:nvSpPr>
        <p:spPr>
          <a:xfrm>
            <a:off x="7467448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Fair baseline: same trucks, window and waste</a:t>
            </a:r>
            <a:endParaRPr lang="en-US" sz="2000" dirty="0"/>
          </a:p>
        </p:txBody>
      </p:sp>
      <p:sp>
        <p:nvSpPr>
          <p:cNvPr id="11" name="Innovation 3 card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Innovation 3 circle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nova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697730"/>
            <a:ext cx="342900" cy="342900"/>
          </a:xfrm>
          <a:prstGeom prst="rect">
            <a:avLst/>
          </a:prstGeom>
        </p:spPr>
      </p:pic>
      <p:sp>
        <p:nvSpPr>
          <p:cNvPr id="14" name="Innovation 3 text"/>
          <p:cNvSpPr txBox="1"/>
          <p:nvPr/>
        </p:nvSpPr>
        <p:spPr>
          <a:xfrm>
            <a:off x="1783080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Every pickup, route and answer explained</a:t>
            </a:r>
            <a:endParaRPr lang="en-US" sz="2000" dirty="0"/>
          </a:p>
        </p:txBody>
      </p:sp>
      <p:sp>
        <p:nvSpPr>
          <p:cNvPr id="15" name="Innovation 4 card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6" name="Innovation 4 circle"/>
          <p:cNvSpPr/>
          <p:nvPr/>
        </p:nvSpPr>
        <p:spPr>
          <a:xfrm>
            <a:off x="6553048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nova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4697730"/>
            <a:ext cx="342900" cy="342900"/>
          </a:xfrm>
          <a:prstGeom prst="rect">
            <a:avLst/>
          </a:prstGeom>
        </p:spPr>
      </p:pic>
      <p:sp>
        <p:nvSpPr>
          <p:cNvPr id="18" name="Innovation 4 text"/>
          <p:cNvSpPr txBox="1"/>
          <p:nvPr/>
        </p:nvSpPr>
        <p:spPr>
          <a:xfrm>
            <a:off x="7467448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Tamil + Tanglish item names out of the box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results</a:t>
            </a:r>
            <a:endParaRPr lang="en-US" sz="3600" dirty="0"/>
          </a:p>
        </p:txBody>
      </p:sp>
      <p:sp>
        <p:nvSpPr>
          <p:cNvPr id="3" name="Result 1 card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sult 1 value"/>
          <p:cNvSpPr txBox="1"/>
          <p:nvPr/>
        </p:nvSpPr>
        <p:spPr>
          <a:xfrm>
            <a:off x="777240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-43%</a:t>
            </a:r>
            <a:endParaRPr lang="en-US" sz="40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777240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truck km and diesel vs fixed beat (30-day sim)</a:t>
            </a:r>
            <a:endParaRPr lang="en-US" sz="1400" dirty="0"/>
          </a:p>
        </p:txBody>
      </p:sp>
      <p:sp>
        <p:nvSpPr>
          <p:cNvPr id="6" name="Result 2 card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Result 2 value"/>
          <p:cNvSpPr txBox="1"/>
          <p:nvPr/>
        </p:nvSpPr>
        <p:spPr>
          <a:xfrm>
            <a:off x="3619424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12 -&gt; 1</a:t>
            </a:r>
            <a:endParaRPr lang="en-US" sz="30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3619424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overflowing bin-days in the month</a:t>
            </a:r>
            <a:endParaRPr lang="en-US" sz="1400" dirty="0"/>
          </a:p>
        </p:txBody>
      </p:sp>
      <p:sp>
        <p:nvSpPr>
          <p:cNvPr id="9" name="Result 3 card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Result 3 value"/>
          <p:cNvSpPr txBox="1"/>
          <p:nvPr/>
        </p:nvSpPr>
        <p:spPr>
          <a:xfrm>
            <a:off x="6461608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0.4 ms</a:t>
            </a:r>
            <a:endParaRPr lang="en-US" sz="40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6461608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daily planning time, CW + 2-opt</a:t>
            </a:r>
            <a:endParaRPr lang="en-US" sz="1400" dirty="0"/>
          </a:p>
        </p:txBody>
      </p:sp>
      <p:sp>
        <p:nvSpPr>
          <p:cNvPr id="12" name="Result 4 card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Result 4 value"/>
          <p:cNvSpPr txBox="1"/>
          <p:nvPr/>
        </p:nvSpPr>
        <p:spPr>
          <a:xfrm>
            <a:off x="9303791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78%</a:t>
            </a:r>
            <a:endParaRPr lang="en-US" sz="4000" dirty="0"/>
          </a:p>
        </p:txBody>
      </p:sp>
      <p:sp>
        <p:nvSpPr>
          <p:cNvPr id="14" name="Result 4 label"/>
          <p:cNvSpPr txBox="1"/>
          <p:nvPr/>
        </p:nvSpPr>
        <p:spPr>
          <a:xfrm>
            <a:off x="9303791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bin-guide accuracy on unseen item names</a:t>
            </a:r>
            <a:endParaRPr lang="en-US" sz="1400" dirty="0"/>
          </a:p>
        </p:txBody>
      </p:sp>
      <p:sp>
        <p:nvSpPr>
          <p:cNvPr id="15" name="Results caveat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held-out data generated by the project (see REPORT.md for method). Real-world performance needs field validation.</a:t>
            </a:r>
            <a:endParaRPr lang="en-US" sz="1200" dirty="0"/>
          </a:p>
        </p:txBody>
      </p:sp>
      <p:sp>
        <p:nvSpPr>
          <p:cNvPr id="16" name="Impact strip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Impact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p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19" name="Impact text"/>
          <p:cNvSpPr txBox="1"/>
          <p:nvPr/>
        </p:nvSpPr>
        <p:spPr>
          <a:xfrm>
            <a:off x="1737360" y="475488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~3,650 L diesel and ~9.8 t CO2 a year per 40 bins (sim)  ·  ~Rs 3.3 lakh diesel a year per 40 bins at Rs 90/L  ·  Fewer overflowing bins near markets and bus stands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 in 3 minutes</a:t>
            </a:r>
            <a:endParaRPr lang="en-US" sz="3600" dirty="0"/>
          </a:p>
        </p:txBody>
      </p:sp>
      <p:sp>
        <p:nvSpPr>
          <p:cNvPr id="3" name="Step 1 dot"/>
          <p:cNvSpPr/>
          <p:nvPr/>
        </p:nvSpPr>
        <p:spPr>
          <a:xfrm>
            <a:off x="548640" y="1435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3716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 demo: trucks animate, 30 km vs 61.5 km today</a:t>
            </a:r>
            <a:endParaRPr lang="en-US" sz="1600" dirty="0"/>
          </a:p>
        </p:txBody>
      </p:sp>
      <p:sp>
        <p:nvSpPr>
          <p:cNvPr id="6" name="Step 2 dot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06654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Toggle fixed beat: 36 half-full pickups, 4 bins left</a:t>
            </a:r>
            <a:endParaRPr lang="en-US" sz="1600" dirty="0"/>
          </a:p>
        </p:txBody>
      </p:sp>
      <p:sp>
        <p:nvSpPr>
          <p:cNvPr id="9" name="Step 3 dot"/>
          <p:cNvSpPr/>
          <p:nvPr/>
        </p:nvSpPr>
        <p:spPr>
          <a:xfrm>
            <a:off x="548640" y="2825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number"/>
          <p:cNvSpPr txBox="1"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76148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Route card: fixed order 45 -&gt; CW 30.5 -&gt; 2-opt 30 km</a:t>
            </a:r>
            <a:endParaRPr lang="en-US" sz="1600" dirty="0"/>
          </a:p>
        </p:txBody>
      </p:sp>
      <p:sp>
        <p:nvSpPr>
          <p:cNvPr id="12" name="Step 4 dot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number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45643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Click market bin: Wednesday spike, rule B fires</a:t>
            </a:r>
            <a:endParaRPr lang="en-US" sz="1600" dirty="0"/>
          </a:p>
        </p:txBody>
      </p:sp>
      <p:sp>
        <p:nvSpPr>
          <p:cNvPr id="15" name="Step 5 dot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5 number"/>
          <p:cNvSpPr txBox="1"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1234440" y="415137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Next day: fixed beat overflows, WasteWise none</a:t>
            </a:r>
            <a:endParaRPr lang="en-US" sz="1600" dirty="0"/>
          </a:p>
        </p:txBody>
      </p:sp>
      <p:sp>
        <p:nvSpPr>
          <p:cNvPr id="18" name="Step 6 dot"/>
          <p:cNvSpPr/>
          <p:nvPr/>
        </p:nvSpPr>
        <p:spPr>
          <a:xfrm>
            <a:off x="548640" y="4910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6 number"/>
          <p:cNvSpPr txBox="1"/>
          <p:nvPr/>
        </p:nvSpPr>
        <p:spPr>
          <a:xfrm>
            <a:off x="5486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1234440" y="48463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 to day 30: -43% km, overflows 12 -&gt; 1</a:t>
            </a:r>
            <a:endParaRPr lang="en-US" sz="1600" dirty="0"/>
          </a:p>
        </p:txBody>
      </p:sp>
      <p:sp>
        <p:nvSpPr>
          <p:cNvPr id="21" name="Step 7 dot"/>
          <p:cNvSpPr/>
          <p:nvPr/>
        </p:nvSpPr>
        <p:spPr>
          <a:xfrm>
            <a:off x="548640" y="56052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ep 7 number"/>
          <p:cNvSpPr txBox="1"/>
          <p:nvPr/>
        </p:nvSpPr>
        <p:spPr>
          <a:xfrm>
            <a:off x="54864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Step 7 text"/>
          <p:cNvSpPr txBox="1"/>
          <p:nvPr/>
        </p:nvSpPr>
        <p:spPr>
          <a:xfrm>
            <a:off x="1234440" y="554126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Ask Tamil 'thengai odu', earn green points, see Impact</a:t>
            </a:r>
            <a:endParaRPr lang="en-US" sz="1600" dirty="0"/>
          </a:p>
        </p:txBody>
      </p:sp>
      <p:sp>
        <p:nvSpPr>
          <p:cNvPr id="24" name="Demo screenshot frame"/>
          <p:cNvSpPr/>
          <p:nvPr/>
        </p:nvSpPr>
        <p:spPr>
          <a:xfrm>
            <a:off x="6528816" y="1545336"/>
            <a:ext cx="5138928" cy="3252978"/>
          </a:xfrm>
          <a:prstGeom prst="roundRect">
            <a:avLst>
              <a:gd name="adj" fmla="val 224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Demo screenshot" descr="WasteWi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143250"/>
          </a:xfrm>
          <a:prstGeom prst="rect">
            <a:avLst/>
          </a:prstGeom>
        </p:spPr>
      </p:pic>
      <p:sp>
        <p:nvSpPr>
          <p:cNvPr id="26" name="Run command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http://localhost:8009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business model &amp; roadmap</a:t>
            </a:r>
            <a:endParaRPr lang="en-US" sz="3600" dirty="0"/>
          </a:p>
        </p:txBody>
      </p:sp>
      <p:sp>
        <p:nvSpPr>
          <p:cNvPr id="3" name="Business model card"/>
          <p:cNvSpPr/>
          <p:nvPr/>
        </p:nvSpPr>
        <p:spPr>
          <a:xfrm>
            <a:off x="548640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Business model circle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usiness 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6" name="Business model title"/>
          <p:cNvSpPr txBox="1"/>
          <p:nvPr/>
        </p:nvSpPr>
        <p:spPr>
          <a:xfrm>
            <a:off x="1600200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7" name="Business model list"/>
          <p:cNvSpPr txBox="1"/>
          <p:nvPr/>
        </p:nvSpPr>
        <p:spPr>
          <a:xfrm>
            <a:off x="914400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SaaS per bin per month for municipalities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Sensor + software bundle via local integrators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Segregation analytics for compost and recyclers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campus tier as a showcase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6233008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accent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6553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783080"/>
            <a:ext cx="274320" cy="274320"/>
          </a:xfrm>
          <a:prstGeom prst="rect">
            <a:avLst/>
          </a:prstGeom>
        </p:spPr>
      </p:pic>
      <p:sp>
        <p:nvSpPr>
          <p:cNvPr id="11" name="Future scope title"/>
          <p:cNvSpPr txBox="1"/>
          <p:nvPr/>
        </p:nvSpPr>
        <p:spPr>
          <a:xfrm>
            <a:off x="7284568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6598768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 road network distances and time windows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Multi-depot, mixed fleet, inter-route moves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Festival and rain effects in the forecaster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Driver phone app and Tamil WhatsApp reporting bot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Photo-based contamination check at the bin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hanks tagline"/>
          <p:cNvSpPr txBox="1"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WasteWise · Smart bins and optimised collection routes for cleaner cities</a:t>
            </a:r>
            <a:endParaRPr lang="en-US" sz="2000" dirty="0"/>
          </a:p>
        </p:txBody>
      </p:sp>
      <p:sp>
        <p:nvSpPr>
          <p:cNvPr id="4" name="Links"/>
          <p:cNvSpPr txBox="1"/>
          <p:nvPr/>
        </p:nvSpPr>
        <p:spPr>
          <a:xfrm>
            <a:off x="54864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Code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https://github.com/jayeskumar/a/tree/claude/confident-fermi-dpeh2g/projects/09-wastewise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Run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projects/09-wastewise &amp;&amp; python app.py</a:t>
            </a:r>
            <a:endParaRPr lang="en-US" sz="15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steWise QUANTIX">
  <a:themeElements>
    <a:clrScheme name="WasteWise QUANTIX">
      <a:dk1>
        <a:srgbClr val="141B34"/>
      </a:dk1>
      <a:lt1>
        <a:srgbClr val="FFFFFF"/>
      </a:lt1>
      <a:dk2>
        <a:srgbClr val="0B1026"/>
      </a:dk2>
      <a:lt2>
        <a:srgbClr val="F3F4F8"/>
      </a:lt2>
      <a:accent1>
        <a:srgbClr val="059669"/>
      </a:accent1>
      <a:accent2>
        <a:srgbClr val="E1F2ED"/>
      </a:accent2>
      <a:accent3>
        <a:srgbClr val="036244"/>
      </a:accent3>
      <a:accent4>
        <a:srgbClr val="5B6478"/>
      </a:accent4>
      <a:accent5>
        <a:srgbClr val="0A2D35"/>
      </a:accent5>
      <a:accent6>
        <a:srgbClr val="76C5AD"/>
      </a:accent6>
      <a:hlink>
        <a:srgbClr val="047854"/>
      </a:hlink>
      <a:folHlink>
        <a:srgbClr val="5B6478"/>
      </a:folHlink>
    </a:clrScheme>
    <a:fontScheme name="WasteWise QUANT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WasteWise – Smart bins and optimised collection routes for cleaner cities</dc:title>
  <dc:subject>QUANTIX 2K26 · Sustainability, CleanTech &amp; Green Energy</dc:subject>
  <dc:creator>Your Team Name</dc:creator>
  <cp:lastModifiedBy>Your Team Name</cp:lastModifiedBy>
  <cp:revision>1</cp:revision>
  <dcterms:created xsi:type="dcterms:W3CDTF">2026-10-20T06:29:48Z</dcterms:created>
  <dcterms:modified xsi:type="dcterms:W3CDTF">2026-10-20T06:29:48Z</dcterms:modified>
</cp:coreProperties>
</file>