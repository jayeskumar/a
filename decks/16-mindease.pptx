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b25f7a55-80e1-e5ed-8300-ef4c8d345b27}">
          <p14:sldIdLst>
            <p14:sldId id="256"/>
          </p14:sldIdLst>
        </p14:section>
        <p14:section name="Problem &amp; solution" id="{f12065f7-8dd4-7999-a3d6-65c6d7b761a8}">
          <p14:sldIdLst>
            <p14:sldId id="257"/>
            <p14:sldId id="258"/>
          </p14:sldIdLst>
        </p14:section>
        <p14:section name="Product" id="{9c7d8431-10ee-b610-1120-8f7b92a39c14}">
          <p14:sldIdLst>
            <p14:sldId id="259"/>
            <p14:sldId id="260"/>
            <p14:sldId id="261"/>
          </p14:sldIdLst>
        </p14:section>
        <p14:section name="Why us" id="{a89d0163-f08b-53e7-3ab7-4d9764c475c4}">
          <p14:sldIdLst>
            <p14:sldId id="262"/>
            <p14:sldId id="263"/>
            <p14:sldId id="264"/>
          </p14:sldIdLst>
        </p14:section>
        <p14:section name="Demo" id="{12377942-04a0-aa73-8019-56054092fffd}">
          <p14:sldIdLst>
            <p14:sldId id="265"/>
          </p14:sldIdLst>
        </p14:section>
        <p14:section name="Roadmap" id="{5335e716-e03a-2644-9e47-a9c2ffe6aa9a}">
          <p14:sldIdLst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one-line promise: A private, early-support companion for student mental wellbeing. Introduce the team, then go straight to the problem.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Problem: Exam stress, anxiety and low mood in students often go unnoticed Stigma stops students from walking into the counselling room Counsellors get no early signal until a crisis Help-seeking info is hard to find at the moment it's needed Key numbers: ~13,000 student suicides a year in India (NCRB ADSI 2021-22, approx.); 70–92% treatment gap for mental disorders in India (NMHS 2015-16); 1 in 2 mental health conditions begin by age 14 (WHO).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Solution: Private daily journal plus PHQ-9 / GAD-7 check-ins, in English and Tanglish Explainable engine notices dips vs your own baseline, kindly Instant support screen with Tele-MANAS 14416 and 112 when risk words appear Counsellors see only opt-in, pseudonymous aggregates and alerts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Features: PHQ-9 &amp; GAD-7: Standard wording and bands; item 9 &gt; 0 opens a support screen at once. Explainable journal: Lexicon sentiment with negation, emoji, Tanglish; shows why, never diagnoses. Personal trends: CUSUM + dip run vs your usual: 'your mood has dipped for 5 days'. Offline toolkit: Box breathing, 5-4-3-2-1 grounding, Pomodoro exam planner, sleep tips. Prepare to talk: Turns a few taps into words to say to a friend, parent or counsellor. Counsellor view: Opt-in pseudonymous aggregates, small-cell suppression, alert follow-up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Architecture top to bottom: Browser UI (vanilla JS, inline SVG) -&gt; student and counsellor views. app.py ThreadingHTTPServer -&gt; JSON API, demo PIN role check. questionnaires.py -&gt; PHQ-9 / GAD-7 scoring, bands, item-9 rule. sentiment.py + safety.py -&gt; tone, emotions, concerning phrases. trends.py -&gt; rolling means, CUSUM, dip run, OLS slope. store.py -&gt; consent-aware state in data/state.json. Stack: Python 3 stdlib, http.server, Vanilla HTML/CSS/JS, Inline SVG charts, unittest (100 tests).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Algorithms: PHQ-9 / GAD-7 – published 0-3 scoring and severity bands. Lexicon sentiment – valence, negation, intensifiers, 'but', emoji. Safety net – 41 phrase rules + first-person co-occurrence layer. One-sided CUSUM – small persistent dips vs personal baseline. OLS slope t-test – supporting trend evidence. Greedy Pomodoro allocation – need x urgency, sleep protected. Stress that nothing is a black box: every decision can be explained on screen.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Differentiators: Safety-first: crisis help one tap away on every screen Explainable, offline, no cloud: journal never leaves the laptop Understands Tanglish and emoji the way students actually write Early signal for counsellors without surveillance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Compare: Walk-in counselling vs Generic wellness apps vs MindEase. Early signal before a crisis: No / Partial / Yes, opt-in. Private, no cloud needed: Yes / Often cloud / Yes, local only. Explains each flag: Human judgement / Partial / Yes, rule shown. Helpline one tap away: Office hours / Partial / Yes, every screen. Clinical diagnosis: Yes, by experts / No / No, screening 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Results: 78% sentiment accuracy, 50 untuned sentences (word count: 70%); 24/24 direct risk phrases caught, 0/22 false alarms; 8/10 indirect; 90% · 3% sim. mood dips flagged · false alarms per stable week; 0.1 ms to analyse one journal entry (pure Python). Impact: Earlier, stigma-free first step towards help Counsellors spot exam-time spikes and plan outreach Crisis numbers always visible, never buried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Switch to the browser now. 1. Load demo data: Ananya's 3-week journal, 60-student cohort 2. Today: 'mood dipped for 5 days', tap Why? to see CUSUM 3. Journal example: 'killing me' ignored, hopeless phrase noticed 4. Gentle support screen: Tele-MANAS 14416, 112, counsellor 5. Check-in: item 9 answer opens support instantly 6. Toolkit: box breathing and Pomodoro exam plan 7. Counsellor (PIN 2468): exam spike, acknowledge alert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Business: Free for students, always College licence for the counsellor dashboard Deploy via student-welfare and NSS/CSR programmes Paid add-ons: SSO, multi-campus reports, local languages Next: Validate with the counselling cell under ethics approval Official Tamil/Hindi PHQ-9 and GAD-7 translations Larger, multi-rater Tanglish lexicon Encrypted on-device storage as a mobile PWA Trained peer-listener matching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impact line, invite questions. Keep the demo tab open in case judges want to try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QUANTIX 2K26 · MindEase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jpe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main"/>
          <p:cNvSpPr txBox="1"/>
          <p:nvPr/>
        </p:nvSpPr>
        <p:spPr>
          <a:xfrm>
            <a:off x="548640" y="109728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6"/>
                </a:solidFill>
              </a:rPr>
              <a:t>HEALTHTECH &amp; BIOMEDICAL INNOVATION</a:t>
            </a:r>
            <a:endParaRPr lang="en-US" sz="1200" dirty="0"/>
          </a:p>
        </p:txBody>
      </p:sp>
      <p:sp>
        <p:nvSpPr>
          <p:cNvPr id="3" name="Product name"/>
          <p:cNvSpPr txBox="1"/>
          <p:nvPr/>
        </p:nvSpPr>
        <p:spPr>
          <a:xfrm>
            <a:off x="548640" y="1554480"/>
            <a:ext cx="5852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MindEase</a:t>
            </a:r>
            <a:endParaRPr lang="en-US" sz="6000" dirty="0"/>
          </a:p>
        </p:txBody>
      </p:sp>
      <p:sp>
        <p:nvSpPr>
          <p:cNvPr id="4" name="Tagline"/>
          <p:cNvSpPr txBox="1"/>
          <p:nvPr/>
        </p:nvSpPr>
        <p:spPr>
          <a:xfrm>
            <a:off x="548640" y="278892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A private, early-support companion for student mental wellbeing</a:t>
            </a:r>
            <a:endParaRPr lang="en-US" sz="2200" dirty="0"/>
          </a:p>
        </p:txBody>
      </p:sp>
      <p:sp>
        <p:nvSpPr>
          <p:cNvPr id="5" name="Team"/>
          <p:cNvSpPr txBox="1"/>
          <p:nvPr/>
        </p:nvSpPr>
        <p:spPr>
          <a:xfrm>
            <a:off x="548640" y="512064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Your Team Name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QUANTIX 2K26 · 24-hour hackathon · K.S.R. College of Engineering</a:t>
            </a:r>
            <a:endParaRPr lang="en-US" sz="1400" dirty="0"/>
          </a:p>
        </p:txBody>
      </p:sp>
      <p:sp>
        <p:nvSpPr>
          <p:cNvPr id="6" name="Hero screenshot frame"/>
          <p:cNvSpPr/>
          <p:nvPr/>
        </p:nvSpPr>
        <p:spPr>
          <a:xfrm>
            <a:off x="6620256" y="1682496"/>
            <a:ext cx="5047488" cy="3195828"/>
          </a:xfrm>
          <a:prstGeom prst="roundRect">
            <a:avLst>
              <a:gd name="adj" fmla="val 2289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7" name="Hero screenshot" descr="MindEase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1737360"/>
            <a:ext cx="4937760" cy="30861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The problem</a:t>
            </a:r>
            <a:endParaRPr lang="en-US" sz="3600" dirty="0"/>
          </a:p>
        </p:txBody>
      </p:sp>
      <p:sp>
        <p:nvSpPr>
          <p:cNvPr id="3" name="Problem circle"/>
          <p:cNvSpPr/>
          <p:nvPr/>
        </p:nvSpPr>
        <p:spPr>
          <a:xfrm>
            <a:off x="548640" y="32461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" name="Problem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3383280"/>
            <a:ext cx="274320" cy="274320"/>
          </a:xfrm>
          <a:prstGeom prst="rect">
            <a:avLst/>
          </a:prstGeom>
        </p:spPr>
      </p:pic>
      <p:sp>
        <p:nvSpPr>
          <p:cNvPr id="5" name="Problem bullets"/>
          <p:cNvSpPr txBox="1"/>
          <p:nvPr/>
        </p:nvSpPr>
        <p:spPr>
          <a:xfrm>
            <a:off x="1325880" y="1325880"/>
            <a:ext cx="58521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Exam stress, anxiety and low mood in students often go unnoticed</a:t>
            </a:r>
            <a:endParaRPr lang="en-US" sz="20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Stigma stops students from walking into the counselling room</a:t>
            </a:r>
            <a:endParaRPr lang="en-US" sz="20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Counsellors get no early signal until a crisis</a:t>
            </a:r>
            <a:endParaRPr lang="en-US" sz="20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Help-seeking info is hard to find at the moment it's needed</a:t>
            </a:r>
            <a:endParaRPr lang="en-US" sz="2000" dirty="0"/>
          </a:p>
        </p:txBody>
      </p:sp>
      <p:sp>
        <p:nvSpPr>
          <p:cNvPr id="6" name="Stat 1 card"/>
          <p:cNvSpPr/>
          <p:nvPr/>
        </p:nvSpPr>
        <p:spPr>
          <a:xfrm>
            <a:off x="7589520" y="1120140"/>
            <a:ext cx="4023360" cy="1417320"/>
          </a:xfrm>
          <a:prstGeom prst="roundRect">
            <a:avLst>
              <a:gd name="adj" fmla="val 7742"/>
            </a:avLst>
          </a:prstGeom>
          <a:solidFill>
            <a:schemeClr val="accent2"/>
          </a:solidFill>
          <a:ln/>
        </p:spPr>
      </p:sp>
      <p:sp>
        <p:nvSpPr>
          <p:cNvPr id="7" name="Stat 1 value"/>
          <p:cNvSpPr txBox="1"/>
          <p:nvPr/>
        </p:nvSpPr>
        <p:spPr>
          <a:xfrm>
            <a:off x="7818120" y="1229868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3"/>
                </a:solidFill>
              </a:rPr>
              <a:t>~13,000</a:t>
            </a:r>
            <a:endParaRPr lang="en-US" sz="4000" dirty="0"/>
          </a:p>
        </p:txBody>
      </p:sp>
      <p:sp>
        <p:nvSpPr>
          <p:cNvPr id="8" name="Stat 1 label"/>
          <p:cNvSpPr txBox="1"/>
          <p:nvPr/>
        </p:nvSpPr>
        <p:spPr>
          <a:xfrm>
            <a:off x="7818120" y="1961388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student suicides a year in India (NCRB ADSI 2021-22, approx.)</a:t>
            </a:r>
            <a:endParaRPr lang="en-US" sz="1300" dirty="0"/>
          </a:p>
        </p:txBody>
      </p:sp>
      <p:sp>
        <p:nvSpPr>
          <p:cNvPr id="9" name="Stat 2 card"/>
          <p:cNvSpPr/>
          <p:nvPr/>
        </p:nvSpPr>
        <p:spPr>
          <a:xfrm>
            <a:off x="7589520" y="2811780"/>
            <a:ext cx="4023360" cy="1417320"/>
          </a:xfrm>
          <a:prstGeom prst="roundRect">
            <a:avLst>
              <a:gd name="adj" fmla="val 7742"/>
            </a:avLst>
          </a:prstGeom>
          <a:solidFill>
            <a:schemeClr val="accent2"/>
          </a:solidFill>
          <a:ln/>
        </p:spPr>
      </p:sp>
      <p:sp>
        <p:nvSpPr>
          <p:cNvPr id="10" name="Stat 2 value"/>
          <p:cNvSpPr txBox="1"/>
          <p:nvPr/>
        </p:nvSpPr>
        <p:spPr>
          <a:xfrm>
            <a:off x="7818120" y="2921508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3"/>
                </a:solidFill>
              </a:rPr>
              <a:t>70–92%</a:t>
            </a:r>
            <a:endParaRPr lang="en-US" sz="4000" dirty="0"/>
          </a:p>
        </p:txBody>
      </p:sp>
      <p:sp>
        <p:nvSpPr>
          <p:cNvPr id="11" name="Stat 2 label"/>
          <p:cNvSpPr txBox="1"/>
          <p:nvPr/>
        </p:nvSpPr>
        <p:spPr>
          <a:xfrm>
            <a:off x="7818120" y="3653028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treatment gap for mental disorders in India (NMHS 2015-16)</a:t>
            </a:r>
            <a:endParaRPr lang="en-US" sz="1300" dirty="0"/>
          </a:p>
        </p:txBody>
      </p:sp>
      <p:sp>
        <p:nvSpPr>
          <p:cNvPr id="12" name="Stat 3 card"/>
          <p:cNvSpPr/>
          <p:nvPr/>
        </p:nvSpPr>
        <p:spPr>
          <a:xfrm>
            <a:off x="7589520" y="4503420"/>
            <a:ext cx="4023360" cy="1417320"/>
          </a:xfrm>
          <a:prstGeom prst="roundRect">
            <a:avLst>
              <a:gd name="adj" fmla="val 7742"/>
            </a:avLst>
          </a:prstGeom>
          <a:solidFill>
            <a:schemeClr val="accent2"/>
          </a:solidFill>
          <a:ln/>
        </p:spPr>
      </p:sp>
      <p:sp>
        <p:nvSpPr>
          <p:cNvPr id="13" name="Stat 3 value"/>
          <p:cNvSpPr txBox="1"/>
          <p:nvPr/>
        </p:nvSpPr>
        <p:spPr>
          <a:xfrm>
            <a:off x="7818120" y="4613148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3"/>
                </a:solidFill>
              </a:rPr>
              <a:t>1 in 2</a:t>
            </a:r>
            <a:endParaRPr lang="en-US" sz="4000" dirty="0"/>
          </a:p>
        </p:txBody>
      </p:sp>
      <p:sp>
        <p:nvSpPr>
          <p:cNvPr id="14" name="Stat 3 label"/>
          <p:cNvSpPr txBox="1"/>
          <p:nvPr/>
        </p:nvSpPr>
        <p:spPr>
          <a:xfrm>
            <a:off x="7818120" y="5344668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mental health conditions begin by age 14 (WHO)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Our solution: MindEase</a:t>
            </a:r>
            <a:endParaRPr lang="en-US" sz="3600" dirty="0"/>
          </a:p>
        </p:txBody>
      </p:sp>
      <p:sp>
        <p:nvSpPr>
          <p:cNvPr id="3" name="Solution circle"/>
          <p:cNvSpPr/>
          <p:nvPr/>
        </p:nvSpPr>
        <p:spPr>
          <a:xfrm>
            <a:off x="548640" y="32461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" name="Solution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3383280"/>
            <a:ext cx="274320" cy="274320"/>
          </a:xfrm>
          <a:prstGeom prst="rect">
            <a:avLst/>
          </a:prstGeom>
        </p:spPr>
      </p:pic>
      <p:sp>
        <p:nvSpPr>
          <p:cNvPr id="5" name="Solution bullets"/>
          <p:cNvSpPr txBox="1"/>
          <p:nvPr/>
        </p:nvSpPr>
        <p:spPr>
          <a:xfrm>
            <a:off x="1325880" y="1325880"/>
            <a:ext cx="475488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Private daily journal plus PHQ-9 / GAD-7 check-ins, in English and Tanglish</a:t>
            </a:r>
            <a:endParaRPr lang="en-US" sz="20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Explainable engine notices dips vs your own baseline, kindly</a:t>
            </a:r>
            <a:endParaRPr lang="en-US" sz="20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Instant support screen with Tele-MANAS 14416 and 112 when risk words appear</a:t>
            </a:r>
            <a:endParaRPr lang="en-US" sz="20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Counsellors see only opt-in, pseudonymous aggregates and alerts</a:t>
            </a:r>
            <a:endParaRPr lang="en-US" sz="2000" dirty="0"/>
          </a:p>
        </p:txBody>
      </p:sp>
      <p:sp>
        <p:nvSpPr>
          <p:cNvPr id="6" name="Solution screenshot frame"/>
          <p:cNvSpPr/>
          <p:nvPr/>
        </p:nvSpPr>
        <p:spPr>
          <a:xfrm>
            <a:off x="6391656" y="1545336"/>
            <a:ext cx="5276088" cy="3338703"/>
          </a:xfrm>
          <a:prstGeom prst="roundRect">
            <a:avLst>
              <a:gd name="adj" fmla="val 2191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7" name="Solution screenshot" descr="MindEase screenshot: Check-i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600200"/>
            <a:ext cx="5166360" cy="3228975"/>
          </a:xfrm>
          <a:prstGeom prst="rect">
            <a:avLst/>
          </a:prstGeom>
        </p:spPr>
      </p:pic>
      <p:sp>
        <p:nvSpPr>
          <p:cNvPr id="8" name="Solution screenshot caption"/>
          <p:cNvSpPr txBox="1"/>
          <p:nvPr/>
        </p:nvSpPr>
        <p:spPr>
          <a:xfrm>
            <a:off x="6446520" y="4993767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1"/>
                </a:solidFill>
              </a:rPr>
              <a:t>▸ </a:t>
            </a:r>
            <a:pPr algn="ctr"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Check-in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Key features</a:t>
            </a:r>
            <a:endParaRPr lang="en-US" sz="3600" dirty="0"/>
          </a:p>
        </p:txBody>
      </p:sp>
      <p:sp>
        <p:nvSpPr>
          <p:cNvPr id="3" name="Feature 1 card"/>
          <p:cNvSpPr/>
          <p:nvPr/>
        </p:nvSpPr>
        <p:spPr>
          <a:xfrm>
            <a:off x="548640" y="1371600"/>
            <a:ext cx="3515258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4" name="Feature 1 circle"/>
          <p:cNvSpPr/>
          <p:nvPr/>
        </p:nvSpPr>
        <p:spPr>
          <a:xfrm>
            <a:off x="822960" y="16459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Feature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783080"/>
            <a:ext cx="274320" cy="274320"/>
          </a:xfrm>
          <a:prstGeom prst="rect">
            <a:avLst/>
          </a:prstGeom>
        </p:spPr>
      </p:pic>
      <p:sp>
        <p:nvSpPr>
          <p:cNvPr id="6" name="Feature 1 title"/>
          <p:cNvSpPr txBox="1"/>
          <p:nvPr/>
        </p:nvSpPr>
        <p:spPr>
          <a:xfrm>
            <a:off x="1554480" y="1645920"/>
            <a:ext cx="22808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PHQ-9 &amp; GAD-7</a:t>
            </a:r>
            <a:endParaRPr lang="en-US" sz="1800" dirty="0"/>
          </a:p>
        </p:txBody>
      </p:sp>
      <p:sp>
        <p:nvSpPr>
          <p:cNvPr id="7" name="Feature 1 text"/>
          <p:cNvSpPr txBox="1"/>
          <p:nvPr/>
        </p:nvSpPr>
        <p:spPr>
          <a:xfrm>
            <a:off x="822960" y="233172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Standard wording and bands; item 9 &gt; 0 opens a support screen at once</a:t>
            </a:r>
            <a:endParaRPr lang="en-US" sz="1400" dirty="0"/>
          </a:p>
        </p:txBody>
      </p:sp>
      <p:sp>
        <p:nvSpPr>
          <p:cNvPr id="8" name="Feature 2 card"/>
          <p:cNvSpPr/>
          <p:nvPr/>
        </p:nvSpPr>
        <p:spPr>
          <a:xfrm>
            <a:off x="4338218" y="1371600"/>
            <a:ext cx="3515258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9" name="Feature 2 circle"/>
          <p:cNvSpPr/>
          <p:nvPr/>
        </p:nvSpPr>
        <p:spPr>
          <a:xfrm>
            <a:off x="4612538" y="16459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Feature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9698" y="1783080"/>
            <a:ext cx="274320" cy="274320"/>
          </a:xfrm>
          <a:prstGeom prst="rect">
            <a:avLst/>
          </a:prstGeom>
        </p:spPr>
      </p:pic>
      <p:sp>
        <p:nvSpPr>
          <p:cNvPr id="11" name="Feature 2 title"/>
          <p:cNvSpPr txBox="1"/>
          <p:nvPr/>
        </p:nvSpPr>
        <p:spPr>
          <a:xfrm>
            <a:off x="5344058" y="1645920"/>
            <a:ext cx="22808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Explainable journal</a:t>
            </a:r>
            <a:endParaRPr lang="en-US" sz="1800" dirty="0"/>
          </a:p>
        </p:txBody>
      </p:sp>
      <p:sp>
        <p:nvSpPr>
          <p:cNvPr id="12" name="Feature 2 text"/>
          <p:cNvSpPr txBox="1"/>
          <p:nvPr/>
        </p:nvSpPr>
        <p:spPr>
          <a:xfrm>
            <a:off x="4612538" y="233172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Lexicon sentiment with negation, emoji, Tanglish; shows why, never diagnoses</a:t>
            </a:r>
            <a:endParaRPr lang="en-US" sz="1400" dirty="0"/>
          </a:p>
        </p:txBody>
      </p:sp>
      <p:sp>
        <p:nvSpPr>
          <p:cNvPr id="13" name="Feature 3 card"/>
          <p:cNvSpPr/>
          <p:nvPr/>
        </p:nvSpPr>
        <p:spPr>
          <a:xfrm>
            <a:off x="8127797" y="1371600"/>
            <a:ext cx="3515258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14" name="Feature 3 circle"/>
          <p:cNvSpPr/>
          <p:nvPr/>
        </p:nvSpPr>
        <p:spPr>
          <a:xfrm>
            <a:off x="8402117" y="16459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Feature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9277" y="1783080"/>
            <a:ext cx="274320" cy="274320"/>
          </a:xfrm>
          <a:prstGeom prst="rect">
            <a:avLst/>
          </a:prstGeom>
        </p:spPr>
      </p:pic>
      <p:sp>
        <p:nvSpPr>
          <p:cNvPr id="16" name="Feature 3 title"/>
          <p:cNvSpPr txBox="1"/>
          <p:nvPr/>
        </p:nvSpPr>
        <p:spPr>
          <a:xfrm>
            <a:off x="9133637" y="1645920"/>
            <a:ext cx="22808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Personal trends</a:t>
            </a:r>
            <a:endParaRPr lang="en-US" sz="1800" dirty="0"/>
          </a:p>
        </p:txBody>
      </p:sp>
      <p:sp>
        <p:nvSpPr>
          <p:cNvPr id="17" name="Feature 3 text"/>
          <p:cNvSpPr txBox="1"/>
          <p:nvPr/>
        </p:nvSpPr>
        <p:spPr>
          <a:xfrm>
            <a:off x="8402117" y="233172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CUSUM + dip run vs your usual: 'your mood has dipped for 5 days'</a:t>
            </a:r>
            <a:endParaRPr lang="en-US" sz="1400" dirty="0"/>
          </a:p>
        </p:txBody>
      </p:sp>
      <p:sp>
        <p:nvSpPr>
          <p:cNvPr id="18" name="Feature 4 card"/>
          <p:cNvSpPr/>
          <p:nvPr/>
        </p:nvSpPr>
        <p:spPr>
          <a:xfrm>
            <a:off x="548640" y="3840480"/>
            <a:ext cx="3515258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19" name="Feature 4 circle"/>
          <p:cNvSpPr/>
          <p:nvPr/>
        </p:nvSpPr>
        <p:spPr>
          <a:xfrm>
            <a:off x="822960" y="41148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Feature 4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4251960"/>
            <a:ext cx="274320" cy="274320"/>
          </a:xfrm>
          <a:prstGeom prst="rect">
            <a:avLst/>
          </a:prstGeom>
        </p:spPr>
      </p:pic>
      <p:sp>
        <p:nvSpPr>
          <p:cNvPr id="21" name="Feature 4 title"/>
          <p:cNvSpPr txBox="1"/>
          <p:nvPr/>
        </p:nvSpPr>
        <p:spPr>
          <a:xfrm>
            <a:off x="1554480" y="4114800"/>
            <a:ext cx="22808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Offline toolkit</a:t>
            </a:r>
            <a:endParaRPr lang="en-US" sz="1800" dirty="0"/>
          </a:p>
        </p:txBody>
      </p:sp>
      <p:sp>
        <p:nvSpPr>
          <p:cNvPr id="22" name="Feature 4 text"/>
          <p:cNvSpPr txBox="1"/>
          <p:nvPr/>
        </p:nvSpPr>
        <p:spPr>
          <a:xfrm>
            <a:off x="822960" y="480060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Box breathing, 5-4-3-2-1 grounding, Pomodoro exam planner, sleep tips</a:t>
            </a:r>
            <a:endParaRPr lang="en-US" sz="1400" dirty="0"/>
          </a:p>
        </p:txBody>
      </p:sp>
      <p:sp>
        <p:nvSpPr>
          <p:cNvPr id="23" name="Feature 5 card"/>
          <p:cNvSpPr/>
          <p:nvPr/>
        </p:nvSpPr>
        <p:spPr>
          <a:xfrm>
            <a:off x="4338218" y="3840480"/>
            <a:ext cx="3515258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24" name="Feature 5 circle"/>
          <p:cNvSpPr/>
          <p:nvPr/>
        </p:nvSpPr>
        <p:spPr>
          <a:xfrm>
            <a:off x="4612538" y="41148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5" name="Feature 5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9698" y="4251960"/>
            <a:ext cx="274320" cy="274320"/>
          </a:xfrm>
          <a:prstGeom prst="rect">
            <a:avLst/>
          </a:prstGeom>
        </p:spPr>
      </p:pic>
      <p:sp>
        <p:nvSpPr>
          <p:cNvPr id="26" name="Feature 5 title"/>
          <p:cNvSpPr txBox="1"/>
          <p:nvPr/>
        </p:nvSpPr>
        <p:spPr>
          <a:xfrm>
            <a:off x="5344058" y="4114800"/>
            <a:ext cx="22808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Prepare to talk</a:t>
            </a:r>
            <a:endParaRPr lang="en-US" sz="1800" dirty="0"/>
          </a:p>
        </p:txBody>
      </p:sp>
      <p:sp>
        <p:nvSpPr>
          <p:cNvPr id="27" name="Feature 5 text"/>
          <p:cNvSpPr txBox="1"/>
          <p:nvPr/>
        </p:nvSpPr>
        <p:spPr>
          <a:xfrm>
            <a:off x="4612538" y="480060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Turns a few taps into words to say to a friend, parent or counsellor</a:t>
            </a:r>
            <a:endParaRPr lang="en-US" sz="1400" dirty="0"/>
          </a:p>
        </p:txBody>
      </p:sp>
      <p:sp>
        <p:nvSpPr>
          <p:cNvPr id="28" name="Feature 6 card"/>
          <p:cNvSpPr/>
          <p:nvPr/>
        </p:nvSpPr>
        <p:spPr>
          <a:xfrm>
            <a:off x="8127797" y="3840480"/>
            <a:ext cx="3515258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29" name="Feature 6 circle"/>
          <p:cNvSpPr/>
          <p:nvPr/>
        </p:nvSpPr>
        <p:spPr>
          <a:xfrm>
            <a:off x="8402117" y="41148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0" name="Feature 6 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39277" y="4251960"/>
            <a:ext cx="274320" cy="274320"/>
          </a:xfrm>
          <a:prstGeom prst="rect">
            <a:avLst/>
          </a:prstGeom>
        </p:spPr>
      </p:pic>
      <p:sp>
        <p:nvSpPr>
          <p:cNvPr id="31" name="Feature 6 title"/>
          <p:cNvSpPr txBox="1"/>
          <p:nvPr/>
        </p:nvSpPr>
        <p:spPr>
          <a:xfrm>
            <a:off x="9133637" y="4114800"/>
            <a:ext cx="22808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Counsellor view</a:t>
            </a:r>
            <a:endParaRPr lang="en-US" sz="1800" dirty="0"/>
          </a:p>
        </p:txBody>
      </p:sp>
      <p:sp>
        <p:nvSpPr>
          <p:cNvPr id="32" name="Feature 6 text"/>
          <p:cNvSpPr txBox="1"/>
          <p:nvPr/>
        </p:nvSpPr>
        <p:spPr>
          <a:xfrm>
            <a:off x="8402117" y="480060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Opt-in pseudonymous aggregates, small-cell suppression, alert follow-up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System architecture</a:t>
            </a:r>
            <a:endParaRPr lang="en-US" sz="3600" dirty="0"/>
          </a:p>
        </p:txBody>
      </p:sp>
      <p:sp>
        <p:nvSpPr>
          <p:cNvPr id="3" name="Layer 1"/>
          <p:cNvSpPr/>
          <p:nvPr/>
        </p:nvSpPr>
        <p:spPr>
          <a:xfrm>
            <a:off x="548640" y="1325880"/>
            <a:ext cx="7498080" cy="632460"/>
          </a:xfrm>
          <a:prstGeom prst="roundRect">
            <a:avLst>
              <a:gd name="adj" fmla="val 14458"/>
            </a:avLst>
          </a:prstGeom>
          <a:solidFill>
            <a:schemeClr val="accent2"/>
          </a:solidFill>
          <a:ln/>
        </p:spPr>
      </p:sp>
      <p:sp>
        <p:nvSpPr>
          <p:cNvPr id="4" name="Layer 1 text"/>
          <p:cNvSpPr txBox="1"/>
          <p:nvPr/>
        </p:nvSpPr>
        <p:spPr>
          <a:xfrm>
            <a:off x="822960" y="1325880"/>
            <a:ext cx="7040880" cy="632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Browser UI (vanilla JS, inline SVG)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  student and counsellor views</a:t>
            </a:r>
            <a:endParaRPr lang="en-US" sz="1500" dirty="0"/>
          </a:p>
        </p:txBody>
      </p:sp>
      <p:sp>
        <p:nvSpPr>
          <p:cNvPr id="5" name="Arrow 1"/>
          <p:cNvSpPr/>
          <p:nvPr/>
        </p:nvSpPr>
        <p:spPr>
          <a:xfrm>
            <a:off x="4206240" y="1976628"/>
            <a:ext cx="201168" cy="164592"/>
          </a:xfrm>
          <a:prstGeom prst="downArrow">
            <a:avLst/>
          </a:prstGeom>
          <a:solidFill>
            <a:schemeClr val="accent4"/>
          </a:solidFill>
          <a:ln/>
        </p:spPr>
      </p:sp>
      <p:sp>
        <p:nvSpPr>
          <p:cNvPr id="6" name="Layer 2"/>
          <p:cNvSpPr/>
          <p:nvPr/>
        </p:nvSpPr>
        <p:spPr>
          <a:xfrm>
            <a:off x="548640" y="2159508"/>
            <a:ext cx="7498080" cy="632460"/>
          </a:xfrm>
          <a:prstGeom prst="roundRect">
            <a:avLst>
              <a:gd name="adj" fmla="val 14458"/>
            </a:avLst>
          </a:prstGeom>
          <a:solidFill>
            <a:schemeClr val="bg2"/>
          </a:solidFill>
          <a:ln/>
        </p:spPr>
      </p:sp>
      <p:sp>
        <p:nvSpPr>
          <p:cNvPr id="7" name="Layer 2 text"/>
          <p:cNvSpPr txBox="1"/>
          <p:nvPr/>
        </p:nvSpPr>
        <p:spPr>
          <a:xfrm>
            <a:off x="822960" y="2159508"/>
            <a:ext cx="7040880" cy="632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app.py ThreadingHTTPServer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  JSON API, demo PIN role check</a:t>
            </a:r>
            <a:endParaRPr lang="en-US" sz="1500" dirty="0"/>
          </a:p>
        </p:txBody>
      </p:sp>
      <p:sp>
        <p:nvSpPr>
          <p:cNvPr id="8" name="Arrow 2"/>
          <p:cNvSpPr/>
          <p:nvPr/>
        </p:nvSpPr>
        <p:spPr>
          <a:xfrm>
            <a:off x="4206240" y="2810256"/>
            <a:ext cx="201168" cy="164592"/>
          </a:xfrm>
          <a:prstGeom prst="downArrow">
            <a:avLst/>
          </a:prstGeom>
          <a:solidFill>
            <a:schemeClr val="accent4"/>
          </a:solidFill>
          <a:ln/>
        </p:spPr>
      </p:sp>
      <p:sp>
        <p:nvSpPr>
          <p:cNvPr id="9" name="Layer 3"/>
          <p:cNvSpPr/>
          <p:nvPr/>
        </p:nvSpPr>
        <p:spPr>
          <a:xfrm>
            <a:off x="548640" y="2993136"/>
            <a:ext cx="7498080" cy="632460"/>
          </a:xfrm>
          <a:prstGeom prst="roundRect">
            <a:avLst>
              <a:gd name="adj" fmla="val 14458"/>
            </a:avLst>
          </a:prstGeom>
          <a:solidFill>
            <a:schemeClr val="accent2"/>
          </a:solidFill>
          <a:ln/>
        </p:spPr>
      </p:sp>
      <p:sp>
        <p:nvSpPr>
          <p:cNvPr id="10" name="Layer 3 text"/>
          <p:cNvSpPr txBox="1"/>
          <p:nvPr/>
        </p:nvSpPr>
        <p:spPr>
          <a:xfrm>
            <a:off x="822960" y="2993136"/>
            <a:ext cx="7040880" cy="632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questionnaires.py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  PHQ-9 / GAD-7 scoring, bands, item-9 rule</a:t>
            </a:r>
            <a:endParaRPr lang="en-US" sz="1500" dirty="0"/>
          </a:p>
        </p:txBody>
      </p:sp>
      <p:sp>
        <p:nvSpPr>
          <p:cNvPr id="11" name="Arrow 3"/>
          <p:cNvSpPr/>
          <p:nvPr/>
        </p:nvSpPr>
        <p:spPr>
          <a:xfrm>
            <a:off x="4206240" y="3643884"/>
            <a:ext cx="201168" cy="164592"/>
          </a:xfrm>
          <a:prstGeom prst="downArrow">
            <a:avLst/>
          </a:prstGeom>
          <a:solidFill>
            <a:schemeClr val="accent4"/>
          </a:solidFill>
          <a:ln/>
        </p:spPr>
      </p:sp>
      <p:sp>
        <p:nvSpPr>
          <p:cNvPr id="12" name="Layer 4"/>
          <p:cNvSpPr/>
          <p:nvPr/>
        </p:nvSpPr>
        <p:spPr>
          <a:xfrm>
            <a:off x="548640" y="3826764"/>
            <a:ext cx="7498080" cy="632460"/>
          </a:xfrm>
          <a:prstGeom prst="roundRect">
            <a:avLst>
              <a:gd name="adj" fmla="val 14458"/>
            </a:avLst>
          </a:prstGeom>
          <a:solidFill>
            <a:schemeClr val="bg2"/>
          </a:solidFill>
          <a:ln/>
        </p:spPr>
      </p:sp>
      <p:sp>
        <p:nvSpPr>
          <p:cNvPr id="13" name="Layer 4 text"/>
          <p:cNvSpPr txBox="1"/>
          <p:nvPr/>
        </p:nvSpPr>
        <p:spPr>
          <a:xfrm>
            <a:off x="822960" y="3826764"/>
            <a:ext cx="7040880" cy="632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sentiment.py + safety.py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  tone, emotions, concerning phrases</a:t>
            </a:r>
            <a:endParaRPr lang="en-US" sz="1500" dirty="0"/>
          </a:p>
        </p:txBody>
      </p:sp>
      <p:sp>
        <p:nvSpPr>
          <p:cNvPr id="14" name="Arrow 4"/>
          <p:cNvSpPr/>
          <p:nvPr/>
        </p:nvSpPr>
        <p:spPr>
          <a:xfrm>
            <a:off x="4206240" y="4477512"/>
            <a:ext cx="201168" cy="164592"/>
          </a:xfrm>
          <a:prstGeom prst="downArrow">
            <a:avLst/>
          </a:prstGeom>
          <a:solidFill>
            <a:schemeClr val="accent4"/>
          </a:solidFill>
          <a:ln/>
        </p:spPr>
      </p:sp>
      <p:sp>
        <p:nvSpPr>
          <p:cNvPr id="15" name="Layer 5"/>
          <p:cNvSpPr/>
          <p:nvPr/>
        </p:nvSpPr>
        <p:spPr>
          <a:xfrm>
            <a:off x="548640" y="4660392"/>
            <a:ext cx="7498080" cy="632460"/>
          </a:xfrm>
          <a:prstGeom prst="roundRect">
            <a:avLst>
              <a:gd name="adj" fmla="val 14458"/>
            </a:avLst>
          </a:prstGeom>
          <a:solidFill>
            <a:schemeClr val="accent2"/>
          </a:solidFill>
          <a:ln/>
        </p:spPr>
      </p:sp>
      <p:sp>
        <p:nvSpPr>
          <p:cNvPr id="16" name="Layer 5 text"/>
          <p:cNvSpPr txBox="1"/>
          <p:nvPr/>
        </p:nvSpPr>
        <p:spPr>
          <a:xfrm>
            <a:off x="822960" y="4660392"/>
            <a:ext cx="7040880" cy="632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trends.py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  rolling means, CUSUM, dip run, OLS slope</a:t>
            </a:r>
            <a:endParaRPr lang="en-US" sz="1500" dirty="0"/>
          </a:p>
        </p:txBody>
      </p:sp>
      <p:sp>
        <p:nvSpPr>
          <p:cNvPr id="17" name="Arrow 5"/>
          <p:cNvSpPr/>
          <p:nvPr/>
        </p:nvSpPr>
        <p:spPr>
          <a:xfrm>
            <a:off x="4206240" y="5311140"/>
            <a:ext cx="201168" cy="164592"/>
          </a:xfrm>
          <a:prstGeom prst="downArrow">
            <a:avLst/>
          </a:prstGeom>
          <a:solidFill>
            <a:schemeClr val="accent4"/>
          </a:solidFill>
          <a:ln/>
        </p:spPr>
      </p:sp>
      <p:sp>
        <p:nvSpPr>
          <p:cNvPr id="18" name="Layer 6"/>
          <p:cNvSpPr/>
          <p:nvPr/>
        </p:nvSpPr>
        <p:spPr>
          <a:xfrm>
            <a:off x="548640" y="5494020"/>
            <a:ext cx="7498080" cy="632460"/>
          </a:xfrm>
          <a:prstGeom prst="roundRect">
            <a:avLst>
              <a:gd name="adj" fmla="val 14458"/>
            </a:avLst>
          </a:prstGeom>
          <a:solidFill>
            <a:schemeClr val="bg2"/>
          </a:solidFill>
          <a:ln/>
        </p:spPr>
      </p:sp>
      <p:sp>
        <p:nvSpPr>
          <p:cNvPr id="19" name="Layer 6 text"/>
          <p:cNvSpPr txBox="1"/>
          <p:nvPr/>
        </p:nvSpPr>
        <p:spPr>
          <a:xfrm>
            <a:off x="822960" y="5494020"/>
            <a:ext cx="7040880" cy="632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store.py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  consent-aware state in data/state.json</a:t>
            </a:r>
            <a:endParaRPr lang="en-US" sz="1500" dirty="0"/>
          </a:p>
        </p:txBody>
      </p:sp>
      <p:sp>
        <p:nvSpPr>
          <p:cNvPr id="20" name="Tech card"/>
          <p:cNvSpPr/>
          <p:nvPr/>
        </p:nvSpPr>
        <p:spPr>
          <a:xfrm>
            <a:off x="8412480" y="1325880"/>
            <a:ext cx="3230575" cy="4800600"/>
          </a:xfrm>
          <a:prstGeom prst="roundRect">
            <a:avLst>
              <a:gd name="adj" fmla="val 3397"/>
            </a:avLst>
          </a:prstGeom>
          <a:solidFill>
            <a:schemeClr val="tx2"/>
          </a:solidFill>
          <a:ln/>
        </p:spPr>
      </p:sp>
      <p:sp>
        <p:nvSpPr>
          <p:cNvPr id="21" name="Tech title"/>
          <p:cNvSpPr txBox="1"/>
          <p:nvPr/>
        </p:nvSpPr>
        <p:spPr>
          <a:xfrm>
            <a:off x="8686800" y="15544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Tech stack</a:t>
            </a:r>
            <a:endParaRPr lang="en-US" sz="1800" dirty="0"/>
          </a:p>
        </p:txBody>
      </p:sp>
      <p:sp>
        <p:nvSpPr>
          <p:cNvPr id="22" name="Tech list"/>
          <p:cNvSpPr txBox="1"/>
          <p:nvPr/>
        </p:nvSpPr>
        <p:spPr>
          <a:xfrm>
            <a:off x="8686800" y="2103120"/>
            <a:ext cx="2743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Python 3 stdlib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http.server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Vanilla HTML/CSS/JS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Inline SVG charts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unittest (100 tests)</a:t>
            </a:r>
            <a:endParaRPr lang="en-US" sz="1400" dirty="0"/>
          </a:p>
        </p:txBody>
      </p:sp>
      <p:sp>
        <p:nvSpPr>
          <p:cNvPr id="23" name="Offline note"/>
          <p:cNvSpPr txBox="1"/>
          <p:nvPr/>
        </p:nvSpPr>
        <p:spPr>
          <a:xfrm>
            <a:off x="8686800" y="512064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6"/>
                </a:solidFill>
              </a:rPr>
              <a:t>Runs fully offline · no installs · python app.py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Algorithms built from scratch</a:t>
            </a:r>
            <a:endParaRPr lang="en-US" sz="3600" dirty="0"/>
          </a:p>
        </p:txBody>
      </p:sp>
      <p:sp>
        <p:nvSpPr>
          <p:cNvPr id="3" name="Algorithm 1 card"/>
          <p:cNvSpPr/>
          <p:nvPr/>
        </p:nvSpPr>
        <p:spPr>
          <a:xfrm>
            <a:off x="548640" y="1371600"/>
            <a:ext cx="5410048" cy="1432560"/>
          </a:xfrm>
          <a:prstGeom prst="roundRect">
            <a:avLst>
              <a:gd name="adj" fmla="val 6383"/>
            </a:avLst>
          </a:prstGeom>
          <a:solidFill>
            <a:schemeClr val="bg2"/>
          </a:solidFill>
          <a:ln/>
        </p:spPr>
      </p:sp>
      <p:sp>
        <p:nvSpPr>
          <p:cNvPr id="4" name="Algorithm 1 number"/>
          <p:cNvSpPr txBox="1"/>
          <p:nvPr/>
        </p:nvSpPr>
        <p:spPr>
          <a:xfrm>
            <a:off x="777240" y="1371600"/>
            <a:ext cx="731520" cy="143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01</a:t>
            </a:r>
            <a:endParaRPr lang="en-US" sz="2800" dirty="0"/>
          </a:p>
        </p:txBody>
      </p:sp>
      <p:sp>
        <p:nvSpPr>
          <p:cNvPr id="5" name="Algorithm 1 text"/>
          <p:cNvSpPr txBox="1"/>
          <p:nvPr/>
        </p:nvSpPr>
        <p:spPr>
          <a:xfrm>
            <a:off x="1554480" y="1371600"/>
            <a:ext cx="4221328" cy="143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PHQ-9 / GAD-7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published 0-3 scoring and severity bands</a:t>
            </a:r>
            <a:endParaRPr lang="en-US" sz="1700" dirty="0"/>
          </a:p>
        </p:txBody>
      </p:sp>
      <p:sp>
        <p:nvSpPr>
          <p:cNvPr id="6" name="Algorithm 2 card"/>
          <p:cNvSpPr/>
          <p:nvPr/>
        </p:nvSpPr>
        <p:spPr>
          <a:xfrm>
            <a:off x="6233008" y="1371600"/>
            <a:ext cx="5410048" cy="1432560"/>
          </a:xfrm>
          <a:prstGeom prst="roundRect">
            <a:avLst>
              <a:gd name="adj" fmla="val 6383"/>
            </a:avLst>
          </a:prstGeom>
          <a:solidFill>
            <a:schemeClr val="bg2"/>
          </a:solidFill>
          <a:ln/>
        </p:spPr>
      </p:sp>
      <p:sp>
        <p:nvSpPr>
          <p:cNvPr id="7" name="Algorithm 2 number"/>
          <p:cNvSpPr txBox="1"/>
          <p:nvPr/>
        </p:nvSpPr>
        <p:spPr>
          <a:xfrm>
            <a:off x="6461608" y="1371600"/>
            <a:ext cx="731520" cy="143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02</a:t>
            </a:r>
            <a:endParaRPr lang="en-US" sz="2800" dirty="0"/>
          </a:p>
        </p:txBody>
      </p:sp>
      <p:sp>
        <p:nvSpPr>
          <p:cNvPr id="8" name="Algorithm 2 text"/>
          <p:cNvSpPr txBox="1"/>
          <p:nvPr/>
        </p:nvSpPr>
        <p:spPr>
          <a:xfrm>
            <a:off x="7238848" y="1371600"/>
            <a:ext cx="4221328" cy="143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Lexicon sentiment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valence, negation, intensifiers, 'but', emoji</a:t>
            </a:r>
            <a:endParaRPr lang="en-US" sz="1700" dirty="0"/>
          </a:p>
        </p:txBody>
      </p:sp>
      <p:sp>
        <p:nvSpPr>
          <p:cNvPr id="9" name="Algorithm 3 card"/>
          <p:cNvSpPr/>
          <p:nvPr/>
        </p:nvSpPr>
        <p:spPr>
          <a:xfrm>
            <a:off x="548640" y="3032760"/>
            <a:ext cx="5410048" cy="1432560"/>
          </a:xfrm>
          <a:prstGeom prst="roundRect">
            <a:avLst>
              <a:gd name="adj" fmla="val 6383"/>
            </a:avLst>
          </a:prstGeom>
          <a:solidFill>
            <a:schemeClr val="bg2"/>
          </a:solidFill>
          <a:ln/>
        </p:spPr>
      </p:sp>
      <p:sp>
        <p:nvSpPr>
          <p:cNvPr id="10" name="Algorithm 3 number"/>
          <p:cNvSpPr txBox="1"/>
          <p:nvPr/>
        </p:nvSpPr>
        <p:spPr>
          <a:xfrm>
            <a:off x="777240" y="3032760"/>
            <a:ext cx="731520" cy="143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03</a:t>
            </a:r>
            <a:endParaRPr lang="en-US" sz="2800" dirty="0"/>
          </a:p>
        </p:txBody>
      </p:sp>
      <p:sp>
        <p:nvSpPr>
          <p:cNvPr id="11" name="Algorithm 3 text"/>
          <p:cNvSpPr txBox="1"/>
          <p:nvPr/>
        </p:nvSpPr>
        <p:spPr>
          <a:xfrm>
            <a:off x="1554480" y="3032760"/>
            <a:ext cx="4221328" cy="143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Safety net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41 phrase rules + first-person co-occurrence layer</a:t>
            </a:r>
            <a:endParaRPr lang="en-US" sz="1700" dirty="0"/>
          </a:p>
        </p:txBody>
      </p:sp>
      <p:sp>
        <p:nvSpPr>
          <p:cNvPr id="12" name="Algorithm 4 card"/>
          <p:cNvSpPr/>
          <p:nvPr/>
        </p:nvSpPr>
        <p:spPr>
          <a:xfrm>
            <a:off x="6233008" y="3032760"/>
            <a:ext cx="5410048" cy="1432560"/>
          </a:xfrm>
          <a:prstGeom prst="roundRect">
            <a:avLst>
              <a:gd name="adj" fmla="val 6383"/>
            </a:avLst>
          </a:prstGeom>
          <a:solidFill>
            <a:schemeClr val="bg2"/>
          </a:solidFill>
          <a:ln/>
        </p:spPr>
      </p:sp>
      <p:sp>
        <p:nvSpPr>
          <p:cNvPr id="13" name="Algorithm 4 number"/>
          <p:cNvSpPr txBox="1"/>
          <p:nvPr/>
        </p:nvSpPr>
        <p:spPr>
          <a:xfrm>
            <a:off x="6461608" y="3032760"/>
            <a:ext cx="731520" cy="143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04</a:t>
            </a:r>
            <a:endParaRPr lang="en-US" sz="2800" dirty="0"/>
          </a:p>
        </p:txBody>
      </p:sp>
      <p:sp>
        <p:nvSpPr>
          <p:cNvPr id="14" name="Algorithm 4 text"/>
          <p:cNvSpPr txBox="1"/>
          <p:nvPr/>
        </p:nvSpPr>
        <p:spPr>
          <a:xfrm>
            <a:off x="7238848" y="3032760"/>
            <a:ext cx="4221328" cy="143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One-sided CUSUM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small persistent dips vs personal baseline</a:t>
            </a:r>
            <a:endParaRPr lang="en-US" sz="1700" dirty="0"/>
          </a:p>
        </p:txBody>
      </p:sp>
      <p:sp>
        <p:nvSpPr>
          <p:cNvPr id="15" name="Algorithm 5 card"/>
          <p:cNvSpPr/>
          <p:nvPr/>
        </p:nvSpPr>
        <p:spPr>
          <a:xfrm>
            <a:off x="548640" y="4693920"/>
            <a:ext cx="5410048" cy="1432560"/>
          </a:xfrm>
          <a:prstGeom prst="roundRect">
            <a:avLst>
              <a:gd name="adj" fmla="val 6383"/>
            </a:avLst>
          </a:prstGeom>
          <a:solidFill>
            <a:schemeClr val="bg2"/>
          </a:solidFill>
          <a:ln/>
        </p:spPr>
      </p:sp>
      <p:sp>
        <p:nvSpPr>
          <p:cNvPr id="16" name="Algorithm 5 number"/>
          <p:cNvSpPr txBox="1"/>
          <p:nvPr/>
        </p:nvSpPr>
        <p:spPr>
          <a:xfrm>
            <a:off x="777240" y="4693920"/>
            <a:ext cx="731520" cy="143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05</a:t>
            </a:r>
            <a:endParaRPr lang="en-US" sz="2800" dirty="0"/>
          </a:p>
        </p:txBody>
      </p:sp>
      <p:sp>
        <p:nvSpPr>
          <p:cNvPr id="17" name="Algorithm 5 text"/>
          <p:cNvSpPr txBox="1"/>
          <p:nvPr/>
        </p:nvSpPr>
        <p:spPr>
          <a:xfrm>
            <a:off x="1554480" y="4693920"/>
            <a:ext cx="4221328" cy="143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OLS slope t-test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supporting trend evidence</a:t>
            </a:r>
            <a:endParaRPr lang="en-US" sz="1700" dirty="0"/>
          </a:p>
        </p:txBody>
      </p:sp>
      <p:sp>
        <p:nvSpPr>
          <p:cNvPr id="18" name="Algorithm 6 card"/>
          <p:cNvSpPr/>
          <p:nvPr/>
        </p:nvSpPr>
        <p:spPr>
          <a:xfrm>
            <a:off x="6233008" y="4693920"/>
            <a:ext cx="5410048" cy="1432560"/>
          </a:xfrm>
          <a:prstGeom prst="roundRect">
            <a:avLst>
              <a:gd name="adj" fmla="val 6383"/>
            </a:avLst>
          </a:prstGeom>
          <a:solidFill>
            <a:schemeClr val="bg2"/>
          </a:solidFill>
          <a:ln/>
        </p:spPr>
      </p:sp>
      <p:sp>
        <p:nvSpPr>
          <p:cNvPr id="19" name="Algorithm 6 number"/>
          <p:cNvSpPr txBox="1"/>
          <p:nvPr/>
        </p:nvSpPr>
        <p:spPr>
          <a:xfrm>
            <a:off x="6461608" y="4693920"/>
            <a:ext cx="731520" cy="143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06</a:t>
            </a:r>
            <a:endParaRPr lang="en-US" sz="2800" dirty="0"/>
          </a:p>
        </p:txBody>
      </p:sp>
      <p:sp>
        <p:nvSpPr>
          <p:cNvPr id="20" name="Algorithm 6 text"/>
          <p:cNvSpPr txBox="1"/>
          <p:nvPr/>
        </p:nvSpPr>
        <p:spPr>
          <a:xfrm>
            <a:off x="7238848" y="4693920"/>
            <a:ext cx="4221328" cy="143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Greedy Pomodoro allocation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need x urgency, sleep protected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What makes it different</a:t>
            </a:r>
            <a:endParaRPr lang="en-US" sz="3600" dirty="0"/>
          </a:p>
        </p:txBody>
      </p:sp>
      <p:sp>
        <p:nvSpPr>
          <p:cNvPr id="3" name="Innovation 1 card"/>
          <p:cNvSpPr/>
          <p:nvPr/>
        </p:nvSpPr>
        <p:spPr>
          <a:xfrm>
            <a:off x="548640" y="1371600"/>
            <a:ext cx="5410048" cy="2148840"/>
          </a:xfrm>
          <a:prstGeom prst="roundRect">
            <a:avLst>
              <a:gd name="adj" fmla="val 5106"/>
            </a:avLst>
          </a:prstGeom>
          <a:solidFill>
            <a:schemeClr val="accent2"/>
          </a:solidFill>
          <a:ln/>
        </p:spPr>
      </p:sp>
      <p:sp>
        <p:nvSpPr>
          <p:cNvPr id="4" name="Innovation 1 circle"/>
          <p:cNvSpPr/>
          <p:nvPr/>
        </p:nvSpPr>
        <p:spPr>
          <a:xfrm>
            <a:off x="868680" y="210312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nnovation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0130" y="2274570"/>
            <a:ext cx="342900" cy="342900"/>
          </a:xfrm>
          <a:prstGeom prst="rect">
            <a:avLst/>
          </a:prstGeom>
        </p:spPr>
      </p:pic>
      <p:sp>
        <p:nvSpPr>
          <p:cNvPr id="6" name="Innovation 1 text"/>
          <p:cNvSpPr txBox="1"/>
          <p:nvPr/>
        </p:nvSpPr>
        <p:spPr>
          <a:xfrm>
            <a:off x="1783080" y="1371600"/>
            <a:ext cx="390128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Safety-first: crisis help one tap away on every screen</a:t>
            </a:r>
            <a:endParaRPr lang="en-US" sz="2000" dirty="0"/>
          </a:p>
        </p:txBody>
      </p:sp>
      <p:sp>
        <p:nvSpPr>
          <p:cNvPr id="7" name="Innovation 2 card"/>
          <p:cNvSpPr/>
          <p:nvPr/>
        </p:nvSpPr>
        <p:spPr>
          <a:xfrm>
            <a:off x="6233008" y="1371600"/>
            <a:ext cx="5410048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</p:spPr>
      </p:sp>
      <p:sp>
        <p:nvSpPr>
          <p:cNvPr id="8" name="Innovation 2 circle"/>
          <p:cNvSpPr/>
          <p:nvPr/>
        </p:nvSpPr>
        <p:spPr>
          <a:xfrm>
            <a:off x="6553048" y="210312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9" name="Innovation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4498" y="2274570"/>
            <a:ext cx="342900" cy="342900"/>
          </a:xfrm>
          <a:prstGeom prst="rect">
            <a:avLst/>
          </a:prstGeom>
        </p:spPr>
      </p:pic>
      <p:sp>
        <p:nvSpPr>
          <p:cNvPr id="10" name="Innovation 2 text"/>
          <p:cNvSpPr txBox="1"/>
          <p:nvPr/>
        </p:nvSpPr>
        <p:spPr>
          <a:xfrm>
            <a:off x="7467448" y="1371600"/>
            <a:ext cx="390128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Explainable, offline, no cloud: journal never leaves the laptop</a:t>
            </a:r>
            <a:endParaRPr lang="en-US" sz="2000" dirty="0"/>
          </a:p>
        </p:txBody>
      </p:sp>
      <p:sp>
        <p:nvSpPr>
          <p:cNvPr id="11" name="Innovation 3 card"/>
          <p:cNvSpPr/>
          <p:nvPr/>
        </p:nvSpPr>
        <p:spPr>
          <a:xfrm>
            <a:off x="548640" y="3794760"/>
            <a:ext cx="5410048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</p:spPr>
      </p:sp>
      <p:sp>
        <p:nvSpPr>
          <p:cNvPr id="12" name="Innovation 3 circle"/>
          <p:cNvSpPr/>
          <p:nvPr/>
        </p:nvSpPr>
        <p:spPr>
          <a:xfrm>
            <a:off x="868680" y="452628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nnovation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130" y="4697730"/>
            <a:ext cx="342900" cy="342900"/>
          </a:xfrm>
          <a:prstGeom prst="rect">
            <a:avLst/>
          </a:prstGeom>
        </p:spPr>
      </p:pic>
      <p:sp>
        <p:nvSpPr>
          <p:cNvPr id="14" name="Innovation 3 text"/>
          <p:cNvSpPr txBox="1"/>
          <p:nvPr/>
        </p:nvSpPr>
        <p:spPr>
          <a:xfrm>
            <a:off x="1783080" y="3794760"/>
            <a:ext cx="390128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Understands Tanglish and emoji the way students actually write</a:t>
            </a:r>
            <a:endParaRPr lang="en-US" sz="2000" dirty="0"/>
          </a:p>
        </p:txBody>
      </p:sp>
      <p:sp>
        <p:nvSpPr>
          <p:cNvPr id="15" name="Innovation 4 card"/>
          <p:cNvSpPr/>
          <p:nvPr/>
        </p:nvSpPr>
        <p:spPr>
          <a:xfrm>
            <a:off x="6233008" y="3794760"/>
            <a:ext cx="5410048" cy="2148840"/>
          </a:xfrm>
          <a:prstGeom prst="roundRect">
            <a:avLst>
              <a:gd name="adj" fmla="val 5106"/>
            </a:avLst>
          </a:prstGeom>
          <a:solidFill>
            <a:schemeClr val="accent2"/>
          </a:solidFill>
          <a:ln/>
        </p:spPr>
      </p:sp>
      <p:sp>
        <p:nvSpPr>
          <p:cNvPr id="16" name="Innovation 4 circle"/>
          <p:cNvSpPr/>
          <p:nvPr/>
        </p:nvSpPr>
        <p:spPr>
          <a:xfrm>
            <a:off x="6553048" y="452628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Innovation 4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4498" y="4697730"/>
            <a:ext cx="342900" cy="342900"/>
          </a:xfrm>
          <a:prstGeom prst="rect">
            <a:avLst/>
          </a:prstGeom>
        </p:spPr>
      </p:pic>
      <p:sp>
        <p:nvSpPr>
          <p:cNvPr id="18" name="Innovation 4 text"/>
          <p:cNvSpPr txBox="1"/>
          <p:nvPr/>
        </p:nvSpPr>
        <p:spPr>
          <a:xfrm>
            <a:off x="7467448" y="3794760"/>
            <a:ext cx="390128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Early signal for counsellors without surveillance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How we compare</a:t>
            </a:r>
            <a:endParaRPr lang="en-US" sz="3600" dirty="0"/>
          </a:p>
        </p:txBody>
      </p:sp>
      <p:graphicFrame>
        <p:nvGraphicFramePr>
          <p:cNvPr id="9" name="Comparis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3749040"/>
                <a:gridCol w="2448458"/>
                <a:gridCol w="2448458"/>
                <a:gridCol w="2448458"/>
              </a:tblGrid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36576" marB="36576">
                    <a:lnL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Walk-in counselling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36576" marB="36576" anchor="ctr">
                    <a:lnL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Generic wellness apps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36576" marB="36576" anchor="ctr">
                    <a:lnL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MindEase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36576" marB="36576" anchor="ctr">
                    <a:lnL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Early signal before a crisis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36576" marB="36576" anchor="ctr">
                    <a:lnL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9AA0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 No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36576" marB="36576" anchor="ctr">
                    <a:lnL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B26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  Partial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36576" marB="36576" anchor="ctr">
                    <a:lnL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Yes, opt-in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36576" marB="36576" anchor="ctr">
                    <a:lnL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Private, no cloud needed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36576" marB="36576" anchor="ctr">
                    <a:lnL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Yes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36576" marB="36576" anchor="ctr">
                    <a:lnL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Often cloud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36576" marB="36576" anchor="ctr">
                    <a:lnL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Yes, local only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36576" marB="36576" anchor="ctr">
                    <a:lnL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Explains each flag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36576" marB="36576" anchor="ctr">
                    <a:lnL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Human judgement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36576" marB="36576" anchor="ctr">
                    <a:lnL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B26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  Partial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36576" marB="36576" anchor="ctr">
                    <a:lnL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Yes, rule shown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36576" marB="36576" anchor="ctr">
                    <a:lnL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Helpline one tap away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36576" marB="36576" anchor="ctr">
                    <a:lnL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Office hours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36576" marB="36576" anchor="ctr">
                    <a:lnL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B26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  Partial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36576" marB="36576" anchor="ctr">
                    <a:lnL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Yes, every screen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36576" marB="36576" anchor="ctr">
                    <a:lnL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Clinical diagnosis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36576" marB="36576" anchor="ctr">
                    <a:lnL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Yes, by experts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36576" marB="36576" anchor="ctr">
                    <a:lnL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9AA0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 No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36576" marB="36576" anchor="ctr">
                    <a:lnL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9AA0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 No, screening only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36576" marB="36576" anchor="ctr">
                    <a:lnL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Measured results</a:t>
            </a:r>
            <a:endParaRPr lang="en-US" sz="3600" dirty="0"/>
          </a:p>
        </p:txBody>
      </p:sp>
      <p:sp>
        <p:nvSpPr>
          <p:cNvPr id="3" name="Result 1 card"/>
          <p:cNvSpPr/>
          <p:nvPr/>
        </p:nvSpPr>
        <p:spPr>
          <a:xfrm>
            <a:off x="548640" y="1463040"/>
            <a:ext cx="2567864" cy="2377440"/>
          </a:xfrm>
          <a:prstGeom prst="roundRect">
            <a:avLst>
              <a:gd name="adj" fmla="val 4615"/>
            </a:avLst>
          </a:prstGeom>
          <a:solidFill>
            <a:schemeClr val="tx2"/>
          </a:solidFill>
          <a:ln/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4" name="Result 1 value"/>
          <p:cNvSpPr txBox="1"/>
          <p:nvPr/>
        </p:nvSpPr>
        <p:spPr>
          <a:xfrm>
            <a:off x="777240" y="1645920"/>
            <a:ext cx="21106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6"/>
                </a:solidFill>
              </a:rPr>
              <a:t>78%</a:t>
            </a:r>
            <a:endParaRPr lang="en-US" sz="4000" dirty="0"/>
          </a:p>
        </p:txBody>
      </p:sp>
      <p:sp>
        <p:nvSpPr>
          <p:cNvPr id="5" name="Result 1 label"/>
          <p:cNvSpPr txBox="1"/>
          <p:nvPr/>
        </p:nvSpPr>
        <p:spPr>
          <a:xfrm>
            <a:off x="777240" y="2743200"/>
            <a:ext cx="2110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sentiment accuracy, 50 untuned sentences (word count: 70%)</a:t>
            </a:r>
            <a:endParaRPr lang="en-US" sz="1400" dirty="0"/>
          </a:p>
        </p:txBody>
      </p:sp>
      <p:sp>
        <p:nvSpPr>
          <p:cNvPr id="6" name="Result 2 card"/>
          <p:cNvSpPr/>
          <p:nvPr/>
        </p:nvSpPr>
        <p:spPr>
          <a:xfrm>
            <a:off x="3390824" y="1463040"/>
            <a:ext cx="2567864" cy="2377440"/>
          </a:xfrm>
          <a:prstGeom prst="roundRect">
            <a:avLst>
              <a:gd name="adj" fmla="val 4615"/>
            </a:avLst>
          </a:prstGeom>
          <a:solidFill>
            <a:schemeClr val="tx2"/>
          </a:solidFill>
          <a:ln/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7" name="Result 2 value"/>
          <p:cNvSpPr txBox="1"/>
          <p:nvPr/>
        </p:nvSpPr>
        <p:spPr>
          <a:xfrm>
            <a:off x="3619424" y="1645920"/>
            <a:ext cx="21106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6"/>
                </a:solidFill>
              </a:rPr>
              <a:t>24/24</a:t>
            </a:r>
            <a:endParaRPr lang="en-US" sz="4000" dirty="0"/>
          </a:p>
        </p:txBody>
      </p:sp>
      <p:sp>
        <p:nvSpPr>
          <p:cNvPr id="8" name="Result 2 label"/>
          <p:cNvSpPr txBox="1"/>
          <p:nvPr/>
        </p:nvSpPr>
        <p:spPr>
          <a:xfrm>
            <a:off x="3619424" y="2743200"/>
            <a:ext cx="2110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direct risk phrases caught, 0/22 false alarms; 8/10 indirect</a:t>
            </a:r>
            <a:endParaRPr lang="en-US" sz="1400" dirty="0"/>
          </a:p>
        </p:txBody>
      </p:sp>
      <p:sp>
        <p:nvSpPr>
          <p:cNvPr id="9" name="Result 3 card"/>
          <p:cNvSpPr/>
          <p:nvPr/>
        </p:nvSpPr>
        <p:spPr>
          <a:xfrm>
            <a:off x="6233008" y="1463040"/>
            <a:ext cx="2567864" cy="2377440"/>
          </a:xfrm>
          <a:prstGeom prst="roundRect">
            <a:avLst>
              <a:gd name="adj" fmla="val 4615"/>
            </a:avLst>
          </a:prstGeom>
          <a:solidFill>
            <a:schemeClr val="tx2"/>
          </a:solidFill>
          <a:ln/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10" name="Result 3 value"/>
          <p:cNvSpPr txBox="1"/>
          <p:nvPr/>
        </p:nvSpPr>
        <p:spPr>
          <a:xfrm>
            <a:off x="6461608" y="1645920"/>
            <a:ext cx="21106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6"/>
                </a:solidFill>
              </a:rPr>
              <a:t>90% · 3%</a:t>
            </a:r>
            <a:endParaRPr lang="en-US" sz="3000" dirty="0"/>
          </a:p>
        </p:txBody>
      </p:sp>
      <p:sp>
        <p:nvSpPr>
          <p:cNvPr id="11" name="Result 3 label"/>
          <p:cNvSpPr txBox="1"/>
          <p:nvPr/>
        </p:nvSpPr>
        <p:spPr>
          <a:xfrm>
            <a:off x="6461608" y="2743200"/>
            <a:ext cx="2110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sim. mood dips flagged · false alarms per stable week</a:t>
            </a:r>
            <a:endParaRPr lang="en-US" sz="1400" dirty="0"/>
          </a:p>
        </p:txBody>
      </p:sp>
      <p:sp>
        <p:nvSpPr>
          <p:cNvPr id="12" name="Result 4 card"/>
          <p:cNvSpPr/>
          <p:nvPr/>
        </p:nvSpPr>
        <p:spPr>
          <a:xfrm>
            <a:off x="9075191" y="1463040"/>
            <a:ext cx="2567864" cy="2377440"/>
          </a:xfrm>
          <a:prstGeom prst="roundRect">
            <a:avLst>
              <a:gd name="adj" fmla="val 4615"/>
            </a:avLst>
          </a:prstGeom>
          <a:solidFill>
            <a:schemeClr val="tx2"/>
          </a:solidFill>
          <a:ln/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13" name="Result 4 value"/>
          <p:cNvSpPr txBox="1"/>
          <p:nvPr/>
        </p:nvSpPr>
        <p:spPr>
          <a:xfrm>
            <a:off x="9303791" y="1645920"/>
            <a:ext cx="21106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6"/>
                </a:solidFill>
              </a:rPr>
              <a:t>0.1 ms</a:t>
            </a:r>
            <a:endParaRPr lang="en-US" sz="4000" dirty="0"/>
          </a:p>
        </p:txBody>
      </p:sp>
      <p:sp>
        <p:nvSpPr>
          <p:cNvPr id="14" name="Result 4 label"/>
          <p:cNvSpPr txBox="1"/>
          <p:nvPr/>
        </p:nvSpPr>
        <p:spPr>
          <a:xfrm>
            <a:off x="9303791" y="2743200"/>
            <a:ext cx="2110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to analyse one journal entry (pure Python)</a:t>
            </a:r>
            <a:endParaRPr lang="en-US" sz="1400" dirty="0"/>
          </a:p>
        </p:txBody>
      </p:sp>
      <p:sp>
        <p:nvSpPr>
          <p:cNvPr id="15" name="Results caveat"/>
          <p:cNvSpPr txBox="1"/>
          <p:nvPr/>
        </p:nvSpPr>
        <p:spPr>
          <a:xfrm>
            <a:off x="548640" y="41605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4"/>
                </a:solidFill>
              </a:rPr>
              <a:t>Measured on held-out data generated by the project (see REPORT.md for method). Real-world performance needs field validation.</a:t>
            </a:r>
            <a:endParaRPr lang="en-US" sz="1200" dirty="0"/>
          </a:p>
        </p:txBody>
      </p:sp>
      <p:sp>
        <p:nvSpPr>
          <p:cNvPr id="16" name="Impact strip"/>
          <p:cNvSpPr/>
          <p:nvPr/>
        </p:nvSpPr>
        <p:spPr>
          <a:xfrm>
            <a:off x="548640" y="4754880"/>
            <a:ext cx="11094415" cy="1371600"/>
          </a:xfrm>
          <a:prstGeom prst="roundRect">
            <a:avLst>
              <a:gd name="adj" fmla="val 8000"/>
            </a:avLst>
          </a:prstGeom>
          <a:solidFill>
            <a:schemeClr val="accent2"/>
          </a:solidFill>
          <a:ln/>
        </p:spPr>
      </p:sp>
      <p:sp>
        <p:nvSpPr>
          <p:cNvPr id="17" name="Impact circle"/>
          <p:cNvSpPr/>
          <p:nvPr/>
        </p:nvSpPr>
        <p:spPr>
          <a:xfrm>
            <a:off x="822960" y="51206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8" name="Impact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5280660"/>
            <a:ext cx="320040" cy="320040"/>
          </a:xfrm>
          <a:prstGeom prst="rect">
            <a:avLst/>
          </a:prstGeom>
        </p:spPr>
      </p:pic>
      <p:sp>
        <p:nvSpPr>
          <p:cNvPr id="19" name="Impact text"/>
          <p:cNvSpPr txBox="1"/>
          <p:nvPr/>
        </p:nvSpPr>
        <p:spPr>
          <a:xfrm>
            <a:off x="1737360" y="4754880"/>
            <a:ext cx="963137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Impact 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Earlier, stigma-free first step towards help  ·  Counsellors spot exam-time spikes and plan outreach  ·  Crisis numbers always visible, never buried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Live demo in 3 minutes</a:t>
            </a:r>
            <a:endParaRPr lang="en-US" sz="3600" dirty="0"/>
          </a:p>
        </p:txBody>
      </p:sp>
      <p:sp>
        <p:nvSpPr>
          <p:cNvPr id="3" name="Step 1 dot"/>
          <p:cNvSpPr/>
          <p:nvPr/>
        </p:nvSpPr>
        <p:spPr>
          <a:xfrm>
            <a:off x="548640" y="143560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Step 1 number"/>
          <p:cNvSpPr txBox="1"/>
          <p:nvPr/>
        </p:nvSpPr>
        <p:spPr>
          <a:xfrm>
            <a:off x="548640" y="1435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Step 1 text"/>
          <p:cNvSpPr txBox="1"/>
          <p:nvPr/>
        </p:nvSpPr>
        <p:spPr>
          <a:xfrm>
            <a:off x="1234440" y="1371600"/>
            <a:ext cx="5120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Load demo data: Ananya's 3-week journal, 60-student cohort</a:t>
            </a:r>
            <a:endParaRPr lang="en-US" sz="1600" dirty="0"/>
          </a:p>
        </p:txBody>
      </p:sp>
      <p:sp>
        <p:nvSpPr>
          <p:cNvPr id="6" name="Step 2 dot"/>
          <p:cNvSpPr/>
          <p:nvPr/>
        </p:nvSpPr>
        <p:spPr>
          <a:xfrm>
            <a:off x="548640" y="213055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Step 2 number"/>
          <p:cNvSpPr txBox="1"/>
          <p:nvPr/>
        </p:nvSpPr>
        <p:spPr>
          <a:xfrm>
            <a:off x="548640" y="2130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8" name="Step 2 text"/>
          <p:cNvSpPr txBox="1"/>
          <p:nvPr/>
        </p:nvSpPr>
        <p:spPr>
          <a:xfrm>
            <a:off x="1234440" y="2066544"/>
            <a:ext cx="5120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Today: 'mood dipped for 5 days', tap Why? to see CUSUM</a:t>
            </a:r>
            <a:endParaRPr lang="en-US" sz="1600" dirty="0"/>
          </a:p>
        </p:txBody>
      </p:sp>
      <p:sp>
        <p:nvSpPr>
          <p:cNvPr id="9" name="Step 3 dot"/>
          <p:cNvSpPr/>
          <p:nvPr/>
        </p:nvSpPr>
        <p:spPr>
          <a:xfrm>
            <a:off x="548640" y="2825496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Step 3 number"/>
          <p:cNvSpPr txBox="1"/>
          <p:nvPr/>
        </p:nvSpPr>
        <p:spPr>
          <a:xfrm>
            <a:off x="548640" y="2825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1" name="Step 3 text"/>
          <p:cNvSpPr txBox="1"/>
          <p:nvPr/>
        </p:nvSpPr>
        <p:spPr>
          <a:xfrm>
            <a:off x="1234440" y="2761488"/>
            <a:ext cx="5120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Journal example: 'killing me' ignored, hopeless phrase noticed</a:t>
            </a:r>
            <a:endParaRPr lang="en-US" sz="1600" dirty="0"/>
          </a:p>
        </p:txBody>
      </p:sp>
      <p:sp>
        <p:nvSpPr>
          <p:cNvPr id="12" name="Step 4 dot"/>
          <p:cNvSpPr/>
          <p:nvPr/>
        </p:nvSpPr>
        <p:spPr>
          <a:xfrm>
            <a:off x="548640" y="35204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Step 4 number"/>
          <p:cNvSpPr txBox="1"/>
          <p:nvPr/>
        </p:nvSpPr>
        <p:spPr>
          <a:xfrm>
            <a:off x="548640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4" name="Step 4 text"/>
          <p:cNvSpPr txBox="1"/>
          <p:nvPr/>
        </p:nvSpPr>
        <p:spPr>
          <a:xfrm>
            <a:off x="1234440" y="3456432"/>
            <a:ext cx="5120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Gentle support screen: Tele-MANAS 14416, 112, counsellor</a:t>
            </a:r>
            <a:endParaRPr lang="en-US" sz="1600" dirty="0"/>
          </a:p>
        </p:txBody>
      </p:sp>
      <p:sp>
        <p:nvSpPr>
          <p:cNvPr id="15" name="Step 5 dot"/>
          <p:cNvSpPr/>
          <p:nvPr/>
        </p:nvSpPr>
        <p:spPr>
          <a:xfrm>
            <a:off x="548640" y="4215384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Step 5 number"/>
          <p:cNvSpPr txBox="1"/>
          <p:nvPr/>
        </p:nvSpPr>
        <p:spPr>
          <a:xfrm>
            <a:off x="548640" y="4215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17" name="Step 5 text"/>
          <p:cNvSpPr txBox="1"/>
          <p:nvPr/>
        </p:nvSpPr>
        <p:spPr>
          <a:xfrm>
            <a:off x="1234440" y="4151376"/>
            <a:ext cx="5120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Check-in: item 9 answer opens support instantly</a:t>
            </a:r>
            <a:endParaRPr lang="en-US" sz="1600" dirty="0"/>
          </a:p>
        </p:txBody>
      </p:sp>
      <p:sp>
        <p:nvSpPr>
          <p:cNvPr id="18" name="Step 6 dot"/>
          <p:cNvSpPr/>
          <p:nvPr/>
        </p:nvSpPr>
        <p:spPr>
          <a:xfrm>
            <a:off x="548640" y="491032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9" name="Step 6 number"/>
          <p:cNvSpPr txBox="1"/>
          <p:nvPr/>
        </p:nvSpPr>
        <p:spPr>
          <a:xfrm>
            <a:off x="548640" y="4910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20" name="Step 6 text"/>
          <p:cNvSpPr txBox="1"/>
          <p:nvPr/>
        </p:nvSpPr>
        <p:spPr>
          <a:xfrm>
            <a:off x="1234440" y="4846320"/>
            <a:ext cx="5120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Toolkit: box breathing and Pomodoro exam plan</a:t>
            </a:r>
            <a:endParaRPr lang="en-US" sz="1600" dirty="0"/>
          </a:p>
        </p:txBody>
      </p:sp>
      <p:sp>
        <p:nvSpPr>
          <p:cNvPr id="21" name="Step 7 dot"/>
          <p:cNvSpPr/>
          <p:nvPr/>
        </p:nvSpPr>
        <p:spPr>
          <a:xfrm>
            <a:off x="548640" y="560527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2" name="Step 7 number"/>
          <p:cNvSpPr txBox="1"/>
          <p:nvPr/>
        </p:nvSpPr>
        <p:spPr>
          <a:xfrm>
            <a:off x="548640" y="5605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7</a:t>
            </a:r>
            <a:endParaRPr lang="en-US" sz="1600" dirty="0"/>
          </a:p>
        </p:txBody>
      </p:sp>
      <p:sp>
        <p:nvSpPr>
          <p:cNvPr id="23" name="Step 7 text"/>
          <p:cNvSpPr txBox="1"/>
          <p:nvPr/>
        </p:nvSpPr>
        <p:spPr>
          <a:xfrm>
            <a:off x="1234440" y="5541264"/>
            <a:ext cx="5120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Counsellor (PIN 2468): exam spike, acknowledge alert</a:t>
            </a:r>
            <a:endParaRPr lang="en-US" sz="1600" dirty="0"/>
          </a:p>
        </p:txBody>
      </p:sp>
      <p:sp>
        <p:nvSpPr>
          <p:cNvPr id="24" name="Demo screenshot frame"/>
          <p:cNvSpPr/>
          <p:nvPr/>
        </p:nvSpPr>
        <p:spPr>
          <a:xfrm>
            <a:off x="6528816" y="1545336"/>
            <a:ext cx="5138928" cy="3252978"/>
          </a:xfrm>
          <a:prstGeom prst="roundRect">
            <a:avLst>
              <a:gd name="adj" fmla="val 2249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25" name="Demo screenshot" descr="MindEase screenshot: Journ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1600200"/>
            <a:ext cx="5029200" cy="3143250"/>
          </a:xfrm>
          <a:prstGeom prst="rect">
            <a:avLst/>
          </a:prstGeom>
        </p:spPr>
      </p:pic>
      <p:sp>
        <p:nvSpPr>
          <p:cNvPr id="26" name="Demo screenshot caption"/>
          <p:cNvSpPr txBox="1"/>
          <p:nvPr/>
        </p:nvSpPr>
        <p:spPr>
          <a:xfrm>
            <a:off x="6583680" y="488061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1"/>
                </a:solidFill>
              </a:rPr>
              <a:t>▸ </a:t>
            </a:r>
            <a:pPr algn="ctr"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Journal</a:t>
            </a:r>
            <a:endParaRPr lang="en-US" sz="1200" dirty="0"/>
          </a:p>
        </p:txBody>
      </p:sp>
      <p:sp>
        <p:nvSpPr>
          <p:cNvPr id="27" name="Run command"/>
          <p:cNvSpPr txBox="1"/>
          <p:nvPr/>
        </p:nvSpPr>
        <p:spPr>
          <a:xfrm>
            <a:off x="6583680" y="524637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app.py  →  http://localhost:8016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Feasibility, business model &amp; roadmap</a:t>
            </a:r>
            <a:endParaRPr lang="en-US" sz="3600" dirty="0"/>
          </a:p>
        </p:txBody>
      </p:sp>
      <p:sp>
        <p:nvSpPr>
          <p:cNvPr id="3" name="Business model card"/>
          <p:cNvSpPr/>
          <p:nvPr/>
        </p:nvSpPr>
        <p:spPr>
          <a:xfrm>
            <a:off x="548640" y="1371600"/>
            <a:ext cx="5410048" cy="4297680"/>
          </a:xfrm>
          <a:prstGeom prst="roundRect">
            <a:avLst>
              <a:gd name="adj" fmla="val 2553"/>
            </a:avLst>
          </a:prstGeom>
          <a:solidFill>
            <a:schemeClr val="bg2"/>
          </a:solidFill>
          <a:ln/>
        </p:spPr>
      </p:sp>
      <p:sp>
        <p:nvSpPr>
          <p:cNvPr id="4" name="Business model circle"/>
          <p:cNvSpPr/>
          <p:nvPr/>
        </p:nvSpPr>
        <p:spPr>
          <a:xfrm>
            <a:off x="868680" y="16459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Business model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783080"/>
            <a:ext cx="274320" cy="274320"/>
          </a:xfrm>
          <a:prstGeom prst="rect">
            <a:avLst/>
          </a:prstGeom>
        </p:spPr>
      </p:pic>
      <p:sp>
        <p:nvSpPr>
          <p:cNvPr id="6" name="Business model title"/>
          <p:cNvSpPr txBox="1"/>
          <p:nvPr/>
        </p:nvSpPr>
        <p:spPr>
          <a:xfrm>
            <a:off x="1600200" y="1645920"/>
            <a:ext cx="403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Business model</a:t>
            </a:r>
            <a:endParaRPr lang="en-US" sz="2000" dirty="0"/>
          </a:p>
        </p:txBody>
      </p:sp>
      <p:sp>
        <p:nvSpPr>
          <p:cNvPr id="7" name="Business model list"/>
          <p:cNvSpPr txBox="1"/>
          <p:nvPr/>
        </p:nvSpPr>
        <p:spPr>
          <a:xfrm>
            <a:off x="914400" y="2468880"/>
            <a:ext cx="4678528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Free for students, always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College licence for the counsellor dashboard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Deploy via student-welfare and NSS/CSR programmes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Paid add-ons: SSO, multi-campus reports, local languages</a:t>
            </a:r>
            <a:endParaRPr lang="en-US" sz="1600" dirty="0"/>
          </a:p>
        </p:txBody>
      </p:sp>
      <p:sp>
        <p:nvSpPr>
          <p:cNvPr id="8" name="Future scope card"/>
          <p:cNvSpPr/>
          <p:nvPr/>
        </p:nvSpPr>
        <p:spPr>
          <a:xfrm>
            <a:off x="6233008" y="1371600"/>
            <a:ext cx="5410048" cy="4297680"/>
          </a:xfrm>
          <a:prstGeom prst="roundRect">
            <a:avLst>
              <a:gd name="adj" fmla="val 2553"/>
            </a:avLst>
          </a:prstGeom>
          <a:solidFill>
            <a:schemeClr val="accent2"/>
          </a:solidFill>
          <a:ln/>
        </p:spPr>
      </p:sp>
      <p:sp>
        <p:nvSpPr>
          <p:cNvPr id="9" name="Future scope circle"/>
          <p:cNvSpPr/>
          <p:nvPr/>
        </p:nvSpPr>
        <p:spPr>
          <a:xfrm>
            <a:off x="6553048" y="16459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Future scope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0208" y="1783080"/>
            <a:ext cx="274320" cy="274320"/>
          </a:xfrm>
          <a:prstGeom prst="rect">
            <a:avLst/>
          </a:prstGeom>
        </p:spPr>
      </p:pic>
      <p:sp>
        <p:nvSpPr>
          <p:cNvPr id="11" name="Future scope title"/>
          <p:cNvSpPr txBox="1"/>
          <p:nvPr/>
        </p:nvSpPr>
        <p:spPr>
          <a:xfrm>
            <a:off x="7284568" y="1645920"/>
            <a:ext cx="403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Future scope</a:t>
            </a:r>
            <a:endParaRPr lang="en-US" sz="2000" dirty="0"/>
          </a:p>
        </p:txBody>
      </p:sp>
      <p:sp>
        <p:nvSpPr>
          <p:cNvPr id="12" name="Future scope list"/>
          <p:cNvSpPr txBox="1"/>
          <p:nvPr/>
        </p:nvSpPr>
        <p:spPr>
          <a:xfrm>
            <a:off x="6598768" y="2468880"/>
            <a:ext cx="4678528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Validate with the counselling cell under ethics approval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Official Tamil/Hindi PHQ-9 and GAD-7 translations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Larger, multi-rater Tanglish lexicon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Encrypted on-device storage as a mobile PWA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Trained peer-listener matching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hanks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bg1"/>
                </a:solidFill>
              </a:rPr>
              <a:t>Thank you</a:t>
            </a:r>
            <a:endParaRPr lang="en-US" sz="6000" dirty="0"/>
          </a:p>
        </p:txBody>
      </p:sp>
      <p:sp>
        <p:nvSpPr>
          <p:cNvPr id="3" name="Thanks tagline"/>
          <p:cNvSpPr txBox="1"/>
          <p:nvPr/>
        </p:nvSpPr>
        <p:spPr>
          <a:xfrm>
            <a:off x="548640" y="26517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MindEase · A private, early-support companion for student mental wellbeing</a:t>
            </a:r>
            <a:endParaRPr lang="en-US" sz="2000" dirty="0"/>
          </a:p>
        </p:txBody>
      </p:sp>
      <p:sp>
        <p:nvSpPr>
          <p:cNvPr id="4" name="Links"/>
          <p:cNvSpPr txBox="1"/>
          <p:nvPr/>
        </p:nvSpPr>
        <p:spPr>
          <a:xfrm>
            <a:off x="548640" y="39319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6"/>
                </a:solidFill>
              </a:rPr>
              <a:t>Code 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https://github.com/jayeskumar/a/tree/claude/confident-fermi-dpeh2g/projects/16-mindease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6"/>
                </a:solidFill>
              </a:rPr>
              <a:t>Run 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projects/16-mindease &amp;&amp; python app.py</a:t>
            </a:r>
            <a:endParaRPr lang="en-US" sz="1500" dirty="0"/>
          </a:p>
        </p:txBody>
      </p:sp>
      <p:sp>
        <p:nvSpPr>
          <p:cNvPr id="5" name="Questions"/>
          <p:cNvSpPr txBox="1"/>
          <p:nvPr/>
        </p:nvSpPr>
        <p:spPr>
          <a:xfrm>
            <a:off x="548640" y="530352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6"/>
                </a:solidFill>
              </a:rPr>
              <a:t>Questions?</a:t>
            </a:r>
            <a:endParaRPr lang="en-US" sz="2600" dirty="0"/>
          </a:p>
        </p:txBody>
      </p:sp>
      <p:sp>
        <p:nvSpPr>
          <p:cNvPr id="6" name="QR card"/>
          <p:cNvSpPr/>
          <p:nvPr/>
        </p:nvSpPr>
        <p:spPr>
          <a:xfrm>
            <a:off x="9098280" y="1234440"/>
            <a:ext cx="2514600" cy="2514600"/>
          </a:xfrm>
          <a:prstGeom prst="roundRect">
            <a:avLst>
              <a:gd name="adj" fmla="val 4364"/>
            </a:avLst>
          </a:prstGeom>
          <a:solidFill>
            <a:schemeClr val="bg1"/>
          </a:solidFill>
          <a:ln/>
        </p:spPr>
      </p:sp>
      <p:pic>
        <p:nvPicPr>
          <p:cNvPr id="7" name="QR code" descr="QR code linking to the project's cod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9720" y="1325880"/>
            <a:ext cx="2331720" cy="2331720"/>
          </a:xfrm>
          <a:prstGeom prst="rect">
            <a:avLst/>
          </a:prstGeom>
        </p:spPr>
      </p:pic>
      <p:sp>
        <p:nvSpPr>
          <p:cNvPr id="8" name="QR caption"/>
          <p:cNvSpPr txBox="1"/>
          <p:nvPr/>
        </p:nvSpPr>
        <p:spPr>
          <a:xfrm>
            <a:off x="9098280" y="376732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Scan for the code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indEase QUANTIX">
  <a:themeElements>
    <a:clrScheme name="MindEase QUANTIX">
      <a:dk1>
        <a:srgbClr val="141B34"/>
      </a:dk1>
      <a:lt1>
        <a:srgbClr val="FFFFFF"/>
      </a:lt1>
      <a:dk2>
        <a:srgbClr val="0B1026"/>
      </a:dk2>
      <a:lt2>
        <a:srgbClr val="F3F4F8"/>
      </a:lt2>
      <a:accent1>
        <a:srgbClr val="0D9488"/>
      </a:accent1>
      <a:accent2>
        <a:srgbClr val="E2F2F1"/>
      </a:accent2>
      <a:accent3>
        <a:srgbClr val="086058"/>
      </a:accent3>
      <a:accent4>
        <a:srgbClr val="5B6478"/>
      </a:accent4>
      <a:accent5>
        <a:srgbClr val="0B2D3C"/>
      </a:accent5>
      <a:accent6>
        <a:srgbClr val="7AC4BE"/>
      </a:accent6>
      <a:hlink>
        <a:srgbClr val="0A766D"/>
      </a:hlink>
      <a:folHlink>
        <a:srgbClr val="5B6478"/>
      </a:folHlink>
    </a:clrScheme>
    <a:fontScheme name="MindEase QUANTIX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MindEase – A private, early-support companion for student mental wellbeing</dc:title>
  <dc:subject>QUANTIX 2K26 · HealthTech &amp; Biomedical Innovation</dc:subject>
  <dc:creator>Your Team Name</dc:creator>
  <cp:lastModifiedBy>Your Team Name</cp:lastModifiedBy>
  <cp:revision>1</cp:revision>
  <dcterms:created xsi:type="dcterms:W3CDTF">2026-10-20T09:43:21Z</dcterms:created>
  <dcterms:modified xsi:type="dcterms:W3CDTF">2026-10-20T09:43:21Z</dcterms:modified>
</cp:coreProperties>
</file>