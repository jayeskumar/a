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f519a099-4c45-dd25-47ac-cf8379f88d64}">
          <p14:sldIdLst>
            <p14:sldId id="256"/>
          </p14:sldIdLst>
        </p14:section>
        <p14:section name="Problem &amp; solution" id="{4ecf2466-f59c-c913-2291-843598e7a1c3}">
          <p14:sldIdLst>
            <p14:sldId id="257"/>
            <p14:sldId id="258"/>
          </p14:sldIdLst>
        </p14:section>
        <p14:section name="Product" id="{93dcc921-935f-1598-cf68-8148caea550d}">
          <p14:sldIdLst>
            <p14:sldId id="259"/>
            <p14:sldId id="260"/>
            <p14:sldId id="261"/>
          </p14:sldIdLst>
        </p14:section>
        <p14:section name="Why us" id="{e060e192-bf9c-df62-461d-5e8e90999abb}">
          <p14:sldIdLst>
            <p14:sldId id="262"/>
            <p14:sldId id="263"/>
          </p14:sldIdLst>
        </p14:section>
        <p14:section name="Demo" id="{f52ed5c8-f0a2-0a5c-26ea-60c1c80a5831}">
          <p14:sldIdLst>
            <p14:sldId id="264"/>
          </p14:sldIdLst>
        </p14:section>
        <p14:section name="Roadmap" id="{af0acb7a-7988-68c6-e9b8-49f99c2a198e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 promise: AI energy &amp; carbon copilot for smart campuses. Introduce the team, then go straight to the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Problem: Labs, ACs and lights run all night and on weekends The only feedback is a monthly bill, weeks late No one knows if rooftop solar would really pay off Green drives fade because savings are never measured Key numbers: ~0.7 kg CO2 per kWh on India's grid (approx., CEA); ~1/3 of India's electricity is used by buildings (approx., BEE); 1.34 GWh yearly use of our 6-building demo campus (synthetic).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Solution: Reads hourly meter data for every campus building Forecasts next week and flags waste with a plain reason Converts every kWh to rupees, CO2 and trees Plans rooftop solar and simulates savings before you spend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Features: 7-day forecast: Hourly per building, split into calendar baseline + weather effect. Waste detective: Robust z-score alerts: '18 kW at 3 AM Sun vs 3 kW typical'. Carbon ledger: kWh to rupees to kg CO2 to trees, with named, editable factors. Solar planner: kWp, payback, 25-year cash flow and CO2 avoided for any roof. What-if levers: AC setpoint, auto-off, LED and BLDC - live savings, no double count. Green leaderboard: Weather-normalised savings vs own baseline; Green Champion badge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 top to bottom: Meters / CSV -&gt; hourly kWh + temperature per building. dataset.py -&gt; deterministic synthetic campus with ground truth. forecast.py -&gt; robust weighted regression, Holt-Winters baseline. anomaly.py -&gt; median + MAD per hour-of-week, rule-based causes. solar.py / whatif.py / leaderboard.py -&gt; decisions in rupees and CO2. app.py -&gt; stdlib HTTP JSON API; static/ -&gt; vanilla JS + SVG dashboard. Stack: Python 3 standard library only, http.server ThreadingHTTPServer, Vanilla HTML/CSS/JS, Hand-drawn inline SVG charts, unittest (30 tests), Runs fully offline.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Algorithms: Weighted ridge regression (Gaussian elimination) - hourly load forecast. Robust trimming from category medians - waste never becomes 'normal'. Modified z-score (median + MAD) - waste event detection. Holt-Winters triple smoothing - benchmark forecaster. Degraded cash-flow model - solar payback and 25-year savings. Weather-normalised baseline (IPMVP-style) - fair leaderboard. Stress that nothing is a black box: every decision can be explained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Differentiators: Every forecast and alert explains itself - no black box Buildings compete with their own weather-adjusted past Detection to rupees to fix to solar, all in one offline tool Zero dependencies: runs on a Rs 15k laptop with no internet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Results: 5.6% forecast MAPE on hold-out week (Holt-Winters 27.7%); 100% / 89% waste-event precision / recall vs injected truth; 10% monthly saving from 4 cheap levers (Rs 10.7 L/yr, demo); 300 ms full pipeline for 6 buildings x 8 weeks. Impact: ~10% lower bills from operational levers (demo estimate) ~95 t CO2/yr avoided by levers, ~456 t/yr by rooftop solar Students see their building's footprint and compete to cut 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browser now. 1. Click Run demo - models retrain offline in ~300 ms 2. Read KPI tiles: kWh, rupees, CO2, waste, next-week forecast 3. Hover the CSE Lab night-time waste band for its reason 4. Open Why this forecast: baseline + weather split 5. Solar planner: all roofs, 442 kWp, 4.5-year payback 6. What-if: drag AC and LED sliders, watch savings update 7. Leaderboard and Model report: champion and live accuracy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Business: Free open-source core for colleges via eco-clubs Pro tier per building: alerts, meter connectors, NAAC reports Referral fee from solar EPC vendors Shared-savings contracts verified by the same baseline Next: Live Modbus/MQTT meters and WhatsApp alerts Academic calendar and humidity as forecast inputs Time-of-day tariff and peak-demand optimisation Battery dispatch and carbon-aware scheduling NILM to learn end-use shares automatically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impact line, invite questions. Keep the demo tab open in case judges want to try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QUANTIX 2K26 · WattWise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e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ain"/>
          <p:cNvSpPr txBox="1"/>
          <p:nvPr/>
        </p:nvSpPr>
        <p:spPr>
          <a:xfrm>
            <a:off x="548640" y="10972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6"/>
                </a:solidFill>
              </a:rPr>
              <a:t>SUSTAINABILITY, CLEANTECH &amp; GREEN ENERGY</a:t>
            </a:r>
            <a:endParaRPr lang="en-US" sz="1200" dirty="0"/>
          </a:p>
        </p:txBody>
      </p:sp>
      <p:sp>
        <p:nvSpPr>
          <p:cNvPr id="3" name="Product name"/>
          <p:cNvSpPr txBox="1"/>
          <p:nvPr/>
        </p:nvSpPr>
        <p:spPr>
          <a:xfrm>
            <a:off x="548640" y="155448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WattWise</a:t>
            </a:r>
            <a:endParaRPr lang="en-US" sz="6000" dirty="0"/>
          </a:p>
        </p:txBody>
      </p:sp>
      <p:sp>
        <p:nvSpPr>
          <p:cNvPr id="4" name="Tagline"/>
          <p:cNvSpPr txBox="1"/>
          <p:nvPr/>
        </p:nvSpPr>
        <p:spPr>
          <a:xfrm>
            <a:off x="548640" y="27889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AI energy &amp; carbon copilot for smart campuses</a:t>
            </a:r>
            <a:endParaRPr lang="en-US" sz="2200" dirty="0"/>
          </a:p>
        </p:txBody>
      </p:sp>
      <p:sp>
        <p:nvSpPr>
          <p:cNvPr id="5" name="Team"/>
          <p:cNvSpPr txBox="1"/>
          <p:nvPr/>
        </p:nvSpPr>
        <p:spPr>
          <a:xfrm>
            <a:off x="548640" y="512064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Your Team Name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QUANTIX 2K26 · 24-hour hackathon · K.S.R. College of Engineering</a:t>
            </a:r>
            <a:endParaRPr lang="en-US" sz="1400" dirty="0"/>
          </a:p>
        </p:txBody>
      </p:sp>
      <p:sp>
        <p:nvSpPr>
          <p:cNvPr id="6" name="Hero screenshot frame"/>
          <p:cNvSpPr/>
          <p:nvPr/>
        </p:nvSpPr>
        <p:spPr>
          <a:xfrm>
            <a:off x="6620256" y="1682496"/>
            <a:ext cx="5047488" cy="3195828"/>
          </a:xfrm>
          <a:prstGeom prst="roundRect">
            <a:avLst>
              <a:gd name="adj" fmla="val 228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Hero screenshot" descr="WattWise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737360"/>
            <a:ext cx="493776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problem</a:t>
            </a:r>
            <a:endParaRPr lang="en-US" sz="3600" dirty="0"/>
          </a:p>
        </p:txBody>
      </p:sp>
      <p:sp>
        <p:nvSpPr>
          <p:cNvPr id="3" name="Problem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Problem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Problem bullets"/>
          <p:cNvSpPr txBox="1"/>
          <p:nvPr/>
        </p:nvSpPr>
        <p:spPr>
          <a:xfrm>
            <a:off x="1325880" y="1325880"/>
            <a:ext cx="58521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Labs, ACs and lights run all night and on weekends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The only feedback is a monthly bill, weeks late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No one knows if rooftop solar would really pay off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Green drives fade because savings are never measured</a:t>
            </a:r>
            <a:endParaRPr lang="en-US" sz="2000" dirty="0"/>
          </a:p>
        </p:txBody>
      </p:sp>
      <p:sp>
        <p:nvSpPr>
          <p:cNvPr id="6" name="Stat 1 card"/>
          <p:cNvSpPr/>
          <p:nvPr/>
        </p:nvSpPr>
        <p:spPr>
          <a:xfrm>
            <a:off x="7589520" y="112014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7" name="Stat 1 value"/>
          <p:cNvSpPr txBox="1"/>
          <p:nvPr/>
        </p:nvSpPr>
        <p:spPr>
          <a:xfrm>
            <a:off x="7818120" y="122986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~0.7 kg</a:t>
            </a:r>
            <a:endParaRPr lang="en-US" sz="4000" dirty="0"/>
          </a:p>
        </p:txBody>
      </p:sp>
      <p:sp>
        <p:nvSpPr>
          <p:cNvPr id="8" name="Stat 1 label"/>
          <p:cNvSpPr txBox="1"/>
          <p:nvPr/>
        </p:nvSpPr>
        <p:spPr>
          <a:xfrm>
            <a:off x="7818120" y="196138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CO2 per kWh on India's grid (approx., CEA)</a:t>
            </a:r>
            <a:endParaRPr lang="en-US" sz="1300" dirty="0"/>
          </a:p>
        </p:txBody>
      </p:sp>
      <p:sp>
        <p:nvSpPr>
          <p:cNvPr id="9" name="Stat 2 card"/>
          <p:cNvSpPr/>
          <p:nvPr/>
        </p:nvSpPr>
        <p:spPr>
          <a:xfrm>
            <a:off x="7589520" y="281178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0" name="Stat 2 value"/>
          <p:cNvSpPr txBox="1"/>
          <p:nvPr/>
        </p:nvSpPr>
        <p:spPr>
          <a:xfrm>
            <a:off x="7818120" y="292150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~1/3</a:t>
            </a:r>
            <a:endParaRPr lang="en-US" sz="4000" dirty="0"/>
          </a:p>
        </p:txBody>
      </p:sp>
      <p:sp>
        <p:nvSpPr>
          <p:cNvPr id="11" name="Stat 2 label"/>
          <p:cNvSpPr txBox="1"/>
          <p:nvPr/>
        </p:nvSpPr>
        <p:spPr>
          <a:xfrm>
            <a:off x="7818120" y="365302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of India's electricity is used by buildings (approx., BEE)</a:t>
            </a:r>
            <a:endParaRPr lang="en-US" sz="1300" dirty="0"/>
          </a:p>
        </p:txBody>
      </p:sp>
      <p:sp>
        <p:nvSpPr>
          <p:cNvPr id="12" name="Stat 3 card"/>
          <p:cNvSpPr/>
          <p:nvPr/>
        </p:nvSpPr>
        <p:spPr>
          <a:xfrm>
            <a:off x="7589520" y="450342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3" name="Stat 3 value"/>
          <p:cNvSpPr txBox="1"/>
          <p:nvPr/>
        </p:nvSpPr>
        <p:spPr>
          <a:xfrm>
            <a:off x="7818120" y="461314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1.34 GWh</a:t>
            </a:r>
            <a:endParaRPr lang="en-US" sz="4000" dirty="0"/>
          </a:p>
        </p:txBody>
      </p:sp>
      <p:sp>
        <p:nvSpPr>
          <p:cNvPr id="14" name="Stat 3 label"/>
          <p:cNvSpPr txBox="1"/>
          <p:nvPr/>
        </p:nvSpPr>
        <p:spPr>
          <a:xfrm>
            <a:off x="7818120" y="534466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yearly use of our 6-building demo campus (synthetic)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Our solution: WattWise</a:t>
            </a:r>
            <a:endParaRPr lang="en-US" sz="3600" dirty="0"/>
          </a:p>
        </p:txBody>
      </p:sp>
      <p:sp>
        <p:nvSpPr>
          <p:cNvPr id="3" name="Solution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Solu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Solution bullets"/>
          <p:cNvSpPr txBox="1"/>
          <p:nvPr/>
        </p:nvSpPr>
        <p:spPr>
          <a:xfrm>
            <a:off x="1325880" y="1325880"/>
            <a:ext cx="47548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Reads hourly meter data for every campus building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Forecasts next week and flags waste with a plain reason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Converts every kWh to rupees, CO2 and trees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Plans rooftop solar and simulates savings before you spend</a:t>
            </a:r>
            <a:endParaRPr lang="en-US" sz="2000" dirty="0"/>
          </a:p>
        </p:txBody>
      </p:sp>
      <p:sp>
        <p:nvSpPr>
          <p:cNvPr id="6" name="Solution screenshot frame"/>
          <p:cNvSpPr/>
          <p:nvPr/>
        </p:nvSpPr>
        <p:spPr>
          <a:xfrm>
            <a:off x="6391656" y="1545336"/>
            <a:ext cx="5276088" cy="3338703"/>
          </a:xfrm>
          <a:prstGeom prst="roundRect">
            <a:avLst>
              <a:gd name="adj" fmla="val 2191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Solution screenshot" descr="WattWise screensh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600200"/>
            <a:ext cx="5166360" cy="322897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Key features</a:t>
            </a:r>
            <a:endParaRPr lang="en-US" sz="3600" dirty="0"/>
          </a:p>
        </p:txBody>
      </p:sp>
      <p:sp>
        <p:nvSpPr>
          <p:cNvPr id="3" name="Feature 1 card"/>
          <p:cNvSpPr/>
          <p:nvPr/>
        </p:nvSpPr>
        <p:spPr>
          <a:xfrm>
            <a:off x="548640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Feature 1 circle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Feature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83080"/>
            <a:ext cx="274320" cy="274320"/>
          </a:xfrm>
          <a:prstGeom prst="rect">
            <a:avLst/>
          </a:prstGeom>
        </p:spPr>
      </p:pic>
      <p:sp>
        <p:nvSpPr>
          <p:cNvPr id="6" name="Feature 1 title"/>
          <p:cNvSpPr txBox="1"/>
          <p:nvPr/>
        </p:nvSpPr>
        <p:spPr>
          <a:xfrm>
            <a:off x="1554480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7-day forecast</a:t>
            </a:r>
            <a:endParaRPr lang="en-US" sz="1800" dirty="0"/>
          </a:p>
        </p:txBody>
      </p:sp>
      <p:sp>
        <p:nvSpPr>
          <p:cNvPr id="7" name="Feature 1 text"/>
          <p:cNvSpPr txBox="1"/>
          <p:nvPr/>
        </p:nvSpPr>
        <p:spPr>
          <a:xfrm>
            <a:off x="822960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Hourly per building, split into calendar baseline + weather effect</a:t>
            </a:r>
            <a:endParaRPr lang="en-US" sz="1400" dirty="0"/>
          </a:p>
        </p:txBody>
      </p:sp>
      <p:sp>
        <p:nvSpPr>
          <p:cNvPr id="8" name="Feature 2 card"/>
          <p:cNvSpPr/>
          <p:nvPr/>
        </p:nvSpPr>
        <p:spPr>
          <a:xfrm>
            <a:off x="4338218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9" name="Feature 2 circle"/>
          <p:cNvSpPr/>
          <p:nvPr/>
        </p:nvSpPr>
        <p:spPr>
          <a:xfrm>
            <a:off x="461253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eature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9698" y="1783080"/>
            <a:ext cx="274320" cy="274320"/>
          </a:xfrm>
          <a:prstGeom prst="rect">
            <a:avLst/>
          </a:prstGeom>
        </p:spPr>
      </p:pic>
      <p:sp>
        <p:nvSpPr>
          <p:cNvPr id="11" name="Feature 2 title"/>
          <p:cNvSpPr txBox="1"/>
          <p:nvPr/>
        </p:nvSpPr>
        <p:spPr>
          <a:xfrm>
            <a:off x="5344058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Waste detective</a:t>
            </a:r>
            <a:endParaRPr lang="en-US" sz="1800" dirty="0"/>
          </a:p>
        </p:txBody>
      </p:sp>
      <p:sp>
        <p:nvSpPr>
          <p:cNvPr id="12" name="Feature 2 text"/>
          <p:cNvSpPr txBox="1"/>
          <p:nvPr/>
        </p:nvSpPr>
        <p:spPr>
          <a:xfrm>
            <a:off x="4612538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Robust z-score alerts: '18 kW at 3 AM Sun vs 3 kW typical'</a:t>
            </a:r>
            <a:endParaRPr lang="en-US" sz="1400" dirty="0"/>
          </a:p>
        </p:txBody>
      </p:sp>
      <p:sp>
        <p:nvSpPr>
          <p:cNvPr id="13" name="Feature 3 card"/>
          <p:cNvSpPr/>
          <p:nvPr/>
        </p:nvSpPr>
        <p:spPr>
          <a:xfrm>
            <a:off x="8127797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4" name="Feature 3 circle"/>
          <p:cNvSpPr/>
          <p:nvPr/>
        </p:nvSpPr>
        <p:spPr>
          <a:xfrm>
            <a:off x="8402117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Feature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9277" y="1783080"/>
            <a:ext cx="274320" cy="274320"/>
          </a:xfrm>
          <a:prstGeom prst="rect">
            <a:avLst/>
          </a:prstGeom>
        </p:spPr>
      </p:pic>
      <p:sp>
        <p:nvSpPr>
          <p:cNvPr id="16" name="Feature 3 title"/>
          <p:cNvSpPr txBox="1"/>
          <p:nvPr/>
        </p:nvSpPr>
        <p:spPr>
          <a:xfrm>
            <a:off x="9133637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Carbon ledger</a:t>
            </a:r>
            <a:endParaRPr lang="en-US" sz="1800" dirty="0"/>
          </a:p>
        </p:txBody>
      </p:sp>
      <p:sp>
        <p:nvSpPr>
          <p:cNvPr id="17" name="Feature 3 text"/>
          <p:cNvSpPr txBox="1"/>
          <p:nvPr/>
        </p:nvSpPr>
        <p:spPr>
          <a:xfrm>
            <a:off x="8402117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kWh to rupees to kg CO2 to trees, with named, editable factors</a:t>
            </a:r>
            <a:endParaRPr lang="en-US" sz="1400" dirty="0"/>
          </a:p>
        </p:txBody>
      </p:sp>
      <p:sp>
        <p:nvSpPr>
          <p:cNvPr id="18" name="Feature 4 card"/>
          <p:cNvSpPr/>
          <p:nvPr/>
        </p:nvSpPr>
        <p:spPr>
          <a:xfrm>
            <a:off x="548640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9" name="Feature 4 circle"/>
          <p:cNvSpPr/>
          <p:nvPr/>
        </p:nvSpPr>
        <p:spPr>
          <a:xfrm>
            <a:off x="822960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Feature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251960"/>
            <a:ext cx="274320" cy="274320"/>
          </a:xfrm>
          <a:prstGeom prst="rect">
            <a:avLst/>
          </a:prstGeom>
        </p:spPr>
      </p:pic>
      <p:sp>
        <p:nvSpPr>
          <p:cNvPr id="21" name="Feature 4 title"/>
          <p:cNvSpPr txBox="1"/>
          <p:nvPr/>
        </p:nvSpPr>
        <p:spPr>
          <a:xfrm>
            <a:off x="1554480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Solar planner</a:t>
            </a:r>
            <a:endParaRPr lang="en-US" sz="1800" dirty="0"/>
          </a:p>
        </p:txBody>
      </p:sp>
      <p:sp>
        <p:nvSpPr>
          <p:cNvPr id="22" name="Feature 4 text"/>
          <p:cNvSpPr txBox="1"/>
          <p:nvPr/>
        </p:nvSpPr>
        <p:spPr>
          <a:xfrm>
            <a:off x="822960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kWp, payback, 25-year cash flow and CO2 avoided for any roof</a:t>
            </a:r>
            <a:endParaRPr lang="en-US" sz="1400" dirty="0"/>
          </a:p>
        </p:txBody>
      </p:sp>
      <p:sp>
        <p:nvSpPr>
          <p:cNvPr id="23" name="Feature 5 card"/>
          <p:cNvSpPr/>
          <p:nvPr/>
        </p:nvSpPr>
        <p:spPr>
          <a:xfrm>
            <a:off x="4338218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4" name="Feature 5 circle"/>
          <p:cNvSpPr/>
          <p:nvPr/>
        </p:nvSpPr>
        <p:spPr>
          <a:xfrm>
            <a:off x="4612538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Feature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9698" y="4251960"/>
            <a:ext cx="274320" cy="274320"/>
          </a:xfrm>
          <a:prstGeom prst="rect">
            <a:avLst/>
          </a:prstGeom>
        </p:spPr>
      </p:pic>
      <p:sp>
        <p:nvSpPr>
          <p:cNvPr id="26" name="Feature 5 title"/>
          <p:cNvSpPr txBox="1"/>
          <p:nvPr/>
        </p:nvSpPr>
        <p:spPr>
          <a:xfrm>
            <a:off x="5344058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What-if levers</a:t>
            </a:r>
            <a:endParaRPr lang="en-US" sz="1800" dirty="0"/>
          </a:p>
        </p:txBody>
      </p:sp>
      <p:sp>
        <p:nvSpPr>
          <p:cNvPr id="27" name="Feature 5 text"/>
          <p:cNvSpPr txBox="1"/>
          <p:nvPr/>
        </p:nvSpPr>
        <p:spPr>
          <a:xfrm>
            <a:off x="4612538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AC setpoint, auto-off, LED and BLDC - live savings, no double count</a:t>
            </a:r>
            <a:endParaRPr lang="en-US" sz="1400" dirty="0"/>
          </a:p>
        </p:txBody>
      </p:sp>
      <p:sp>
        <p:nvSpPr>
          <p:cNvPr id="28" name="Feature 6 card"/>
          <p:cNvSpPr/>
          <p:nvPr/>
        </p:nvSpPr>
        <p:spPr>
          <a:xfrm>
            <a:off x="8127797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9" name="Feature 6 circle"/>
          <p:cNvSpPr/>
          <p:nvPr/>
        </p:nvSpPr>
        <p:spPr>
          <a:xfrm>
            <a:off x="8402117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Feature 6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9277" y="4251960"/>
            <a:ext cx="274320" cy="274320"/>
          </a:xfrm>
          <a:prstGeom prst="rect">
            <a:avLst/>
          </a:prstGeom>
        </p:spPr>
      </p:pic>
      <p:sp>
        <p:nvSpPr>
          <p:cNvPr id="31" name="Feature 6 title"/>
          <p:cNvSpPr txBox="1"/>
          <p:nvPr/>
        </p:nvSpPr>
        <p:spPr>
          <a:xfrm>
            <a:off x="9133637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Green leaderboard</a:t>
            </a:r>
            <a:endParaRPr lang="en-US" sz="1800" dirty="0"/>
          </a:p>
        </p:txBody>
      </p:sp>
      <p:sp>
        <p:nvSpPr>
          <p:cNvPr id="32" name="Feature 6 text"/>
          <p:cNvSpPr txBox="1"/>
          <p:nvPr/>
        </p:nvSpPr>
        <p:spPr>
          <a:xfrm>
            <a:off x="8402117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Weather-normalised savings vs own baseline; Green Champion badge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System architecture</a:t>
            </a:r>
            <a:endParaRPr lang="en-US" sz="3600" dirty="0"/>
          </a:p>
        </p:txBody>
      </p:sp>
      <p:sp>
        <p:nvSpPr>
          <p:cNvPr id="3" name="Layer 1"/>
          <p:cNvSpPr/>
          <p:nvPr/>
        </p:nvSpPr>
        <p:spPr>
          <a:xfrm>
            <a:off x="548640" y="132588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4" name="Layer 1 text"/>
          <p:cNvSpPr txBox="1"/>
          <p:nvPr/>
        </p:nvSpPr>
        <p:spPr>
          <a:xfrm>
            <a:off x="822960" y="132588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Meters / CSV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hourly kWh + temperature per building</a:t>
            </a:r>
            <a:endParaRPr lang="en-US" sz="1500" dirty="0"/>
          </a:p>
        </p:txBody>
      </p:sp>
      <p:sp>
        <p:nvSpPr>
          <p:cNvPr id="5" name="Arrow 1"/>
          <p:cNvSpPr/>
          <p:nvPr/>
        </p:nvSpPr>
        <p:spPr>
          <a:xfrm>
            <a:off x="4206240" y="1976628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6" name="Layer 2"/>
          <p:cNvSpPr/>
          <p:nvPr/>
        </p:nvSpPr>
        <p:spPr>
          <a:xfrm>
            <a:off x="548640" y="2159508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7" name="Layer 2 text"/>
          <p:cNvSpPr txBox="1"/>
          <p:nvPr/>
        </p:nvSpPr>
        <p:spPr>
          <a:xfrm>
            <a:off x="822960" y="2159508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dataset.py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deterministic synthetic campus with ground truth</a:t>
            </a:r>
            <a:endParaRPr lang="en-US" sz="1500" dirty="0"/>
          </a:p>
        </p:txBody>
      </p:sp>
      <p:sp>
        <p:nvSpPr>
          <p:cNvPr id="8" name="Arrow 2"/>
          <p:cNvSpPr/>
          <p:nvPr/>
        </p:nvSpPr>
        <p:spPr>
          <a:xfrm>
            <a:off x="4206240" y="2810256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9" name="Layer 3"/>
          <p:cNvSpPr/>
          <p:nvPr/>
        </p:nvSpPr>
        <p:spPr>
          <a:xfrm>
            <a:off x="548640" y="2993136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0" name="Layer 3 text"/>
          <p:cNvSpPr txBox="1"/>
          <p:nvPr/>
        </p:nvSpPr>
        <p:spPr>
          <a:xfrm>
            <a:off x="822960" y="2993136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forecast.py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robust weighted regression, Holt-Winters baseline</a:t>
            </a:r>
            <a:endParaRPr lang="en-US" sz="1500" dirty="0"/>
          </a:p>
        </p:txBody>
      </p:sp>
      <p:sp>
        <p:nvSpPr>
          <p:cNvPr id="11" name="Arrow 3"/>
          <p:cNvSpPr/>
          <p:nvPr/>
        </p:nvSpPr>
        <p:spPr>
          <a:xfrm>
            <a:off x="4206240" y="3643884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2" name="Layer 4"/>
          <p:cNvSpPr/>
          <p:nvPr/>
        </p:nvSpPr>
        <p:spPr>
          <a:xfrm>
            <a:off x="548640" y="3826764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3" name="Layer 4 text"/>
          <p:cNvSpPr txBox="1"/>
          <p:nvPr/>
        </p:nvSpPr>
        <p:spPr>
          <a:xfrm>
            <a:off x="822960" y="3826764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anomaly.py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median + MAD per hour-of-week, rule-based causes</a:t>
            </a:r>
            <a:endParaRPr lang="en-US" sz="1500" dirty="0"/>
          </a:p>
        </p:txBody>
      </p:sp>
      <p:sp>
        <p:nvSpPr>
          <p:cNvPr id="14" name="Arrow 4"/>
          <p:cNvSpPr/>
          <p:nvPr/>
        </p:nvSpPr>
        <p:spPr>
          <a:xfrm>
            <a:off x="4206240" y="4477512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5" name="Layer 5"/>
          <p:cNvSpPr/>
          <p:nvPr/>
        </p:nvSpPr>
        <p:spPr>
          <a:xfrm>
            <a:off x="548640" y="4660392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6" name="Layer 5 text"/>
          <p:cNvSpPr txBox="1"/>
          <p:nvPr/>
        </p:nvSpPr>
        <p:spPr>
          <a:xfrm>
            <a:off x="822960" y="4660392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solar.py / whatif.py / leaderboard.py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decisions in rupees and CO2</a:t>
            </a:r>
            <a:endParaRPr lang="en-US" sz="1500" dirty="0"/>
          </a:p>
        </p:txBody>
      </p:sp>
      <p:sp>
        <p:nvSpPr>
          <p:cNvPr id="17" name="Arrow 5"/>
          <p:cNvSpPr/>
          <p:nvPr/>
        </p:nvSpPr>
        <p:spPr>
          <a:xfrm>
            <a:off x="4206240" y="5311140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8" name="Layer 6"/>
          <p:cNvSpPr/>
          <p:nvPr/>
        </p:nvSpPr>
        <p:spPr>
          <a:xfrm>
            <a:off x="548640" y="549402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9" name="Layer 6 text"/>
          <p:cNvSpPr txBox="1"/>
          <p:nvPr/>
        </p:nvSpPr>
        <p:spPr>
          <a:xfrm>
            <a:off x="822960" y="549402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app.py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stdlib HTTP JSON API; static/ – vanilla JS + SVG dashboard</a:t>
            </a:r>
            <a:endParaRPr lang="en-US" sz="1500" dirty="0"/>
          </a:p>
        </p:txBody>
      </p:sp>
      <p:sp>
        <p:nvSpPr>
          <p:cNvPr id="20" name="Tech card"/>
          <p:cNvSpPr/>
          <p:nvPr/>
        </p:nvSpPr>
        <p:spPr>
          <a:xfrm>
            <a:off x="8412480" y="1325880"/>
            <a:ext cx="3230575" cy="4800600"/>
          </a:xfrm>
          <a:prstGeom prst="roundRect">
            <a:avLst>
              <a:gd name="adj" fmla="val 3397"/>
            </a:avLst>
          </a:prstGeom>
          <a:solidFill>
            <a:schemeClr val="tx2"/>
          </a:solidFill>
          <a:ln/>
        </p:spPr>
      </p:sp>
      <p:sp>
        <p:nvSpPr>
          <p:cNvPr id="21" name="Tech title"/>
          <p:cNvSpPr txBox="1"/>
          <p:nvPr/>
        </p:nvSpPr>
        <p:spPr>
          <a:xfrm>
            <a:off x="868680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Tech stack</a:t>
            </a:r>
            <a:endParaRPr lang="en-US" sz="1800" dirty="0"/>
          </a:p>
        </p:txBody>
      </p:sp>
      <p:sp>
        <p:nvSpPr>
          <p:cNvPr id="22" name="Tech list"/>
          <p:cNvSpPr txBox="1"/>
          <p:nvPr/>
        </p:nvSpPr>
        <p:spPr>
          <a:xfrm>
            <a:off x="8686800" y="210312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Python 3 standard library only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http.server ThreadingHTTPServer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Vanilla HTML/CSS/JS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Hand-drawn inline SVG charts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unittest (30 tests)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Runs fully offline</a:t>
            </a:r>
            <a:endParaRPr lang="en-US" sz="1400" dirty="0"/>
          </a:p>
        </p:txBody>
      </p:sp>
      <p:sp>
        <p:nvSpPr>
          <p:cNvPr id="23" name="Offline note"/>
          <p:cNvSpPr txBox="1"/>
          <p:nvPr/>
        </p:nvSpPr>
        <p:spPr>
          <a:xfrm>
            <a:off x="8686800" y="5120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Runs fully offline · no installs · python app.py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Algorithms built from scratch</a:t>
            </a:r>
            <a:endParaRPr lang="en-US" sz="3600" dirty="0"/>
          </a:p>
        </p:txBody>
      </p:sp>
      <p:sp>
        <p:nvSpPr>
          <p:cNvPr id="3" name="Algorithm 1 card"/>
          <p:cNvSpPr/>
          <p:nvPr/>
        </p:nvSpPr>
        <p:spPr>
          <a:xfrm>
            <a:off x="548640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4" name="Algorithm 1 number"/>
          <p:cNvSpPr txBox="1"/>
          <p:nvPr/>
        </p:nvSpPr>
        <p:spPr>
          <a:xfrm>
            <a:off x="777240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01</a:t>
            </a:r>
            <a:endParaRPr lang="en-US" sz="2800" dirty="0"/>
          </a:p>
        </p:txBody>
      </p:sp>
      <p:sp>
        <p:nvSpPr>
          <p:cNvPr id="5" name="Algorithm 1 text"/>
          <p:cNvSpPr txBox="1"/>
          <p:nvPr/>
        </p:nvSpPr>
        <p:spPr>
          <a:xfrm>
            <a:off x="1554480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Weighted ridge regression (Gaussian elimination)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hourly load forecast</a:t>
            </a:r>
            <a:endParaRPr lang="en-US" sz="1700" dirty="0"/>
          </a:p>
        </p:txBody>
      </p:sp>
      <p:sp>
        <p:nvSpPr>
          <p:cNvPr id="6" name="Algorithm 2 card"/>
          <p:cNvSpPr/>
          <p:nvPr/>
        </p:nvSpPr>
        <p:spPr>
          <a:xfrm>
            <a:off x="6233008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7" name="Algorithm 2 number"/>
          <p:cNvSpPr txBox="1"/>
          <p:nvPr/>
        </p:nvSpPr>
        <p:spPr>
          <a:xfrm>
            <a:off x="6461608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02</a:t>
            </a:r>
            <a:endParaRPr lang="en-US" sz="2800" dirty="0"/>
          </a:p>
        </p:txBody>
      </p:sp>
      <p:sp>
        <p:nvSpPr>
          <p:cNvPr id="8" name="Algorithm 2 text"/>
          <p:cNvSpPr txBox="1"/>
          <p:nvPr/>
        </p:nvSpPr>
        <p:spPr>
          <a:xfrm>
            <a:off x="7238848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Robust trimming from category medians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waste never becomes 'normal'</a:t>
            </a:r>
            <a:endParaRPr lang="en-US" sz="1700" dirty="0"/>
          </a:p>
        </p:txBody>
      </p:sp>
      <p:sp>
        <p:nvSpPr>
          <p:cNvPr id="9" name="Algorithm 3 card"/>
          <p:cNvSpPr/>
          <p:nvPr/>
        </p:nvSpPr>
        <p:spPr>
          <a:xfrm>
            <a:off x="548640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0" name="Algorithm 3 number"/>
          <p:cNvSpPr txBox="1"/>
          <p:nvPr/>
        </p:nvSpPr>
        <p:spPr>
          <a:xfrm>
            <a:off x="777240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03</a:t>
            </a:r>
            <a:endParaRPr lang="en-US" sz="2800" dirty="0"/>
          </a:p>
        </p:txBody>
      </p:sp>
      <p:sp>
        <p:nvSpPr>
          <p:cNvPr id="11" name="Algorithm 3 text"/>
          <p:cNvSpPr txBox="1"/>
          <p:nvPr/>
        </p:nvSpPr>
        <p:spPr>
          <a:xfrm>
            <a:off x="1554480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Modified z-score (median + MAD)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waste event detection</a:t>
            </a:r>
            <a:endParaRPr lang="en-US" sz="1700" dirty="0"/>
          </a:p>
        </p:txBody>
      </p:sp>
      <p:sp>
        <p:nvSpPr>
          <p:cNvPr id="12" name="Algorithm 4 card"/>
          <p:cNvSpPr/>
          <p:nvPr/>
        </p:nvSpPr>
        <p:spPr>
          <a:xfrm>
            <a:off x="6233008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3" name="Algorithm 4 number"/>
          <p:cNvSpPr txBox="1"/>
          <p:nvPr/>
        </p:nvSpPr>
        <p:spPr>
          <a:xfrm>
            <a:off x="6461608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04</a:t>
            </a:r>
            <a:endParaRPr lang="en-US" sz="2800" dirty="0"/>
          </a:p>
        </p:txBody>
      </p:sp>
      <p:sp>
        <p:nvSpPr>
          <p:cNvPr id="14" name="Algorithm 4 text"/>
          <p:cNvSpPr txBox="1"/>
          <p:nvPr/>
        </p:nvSpPr>
        <p:spPr>
          <a:xfrm>
            <a:off x="7238848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Holt-Winters triple smoothing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benchmark forecaster</a:t>
            </a:r>
            <a:endParaRPr lang="en-US" sz="1700" dirty="0"/>
          </a:p>
        </p:txBody>
      </p:sp>
      <p:sp>
        <p:nvSpPr>
          <p:cNvPr id="15" name="Algorithm 5 card"/>
          <p:cNvSpPr/>
          <p:nvPr/>
        </p:nvSpPr>
        <p:spPr>
          <a:xfrm>
            <a:off x="548640" y="469392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6" name="Algorithm 5 number"/>
          <p:cNvSpPr txBox="1"/>
          <p:nvPr/>
        </p:nvSpPr>
        <p:spPr>
          <a:xfrm>
            <a:off x="777240" y="469392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05</a:t>
            </a:r>
            <a:endParaRPr lang="en-US" sz="2800" dirty="0"/>
          </a:p>
        </p:txBody>
      </p:sp>
      <p:sp>
        <p:nvSpPr>
          <p:cNvPr id="17" name="Algorithm 5 text"/>
          <p:cNvSpPr txBox="1"/>
          <p:nvPr/>
        </p:nvSpPr>
        <p:spPr>
          <a:xfrm>
            <a:off x="1554480" y="469392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Degraded cash-flow model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solar payback and 25-year savings</a:t>
            </a:r>
            <a:endParaRPr lang="en-US" sz="1700" dirty="0"/>
          </a:p>
        </p:txBody>
      </p:sp>
      <p:sp>
        <p:nvSpPr>
          <p:cNvPr id="18" name="Algorithm 6 card"/>
          <p:cNvSpPr/>
          <p:nvPr/>
        </p:nvSpPr>
        <p:spPr>
          <a:xfrm>
            <a:off x="6233008" y="469392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9" name="Algorithm 6 number"/>
          <p:cNvSpPr txBox="1"/>
          <p:nvPr/>
        </p:nvSpPr>
        <p:spPr>
          <a:xfrm>
            <a:off x="6461608" y="469392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06</a:t>
            </a:r>
            <a:endParaRPr lang="en-US" sz="2800" dirty="0"/>
          </a:p>
        </p:txBody>
      </p:sp>
      <p:sp>
        <p:nvSpPr>
          <p:cNvPr id="20" name="Algorithm 6 text"/>
          <p:cNvSpPr txBox="1"/>
          <p:nvPr/>
        </p:nvSpPr>
        <p:spPr>
          <a:xfrm>
            <a:off x="7238848" y="469392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Weather-normalised baseline (IPMVP-style)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fair leaderboard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What makes it different</a:t>
            </a:r>
            <a:endParaRPr lang="en-US" sz="3600" dirty="0"/>
          </a:p>
        </p:txBody>
      </p:sp>
      <p:sp>
        <p:nvSpPr>
          <p:cNvPr id="3" name="Innovation 1 card"/>
          <p:cNvSpPr/>
          <p:nvPr/>
        </p:nvSpPr>
        <p:spPr>
          <a:xfrm>
            <a:off x="548640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4" name="Innovation 1 circle"/>
          <p:cNvSpPr/>
          <p:nvPr/>
        </p:nvSpPr>
        <p:spPr>
          <a:xfrm>
            <a:off x="868680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nnovation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130" y="2274570"/>
            <a:ext cx="342900" cy="342900"/>
          </a:xfrm>
          <a:prstGeom prst="rect">
            <a:avLst/>
          </a:prstGeom>
        </p:spPr>
      </p:pic>
      <p:sp>
        <p:nvSpPr>
          <p:cNvPr id="6" name="Innovation 1 text"/>
          <p:cNvSpPr txBox="1"/>
          <p:nvPr/>
        </p:nvSpPr>
        <p:spPr>
          <a:xfrm>
            <a:off x="1783080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Every forecast and alert explains itself - no black box</a:t>
            </a:r>
            <a:endParaRPr lang="en-US" sz="2000" dirty="0"/>
          </a:p>
        </p:txBody>
      </p:sp>
      <p:sp>
        <p:nvSpPr>
          <p:cNvPr id="7" name="Innovation 2 card"/>
          <p:cNvSpPr/>
          <p:nvPr/>
        </p:nvSpPr>
        <p:spPr>
          <a:xfrm>
            <a:off x="6233008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8" name="Innovation 2 circle"/>
          <p:cNvSpPr/>
          <p:nvPr/>
        </p:nvSpPr>
        <p:spPr>
          <a:xfrm>
            <a:off x="6553048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nnovation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4498" y="2274570"/>
            <a:ext cx="342900" cy="342900"/>
          </a:xfrm>
          <a:prstGeom prst="rect">
            <a:avLst/>
          </a:prstGeom>
        </p:spPr>
      </p:pic>
      <p:sp>
        <p:nvSpPr>
          <p:cNvPr id="10" name="Innovation 2 text"/>
          <p:cNvSpPr txBox="1"/>
          <p:nvPr/>
        </p:nvSpPr>
        <p:spPr>
          <a:xfrm>
            <a:off x="7467448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Buildings compete with their own weather-adjusted past</a:t>
            </a:r>
            <a:endParaRPr lang="en-US" sz="2000" dirty="0"/>
          </a:p>
        </p:txBody>
      </p:sp>
      <p:sp>
        <p:nvSpPr>
          <p:cNvPr id="11" name="Innovation 3 card"/>
          <p:cNvSpPr/>
          <p:nvPr/>
        </p:nvSpPr>
        <p:spPr>
          <a:xfrm>
            <a:off x="548640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2" name="Innovation 3 circle"/>
          <p:cNvSpPr/>
          <p:nvPr/>
        </p:nvSpPr>
        <p:spPr>
          <a:xfrm>
            <a:off x="868680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nnovation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130" y="4697730"/>
            <a:ext cx="342900" cy="342900"/>
          </a:xfrm>
          <a:prstGeom prst="rect">
            <a:avLst/>
          </a:prstGeom>
        </p:spPr>
      </p:pic>
      <p:sp>
        <p:nvSpPr>
          <p:cNvPr id="14" name="Innovation 3 text"/>
          <p:cNvSpPr txBox="1"/>
          <p:nvPr/>
        </p:nvSpPr>
        <p:spPr>
          <a:xfrm>
            <a:off x="1783080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Detection to rupees to fix to solar, all in one offline tool</a:t>
            </a:r>
            <a:endParaRPr lang="en-US" sz="2000" dirty="0"/>
          </a:p>
        </p:txBody>
      </p:sp>
      <p:sp>
        <p:nvSpPr>
          <p:cNvPr id="15" name="Innovation 4 card"/>
          <p:cNvSpPr/>
          <p:nvPr/>
        </p:nvSpPr>
        <p:spPr>
          <a:xfrm>
            <a:off x="6233008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16" name="Innovation 4 circle"/>
          <p:cNvSpPr/>
          <p:nvPr/>
        </p:nvSpPr>
        <p:spPr>
          <a:xfrm>
            <a:off x="6553048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nnovation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498" y="4697730"/>
            <a:ext cx="342900" cy="342900"/>
          </a:xfrm>
          <a:prstGeom prst="rect">
            <a:avLst/>
          </a:prstGeom>
        </p:spPr>
      </p:pic>
      <p:sp>
        <p:nvSpPr>
          <p:cNvPr id="18" name="Innovation 4 text"/>
          <p:cNvSpPr txBox="1"/>
          <p:nvPr/>
        </p:nvSpPr>
        <p:spPr>
          <a:xfrm>
            <a:off x="7467448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Zero dependencies: runs on a Rs 15k laptop with no internet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Measured results</a:t>
            </a:r>
            <a:endParaRPr lang="en-US" sz="3600" dirty="0"/>
          </a:p>
        </p:txBody>
      </p:sp>
      <p:sp>
        <p:nvSpPr>
          <p:cNvPr id="3" name="Result 1 card"/>
          <p:cNvSpPr/>
          <p:nvPr/>
        </p:nvSpPr>
        <p:spPr>
          <a:xfrm>
            <a:off x="548640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4" name="Result 1 value"/>
          <p:cNvSpPr txBox="1"/>
          <p:nvPr/>
        </p:nvSpPr>
        <p:spPr>
          <a:xfrm>
            <a:off x="777240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5.6%</a:t>
            </a:r>
            <a:endParaRPr lang="en-US" sz="4000" dirty="0"/>
          </a:p>
        </p:txBody>
      </p:sp>
      <p:sp>
        <p:nvSpPr>
          <p:cNvPr id="5" name="Result 1 label"/>
          <p:cNvSpPr txBox="1"/>
          <p:nvPr/>
        </p:nvSpPr>
        <p:spPr>
          <a:xfrm>
            <a:off x="777240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forecast MAPE on hold-out week (Holt-Winters 27.7%)</a:t>
            </a:r>
            <a:endParaRPr lang="en-US" sz="1400" dirty="0"/>
          </a:p>
        </p:txBody>
      </p:sp>
      <p:sp>
        <p:nvSpPr>
          <p:cNvPr id="6" name="Result 2 card"/>
          <p:cNvSpPr/>
          <p:nvPr/>
        </p:nvSpPr>
        <p:spPr>
          <a:xfrm>
            <a:off x="3390824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Result 2 value"/>
          <p:cNvSpPr txBox="1"/>
          <p:nvPr/>
        </p:nvSpPr>
        <p:spPr>
          <a:xfrm>
            <a:off x="3619424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100% / 89%</a:t>
            </a:r>
            <a:endParaRPr lang="en-US" sz="2400" dirty="0"/>
          </a:p>
        </p:txBody>
      </p:sp>
      <p:sp>
        <p:nvSpPr>
          <p:cNvPr id="8" name="Result 2 label"/>
          <p:cNvSpPr txBox="1"/>
          <p:nvPr/>
        </p:nvSpPr>
        <p:spPr>
          <a:xfrm>
            <a:off x="3619424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waste-event precision / recall vs injected truth</a:t>
            </a:r>
            <a:endParaRPr lang="en-US" sz="1400" dirty="0"/>
          </a:p>
        </p:txBody>
      </p:sp>
      <p:sp>
        <p:nvSpPr>
          <p:cNvPr id="9" name="Result 3 card"/>
          <p:cNvSpPr/>
          <p:nvPr/>
        </p:nvSpPr>
        <p:spPr>
          <a:xfrm>
            <a:off x="6233008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Result 3 value"/>
          <p:cNvSpPr txBox="1"/>
          <p:nvPr/>
        </p:nvSpPr>
        <p:spPr>
          <a:xfrm>
            <a:off x="6461608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10%</a:t>
            </a:r>
            <a:endParaRPr lang="en-US" sz="4000" dirty="0"/>
          </a:p>
        </p:txBody>
      </p:sp>
      <p:sp>
        <p:nvSpPr>
          <p:cNvPr id="11" name="Result 3 label"/>
          <p:cNvSpPr txBox="1"/>
          <p:nvPr/>
        </p:nvSpPr>
        <p:spPr>
          <a:xfrm>
            <a:off x="6461608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monthly saving from 4 cheap levers (Rs 10.7 L/yr, demo)</a:t>
            </a:r>
            <a:endParaRPr lang="en-US" sz="1400" dirty="0"/>
          </a:p>
        </p:txBody>
      </p:sp>
      <p:sp>
        <p:nvSpPr>
          <p:cNvPr id="12" name="Result 4 card"/>
          <p:cNvSpPr/>
          <p:nvPr/>
        </p:nvSpPr>
        <p:spPr>
          <a:xfrm>
            <a:off x="9075191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3" name="Result 4 value"/>
          <p:cNvSpPr txBox="1"/>
          <p:nvPr/>
        </p:nvSpPr>
        <p:spPr>
          <a:xfrm>
            <a:off x="9303791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300 ms</a:t>
            </a:r>
            <a:endParaRPr lang="en-US" sz="4000" dirty="0"/>
          </a:p>
        </p:txBody>
      </p:sp>
      <p:sp>
        <p:nvSpPr>
          <p:cNvPr id="14" name="Result 4 label"/>
          <p:cNvSpPr txBox="1"/>
          <p:nvPr/>
        </p:nvSpPr>
        <p:spPr>
          <a:xfrm>
            <a:off x="9303791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full pipeline for 6 buildings x 8 weeks</a:t>
            </a:r>
            <a:endParaRPr lang="en-US" sz="1400" dirty="0"/>
          </a:p>
        </p:txBody>
      </p:sp>
      <p:sp>
        <p:nvSpPr>
          <p:cNvPr id="15" name="Results caveat"/>
          <p:cNvSpPr txBox="1"/>
          <p:nvPr/>
        </p:nvSpPr>
        <p:spPr>
          <a:xfrm>
            <a:off x="548640" y="41605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Measured on held-out data generated by the project (see REPORT.md for method). Real-world performance needs field validation.</a:t>
            </a:r>
            <a:endParaRPr lang="en-US" sz="1200" dirty="0"/>
          </a:p>
        </p:txBody>
      </p:sp>
      <p:sp>
        <p:nvSpPr>
          <p:cNvPr id="16" name="Impact strip"/>
          <p:cNvSpPr/>
          <p:nvPr/>
        </p:nvSpPr>
        <p:spPr>
          <a:xfrm>
            <a:off x="548640" y="4754880"/>
            <a:ext cx="11094415" cy="13716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/>
        </p:spPr>
      </p:sp>
      <p:sp>
        <p:nvSpPr>
          <p:cNvPr id="17" name="Impact circle"/>
          <p:cNvSpPr/>
          <p:nvPr/>
        </p:nvSpPr>
        <p:spPr>
          <a:xfrm>
            <a:off x="822960" y="5120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pact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5280660"/>
            <a:ext cx="320040" cy="320040"/>
          </a:xfrm>
          <a:prstGeom prst="rect">
            <a:avLst/>
          </a:prstGeom>
        </p:spPr>
      </p:pic>
      <p:sp>
        <p:nvSpPr>
          <p:cNvPr id="19" name="Impact text"/>
          <p:cNvSpPr txBox="1"/>
          <p:nvPr/>
        </p:nvSpPr>
        <p:spPr>
          <a:xfrm>
            <a:off x="1737360" y="4754880"/>
            <a:ext cx="96313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Impact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~10% lower bills from operational levers (demo estimate)  ·  ~95 t CO2/yr avoided by levers, ~456 t/yr by rooftop solar  ·  Students see their building's footprint and compete to cut it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Live demo in 3 minutes</a:t>
            </a:r>
            <a:endParaRPr lang="en-US" sz="3600" dirty="0"/>
          </a:p>
        </p:txBody>
      </p:sp>
      <p:sp>
        <p:nvSpPr>
          <p:cNvPr id="3" name="Step 1 dot"/>
          <p:cNvSpPr/>
          <p:nvPr/>
        </p:nvSpPr>
        <p:spPr>
          <a:xfrm>
            <a:off x="548640" y="143560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tep 1 number"/>
          <p:cNvSpPr txBox="1"/>
          <p:nvPr/>
        </p:nvSpPr>
        <p:spPr>
          <a:xfrm>
            <a:off x="548640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 1 text"/>
          <p:cNvSpPr txBox="1"/>
          <p:nvPr/>
        </p:nvSpPr>
        <p:spPr>
          <a:xfrm>
            <a:off x="1234440" y="1371600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Click Run demo - models retrain offline in ~300 ms</a:t>
            </a:r>
            <a:endParaRPr lang="en-US" sz="1600" dirty="0"/>
          </a:p>
        </p:txBody>
      </p:sp>
      <p:sp>
        <p:nvSpPr>
          <p:cNvPr id="6" name="Step 2 dot"/>
          <p:cNvSpPr/>
          <p:nvPr/>
        </p:nvSpPr>
        <p:spPr>
          <a:xfrm>
            <a:off x="548640" y="213055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tep 2 number"/>
          <p:cNvSpPr txBox="1"/>
          <p:nvPr/>
        </p:nvSpPr>
        <p:spPr>
          <a:xfrm>
            <a:off x="548640" y="2130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Step 2 text"/>
          <p:cNvSpPr txBox="1"/>
          <p:nvPr/>
        </p:nvSpPr>
        <p:spPr>
          <a:xfrm>
            <a:off x="1234440" y="2066544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Read KPI tiles: kWh, rupees, CO2, waste, next-week forecast</a:t>
            </a:r>
            <a:endParaRPr lang="en-US" sz="1600" dirty="0"/>
          </a:p>
        </p:txBody>
      </p:sp>
      <p:sp>
        <p:nvSpPr>
          <p:cNvPr id="9" name="Step 3 dot"/>
          <p:cNvSpPr/>
          <p:nvPr/>
        </p:nvSpPr>
        <p:spPr>
          <a:xfrm>
            <a:off x="548640" y="282549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Step 3 number"/>
          <p:cNvSpPr txBox="1"/>
          <p:nvPr/>
        </p:nvSpPr>
        <p:spPr>
          <a:xfrm>
            <a:off x="548640" y="2825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Step 3 text"/>
          <p:cNvSpPr txBox="1"/>
          <p:nvPr/>
        </p:nvSpPr>
        <p:spPr>
          <a:xfrm>
            <a:off x="1234440" y="2761488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Hover the CSE Lab night-time waste band for its reason</a:t>
            </a:r>
            <a:endParaRPr lang="en-US" sz="1600" dirty="0"/>
          </a:p>
        </p:txBody>
      </p:sp>
      <p:sp>
        <p:nvSpPr>
          <p:cNvPr id="12" name="Step 4 dot"/>
          <p:cNvSpPr/>
          <p:nvPr/>
        </p:nvSpPr>
        <p:spPr>
          <a:xfrm>
            <a:off x="548640" y="35204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Step 4 number"/>
          <p:cNvSpPr txBox="1"/>
          <p:nvPr/>
        </p:nvSpPr>
        <p:spPr>
          <a:xfrm>
            <a:off x="54864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4" name="Step 4 text"/>
          <p:cNvSpPr txBox="1"/>
          <p:nvPr/>
        </p:nvSpPr>
        <p:spPr>
          <a:xfrm>
            <a:off x="1234440" y="3456432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Open Why this forecast: baseline + weather split</a:t>
            </a:r>
            <a:endParaRPr lang="en-US" sz="1600" dirty="0"/>
          </a:p>
        </p:txBody>
      </p:sp>
      <p:sp>
        <p:nvSpPr>
          <p:cNvPr id="15" name="Step 5 dot"/>
          <p:cNvSpPr/>
          <p:nvPr/>
        </p:nvSpPr>
        <p:spPr>
          <a:xfrm>
            <a:off x="548640" y="421538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Step 5 number"/>
          <p:cNvSpPr txBox="1"/>
          <p:nvPr/>
        </p:nvSpPr>
        <p:spPr>
          <a:xfrm>
            <a:off x="548640" y="4215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17" name="Step 5 text"/>
          <p:cNvSpPr txBox="1"/>
          <p:nvPr/>
        </p:nvSpPr>
        <p:spPr>
          <a:xfrm>
            <a:off x="1234440" y="4151376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Solar planner: all roofs, 442 kWp, 4.5-year payback</a:t>
            </a:r>
            <a:endParaRPr lang="en-US" sz="1600" dirty="0"/>
          </a:p>
        </p:txBody>
      </p:sp>
      <p:sp>
        <p:nvSpPr>
          <p:cNvPr id="18" name="Step 6 dot"/>
          <p:cNvSpPr/>
          <p:nvPr/>
        </p:nvSpPr>
        <p:spPr>
          <a:xfrm>
            <a:off x="548640" y="491032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Step 6 number"/>
          <p:cNvSpPr txBox="1"/>
          <p:nvPr/>
        </p:nvSpPr>
        <p:spPr>
          <a:xfrm>
            <a:off x="548640" y="4910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0" name="Step 6 text"/>
          <p:cNvSpPr txBox="1"/>
          <p:nvPr/>
        </p:nvSpPr>
        <p:spPr>
          <a:xfrm>
            <a:off x="1234440" y="4846320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What-if: drag AC and LED sliders, watch savings update</a:t>
            </a:r>
            <a:endParaRPr lang="en-US" sz="1600" dirty="0"/>
          </a:p>
        </p:txBody>
      </p:sp>
      <p:sp>
        <p:nvSpPr>
          <p:cNvPr id="21" name="Step 7 dot"/>
          <p:cNvSpPr/>
          <p:nvPr/>
        </p:nvSpPr>
        <p:spPr>
          <a:xfrm>
            <a:off x="548640" y="560527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Step 7 number"/>
          <p:cNvSpPr txBox="1"/>
          <p:nvPr/>
        </p:nvSpPr>
        <p:spPr>
          <a:xfrm>
            <a:off x="548640" y="5605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sp>
        <p:nvSpPr>
          <p:cNvPr id="23" name="Step 7 text"/>
          <p:cNvSpPr txBox="1"/>
          <p:nvPr/>
        </p:nvSpPr>
        <p:spPr>
          <a:xfrm>
            <a:off x="1234440" y="5541264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Leaderboard and Model report: champion and live accuracy</a:t>
            </a:r>
            <a:endParaRPr lang="en-US" sz="1600" dirty="0"/>
          </a:p>
        </p:txBody>
      </p:sp>
      <p:sp>
        <p:nvSpPr>
          <p:cNvPr id="24" name="Demo screenshot frame"/>
          <p:cNvSpPr/>
          <p:nvPr/>
        </p:nvSpPr>
        <p:spPr>
          <a:xfrm>
            <a:off x="6528816" y="1545336"/>
            <a:ext cx="5138928" cy="3252978"/>
          </a:xfrm>
          <a:prstGeom prst="roundRect">
            <a:avLst>
              <a:gd name="adj" fmla="val 224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5" name="Demo screenshot" descr="WattWise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600200"/>
            <a:ext cx="5029200" cy="3143250"/>
          </a:xfrm>
          <a:prstGeom prst="rect">
            <a:avLst/>
          </a:prstGeom>
        </p:spPr>
      </p:pic>
      <p:sp>
        <p:nvSpPr>
          <p:cNvPr id="26" name="Run command"/>
          <p:cNvSpPr txBox="1"/>
          <p:nvPr/>
        </p:nvSpPr>
        <p:spPr>
          <a:xfrm>
            <a:off x="6583680" y="50292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app.py  →  http://localhost:8002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Feasibility, business model &amp; roadmap</a:t>
            </a:r>
            <a:endParaRPr lang="en-US" sz="3600" dirty="0"/>
          </a:p>
        </p:txBody>
      </p:sp>
      <p:sp>
        <p:nvSpPr>
          <p:cNvPr id="3" name="Business model card"/>
          <p:cNvSpPr/>
          <p:nvPr/>
        </p:nvSpPr>
        <p:spPr>
          <a:xfrm>
            <a:off x="548640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Business model circle"/>
          <p:cNvSpPr/>
          <p:nvPr/>
        </p:nvSpPr>
        <p:spPr>
          <a:xfrm>
            <a:off x="86868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Business model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783080"/>
            <a:ext cx="274320" cy="274320"/>
          </a:xfrm>
          <a:prstGeom prst="rect">
            <a:avLst/>
          </a:prstGeom>
        </p:spPr>
      </p:pic>
      <p:sp>
        <p:nvSpPr>
          <p:cNvPr id="6" name="Business model title"/>
          <p:cNvSpPr txBox="1"/>
          <p:nvPr/>
        </p:nvSpPr>
        <p:spPr>
          <a:xfrm>
            <a:off x="1600200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Business model</a:t>
            </a:r>
            <a:endParaRPr lang="en-US" sz="2000" dirty="0"/>
          </a:p>
        </p:txBody>
      </p:sp>
      <p:sp>
        <p:nvSpPr>
          <p:cNvPr id="7" name="Business model list"/>
          <p:cNvSpPr txBox="1"/>
          <p:nvPr/>
        </p:nvSpPr>
        <p:spPr>
          <a:xfrm>
            <a:off x="914400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Free open-source core for colleges via eco-clubs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Pro tier per building: alerts, meter connectors, NAAC reports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Referral fee from solar EPC vendors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Shared-savings contracts verified by the same baseline</a:t>
            </a:r>
            <a:endParaRPr lang="en-US" sz="1600" dirty="0"/>
          </a:p>
        </p:txBody>
      </p:sp>
      <p:sp>
        <p:nvSpPr>
          <p:cNvPr id="8" name="Future scope card"/>
          <p:cNvSpPr/>
          <p:nvPr/>
        </p:nvSpPr>
        <p:spPr>
          <a:xfrm>
            <a:off x="6233008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accent2"/>
          </a:solidFill>
          <a:ln/>
        </p:spPr>
      </p:sp>
      <p:sp>
        <p:nvSpPr>
          <p:cNvPr id="9" name="Future scope circle"/>
          <p:cNvSpPr/>
          <p:nvPr/>
        </p:nvSpPr>
        <p:spPr>
          <a:xfrm>
            <a:off x="655304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uture scope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208" y="1783080"/>
            <a:ext cx="274320" cy="274320"/>
          </a:xfrm>
          <a:prstGeom prst="rect">
            <a:avLst/>
          </a:prstGeom>
        </p:spPr>
      </p:pic>
      <p:sp>
        <p:nvSpPr>
          <p:cNvPr id="11" name="Future scope title"/>
          <p:cNvSpPr txBox="1"/>
          <p:nvPr/>
        </p:nvSpPr>
        <p:spPr>
          <a:xfrm>
            <a:off x="7284568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Future scope</a:t>
            </a:r>
            <a:endParaRPr lang="en-US" sz="2000" dirty="0"/>
          </a:p>
        </p:txBody>
      </p:sp>
      <p:sp>
        <p:nvSpPr>
          <p:cNvPr id="12" name="Future scope list"/>
          <p:cNvSpPr txBox="1"/>
          <p:nvPr/>
        </p:nvSpPr>
        <p:spPr>
          <a:xfrm>
            <a:off x="6598768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Live Modbus/MQTT meters and WhatsApp alerts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Academic calendar and humidity as forecast inputs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Time-of-day tariff and peak-demand optimisation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Battery dispatch and carbon-aware scheduling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NILM to learn end-use shares automatically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anks"/>
          <p:cNvSpPr txBox="1"/>
          <p:nvPr/>
        </p:nvSpPr>
        <p:spPr>
          <a:xfrm>
            <a:off x="548640" y="14630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Thank you</a:t>
            </a:r>
            <a:endParaRPr lang="en-US" sz="6000" dirty="0"/>
          </a:p>
        </p:txBody>
      </p:sp>
      <p:sp>
        <p:nvSpPr>
          <p:cNvPr id="3" name="Thanks tagline"/>
          <p:cNvSpPr txBox="1"/>
          <p:nvPr/>
        </p:nvSpPr>
        <p:spPr>
          <a:xfrm>
            <a:off x="548640" y="26517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WattWise · AI energy &amp; carbon copilot for smart campuses</a:t>
            </a:r>
            <a:endParaRPr lang="en-US" sz="2000" dirty="0"/>
          </a:p>
        </p:txBody>
      </p:sp>
      <p:sp>
        <p:nvSpPr>
          <p:cNvPr id="4" name="Links"/>
          <p:cNvSpPr txBox="1"/>
          <p:nvPr/>
        </p:nvSpPr>
        <p:spPr>
          <a:xfrm>
            <a:off x="548640" y="3931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Code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https://github.com/jayeskumar/a/tree/claude/confident-fermi-dpeh2g/projects/02-wattwise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Run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projects/02-wattwise &amp;&amp; python app.py</a:t>
            </a:r>
            <a:endParaRPr lang="en-US" sz="1500" dirty="0"/>
          </a:p>
        </p:txBody>
      </p:sp>
      <p:sp>
        <p:nvSpPr>
          <p:cNvPr id="5" name="Questions"/>
          <p:cNvSpPr txBox="1"/>
          <p:nvPr/>
        </p:nvSpPr>
        <p:spPr>
          <a:xfrm>
            <a:off x="548640" y="53035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</a:rPr>
              <a:t>Questions?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attWise QUANTIX">
  <a:themeElements>
    <a:clrScheme name="WattWise QUANTIX">
      <a:dk1>
        <a:srgbClr val="141B34"/>
      </a:dk1>
      <a:lt1>
        <a:srgbClr val="FFFFFF"/>
      </a:lt1>
      <a:dk2>
        <a:srgbClr val="0B1026"/>
      </a:dk2>
      <a:lt2>
        <a:srgbClr val="F3F4F8"/>
      </a:lt2>
      <a:accent1>
        <a:srgbClr val="12A150"/>
      </a:accent1>
      <a:accent2>
        <a:srgbClr val="E3F4EA"/>
      </a:accent2>
      <a:accent3>
        <a:srgbClr val="0C6934"/>
      </a:accent3>
      <a:accent4>
        <a:srgbClr val="5B6478"/>
      </a:accent4>
      <a:accent5>
        <a:srgbClr val="0D302F"/>
      </a:accent5>
      <a:accent6>
        <a:srgbClr val="7DCB9F"/>
      </a:accent6>
      <a:hlink>
        <a:srgbClr val="0E8140"/>
      </a:hlink>
      <a:folHlink>
        <a:srgbClr val="5B6478"/>
      </a:folHlink>
    </a:clrScheme>
    <a:fontScheme name="WattWise QUANTIX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WattWise – AI energy &amp; carbon copilot for smart campuses</dc:title>
  <dc:subject>QUANTIX 2K26 · Sustainability, CleanTech &amp; Green Energy</dc:subject>
  <dc:creator>Your Team Name</dc:creator>
  <cp:lastModifiedBy>Your Team Name</cp:lastModifiedBy>
  <cp:revision>1</cp:revision>
  <dcterms:created xsi:type="dcterms:W3CDTF">2026-10-20T06:29:47Z</dcterms:created>
  <dcterms:modified xsi:type="dcterms:W3CDTF">2026-10-20T06:29:47Z</dcterms:modified>
</cp:coreProperties>
</file>