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9a3c11d6-8216-da18-498d-0f66878653dd}">
          <p14:sldIdLst>
            <p14:sldId id="256"/>
          </p14:sldIdLst>
        </p14:section>
        <p14:section name="Problem &amp; solution" id="{0bb54b6b-e1d6-fd2c-2743-09b0eec6da7c}">
          <p14:sldIdLst>
            <p14:sldId id="257"/>
            <p14:sldId id="258"/>
          </p14:sldIdLst>
        </p14:section>
        <p14:section name="Product" id="{ac34441d-a4b7-6d1e-ed33-062147708f5f}">
          <p14:sldIdLst>
            <p14:sldId id="259"/>
            <p14:sldId id="260"/>
            <p14:sldId id="261"/>
          </p14:sldIdLst>
        </p14:section>
        <p14:section name="Why us" id="{bd65f139-9a9f-adba-6952-df0a03289257}">
          <p14:sldIdLst>
            <p14:sldId id="262"/>
            <p14:sldId id="263"/>
          </p14:sldIdLst>
        </p14:section>
        <p14:section name="Demo" id="{5a98bdd7-7974-dc03-6717-e601a0b293b4}">
          <p14:sldIdLst>
            <p14:sldId id="264"/>
          </p14:sldIdLst>
        </p14:section>
        <p14:section name="Roadmap" id="{fd4993e7-e367-c75d-3054-7ddf067dc823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 promise: A smart farming advisor in the farmer's own language. Introduce the team, then go straight to the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Problem: Crops chosen by habit, not by soil and season Urea over-used, P and K neglected; money and soil wasted Irrigation by guesswork; produce sold at the harvest-glut low Advisory apps are English-first, online-only black boxes Key numbers: ~86% Indian farm holdings small/marginal (Agri Census 2015-16, approx.); ~80% India's freshwater used by agriculture (approx.); 4:2:1 target N:P:K ratio; actual use is N-heavy (approx.).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Solution: Soil test in, four decisions out: crop, fertiliser, water, sell Two from-scratch ML models with per-input explanations Full Tamil / English UI with read-aloud voice Runs offline on one laptop; phones join over local Wi-Fi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Features: Crop recommender: Top-3 of 14 TN crops from Naive Bayes + Random Forest, with why-bars. Fertiliser advisor: NPK deficit to Urea / DAP / MOP kg per acre, bags, organic options. Irrigation planner: FAO-56 Ra + Hargreaves ET0 x Kc: 7-day plan in mm and litres/acre. Market timing: Seasonal index + trend: sell now or hold N weeks, with price band. Crop calendar: Visual timeline from land prep to harvest with key operations. Tamil + voice: Every label and advice in Tamil script; speechSynthesis read-aloud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 top to bottom: Browser UI -&gt; vanilla JS, SVG charts, EN/TA, speech. app.py -&gt; stdlib ThreadingHTTPServer, JSON API, validation. advisor -&gt; one call runs every module for the chosen crop. recommender -&gt; GNB + RF trained on seeded synthetic data. fertiliser / irrigation / market / calendar -&gt; pure Python. config.py -&gt; every assumption, labelled approx.. Stack: Python 3 stdlib only, Vanilla HTML/CSS/JS, Inline SVG charts, Web Speech API, No CDN, no internet.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Algorithms: Gaussian Naive Bayes – crop probabilities + log-odds per input. CART + Random Forest – bootstrap, feature bagging, OOB, Saabas. FAO-56 Ra + Hargreaves ET0 – reference water demand. Kc stage curve + soil bucket – 7-day irrigation schedule. Ratio-to-moving-average seasonal index + OLS trend – sell/hold. Stress that nothing is a black box: every decision can be explained on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Differentiators: One plan: crop choice drives dose, Kc, prices and calendar Explainable ML written from scratch, two models side by side Tamil-first advice text and voice, not just translated labels Fully offline on a ₹15k laptop, ~3 ms per request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Results: 94.3% hold-out accuracy, GNB+RF blend (synthetic, 14 crops); 93.6% GNB and RF each, on the same hold-out; 2.9 ms median HTTP latency, full advisory; 32.2 Ra MJ/m²/day: matches FAO-56 Example 8. Impact: Right-sized fertiliser cuts input cost and nitrate pollution ET-based irrigation saves water and pumping power Tamil voice advice reaches low-literacy and older farmers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the browser now. 1. Open on phone + projector, Wi-Fi off 2. Tiruchengode farm: groundnut 99%, read the why-bars 3. Toggle Tamil and tap Read aloud 4. Fertiliser: 0 urea, 15 kg DAP, 29 kg MOP per acre 5. Delta paddy: irrigate once, 3.5 lakh L/acre 6. Market: sell now vs Erode turmeric hold 7. Switch crop: every card updates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Business: B2G: explain-your-Soil-Health-Card layer for KVKs / state B2B: white-label advisories for FPOs and input dealers Freemium: free app, paid SMS/IVR voice advisories Consented, anonymised data for agronomic research Next: Train on real Soil Health Card + yield data Live IMD weather and Agmarknet prices, cached offline More Indian languages and voice input Pest and disease alerts from weather Android PWA and SMS/IVR for feature phones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impact line, invite questions. Keep the demo tab open in case judges want to try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QUANTIX 2K26 · KrishiMitra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e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main"/>
          <p:cNvSpPr txBox="1"/>
          <p:nvPr/>
        </p:nvSpPr>
        <p:spPr>
          <a:xfrm>
            <a:off x="548640" y="10972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6"/>
                </a:solidFill>
              </a:rPr>
              <a:t>SMART AGRICULTURE &amp; RURAL DEVELOPMENT (AGRITECH)</a:t>
            </a:r>
            <a:endParaRPr lang="en-US" sz="1200" dirty="0"/>
          </a:p>
        </p:txBody>
      </p:sp>
      <p:sp>
        <p:nvSpPr>
          <p:cNvPr id="3" name="Product name"/>
          <p:cNvSpPr txBox="1"/>
          <p:nvPr/>
        </p:nvSpPr>
        <p:spPr>
          <a:xfrm>
            <a:off x="548640" y="155448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KrishiMitra</a:t>
            </a:r>
            <a:endParaRPr lang="en-US" sz="6000" dirty="0"/>
          </a:p>
        </p:txBody>
      </p:sp>
      <p:sp>
        <p:nvSpPr>
          <p:cNvPr id="4" name="Tagline"/>
          <p:cNvSpPr txBox="1"/>
          <p:nvPr/>
        </p:nvSpPr>
        <p:spPr>
          <a:xfrm>
            <a:off x="548640" y="278892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A smart farming advisor in the farmer's own language</a:t>
            </a:r>
            <a:endParaRPr lang="en-US" sz="2200" dirty="0"/>
          </a:p>
        </p:txBody>
      </p:sp>
      <p:sp>
        <p:nvSpPr>
          <p:cNvPr id="5" name="Team"/>
          <p:cNvSpPr txBox="1"/>
          <p:nvPr/>
        </p:nvSpPr>
        <p:spPr>
          <a:xfrm>
            <a:off x="548640" y="512064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Your Team Name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QUANTIX 2K26 · 24-hour hackathon · K.S.R. College of Engineering</a:t>
            </a:r>
            <a:endParaRPr lang="en-US" sz="1400" dirty="0"/>
          </a:p>
        </p:txBody>
      </p:sp>
      <p:sp>
        <p:nvSpPr>
          <p:cNvPr id="6" name="Hero screenshot frame"/>
          <p:cNvSpPr/>
          <p:nvPr/>
        </p:nvSpPr>
        <p:spPr>
          <a:xfrm>
            <a:off x="6620256" y="1682496"/>
            <a:ext cx="5047488" cy="3195828"/>
          </a:xfrm>
          <a:prstGeom prst="roundRect">
            <a:avLst>
              <a:gd name="adj" fmla="val 2289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7" name="Hero screenshot" descr="KrishiMitra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737360"/>
            <a:ext cx="4937760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The problem</a:t>
            </a:r>
            <a:endParaRPr lang="en-US" sz="3600" dirty="0"/>
          </a:p>
        </p:txBody>
      </p:sp>
      <p:sp>
        <p:nvSpPr>
          <p:cNvPr id="3" name="Problem circle"/>
          <p:cNvSpPr/>
          <p:nvPr/>
        </p:nvSpPr>
        <p:spPr>
          <a:xfrm>
            <a:off x="548640" y="32461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Problem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383280"/>
            <a:ext cx="274320" cy="274320"/>
          </a:xfrm>
          <a:prstGeom prst="rect">
            <a:avLst/>
          </a:prstGeom>
        </p:spPr>
      </p:pic>
      <p:sp>
        <p:nvSpPr>
          <p:cNvPr id="5" name="Problem bullets"/>
          <p:cNvSpPr txBox="1"/>
          <p:nvPr/>
        </p:nvSpPr>
        <p:spPr>
          <a:xfrm>
            <a:off x="1325880" y="1325880"/>
            <a:ext cx="58521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Crops chosen by habit, not by soil and season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Urea over-used, P and K neglected; money and soil wasted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Irrigation by guesswork; produce sold at the harvest-glut low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Advisory apps are English-first, online-only black boxes</a:t>
            </a:r>
            <a:endParaRPr lang="en-US" sz="2000" dirty="0"/>
          </a:p>
        </p:txBody>
      </p:sp>
      <p:sp>
        <p:nvSpPr>
          <p:cNvPr id="6" name="Stat 1 card"/>
          <p:cNvSpPr/>
          <p:nvPr/>
        </p:nvSpPr>
        <p:spPr>
          <a:xfrm>
            <a:off x="7589520" y="1120140"/>
            <a:ext cx="4023360" cy="1417320"/>
          </a:xfrm>
          <a:prstGeom prst="roundRect">
            <a:avLst>
              <a:gd name="adj" fmla="val 7742"/>
            </a:avLst>
          </a:prstGeom>
          <a:solidFill>
            <a:schemeClr val="accent2"/>
          </a:solidFill>
          <a:ln/>
        </p:spPr>
      </p:sp>
      <p:sp>
        <p:nvSpPr>
          <p:cNvPr id="7" name="Stat 1 value"/>
          <p:cNvSpPr txBox="1"/>
          <p:nvPr/>
        </p:nvSpPr>
        <p:spPr>
          <a:xfrm>
            <a:off x="7818120" y="122986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</a:rPr>
              <a:t>~86%</a:t>
            </a:r>
            <a:endParaRPr lang="en-US" sz="4000" dirty="0"/>
          </a:p>
        </p:txBody>
      </p:sp>
      <p:sp>
        <p:nvSpPr>
          <p:cNvPr id="8" name="Stat 1 label"/>
          <p:cNvSpPr txBox="1"/>
          <p:nvPr/>
        </p:nvSpPr>
        <p:spPr>
          <a:xfrm>
            <a:off x="7818120" y="196138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Indian farm holdings small/marginal (Agri Census 2015-16, approx.)</a:t>
            </a:r>
            <a:endParaRPr lang="en-US" sz="1300" dirty="0"/>
          </a:p>
        </p:txBody>
      </p:sp>
      <p:sp>
        <p:nvSpPr>
          <p:cNvPr id="9" name="Stat 2 card"/>
          <p:cNvSpPr/>
          <p:nvPr/>
        </p:nvSpPr>
        <p:spPr>
          <a:xfrm>
            <a:off x="7589520" y="2811780"/>
            <a:ext cx="4023360" cy="1417320"/>
          </a:xfrm>
          <a:prstGeom prst="roundRect">
            <a:avLst>
              <a:gd name="adj" fmla="val 7742"/>
            </a:avLst>
          </a:prstGeom>
          <a:solidFill>
            <a:schemeClr val="accent2"/>
          </a:solidFill>
          <a:ln/>
        </p:spPr>
      </p:sp>
      <p:sp>
        <p:nvSpPr>
          <p:cNvPr id="10" name="Stat 2 value"/>
          <p:cNvSpPr txBox="1"/>
          <p:nvPr/>
        </p:nvSpPr>
        <p:spPr>
          <a:xfrm>
            <a:off x="7818120" y="292150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</a:rPr>
              <a:t>~80%</a:t>
            </a:r>
            <a:endParaRPr lang="en-US" sz="4000" dirty="0"/>
          </a:p>
        </p:txBody>
      </p:sp>
      <p:sp>
        <p:nvSpPr>
          <p:cNvPr id="11" name="Stat 2 label"/>
          <p:cNvSpPr txBox="1"/>
          <p:nvPr/>
        </p:nvSpPr>
        <p:spPr>
          <a:xfrm>
            <a:off x="7818120" y="365302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India's freshwater used by agriculture (approx.)</a:t>
            </a:r>
            <a:endParaRPr lang="en-US" sz="1300" dirty="0"/>
          </a:p>
        </p:txBody>
      </p:sp>
      <p:sp>
        <p:nvSpPr>
          <p:cNvPr id="12" name="Stat 3 card"/>
          <p:cNvSpPr/>
          <p:nvPr/>
        </p:nvSpPr>
        <p:spPr>
          <a:xfrm>
            <a:off x="7589520" y="4503420"/>
            <a:ext cx="4023360" cy="1417320"/>
          </a:xfrm>
          <a:prstGeom prst="roundRect">
            <a:avLst>
              <a:gd name="adj" fmla="val 7742"/>
            </a:avLst>
          </a:prstGeom>
          <a:solidFill>
            <a:schemeClr val="accent2"/>
          </a:solidFill>
          <a:ln/>
        </p:spPr>
      </p:sp>
      <p:sp>
        <p:nvSpPr>
          <p:cNvPr id="13" name="Stat 3 value"/>
          <p:cNvSpPr txBox="1"/>
          <p:nvPr/>
        </p:nvSpPr>
        <p:spPr>
          <a:xfrm>
            <a:off x="7818120" y="461314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</a:rPr>
              <a:t>4:2:1</a:t>
            </a:r>
            <a:endParaRPr lang="en-US" sz="4000" dirty="0"/>
          </a:p>
        </p:txBody>
      </p:sp>
      <p:sp>
        <p:nvSpPr>
          <p:cNvPr id="14" name="Stat 3 label"/>
          <p:cNvSpPr txBox="1"/>
          <p:nvPr/>
        </p:nvSpPr>
        <p:spPr>
          <a:xfrm>
            <a:off x="7818120" y="534466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target N:P:K ratio; actual use is N-heavy (approx.)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Our solution: KrishiMitra</a:t>
            </a:r>
            <a:endParaRPr lang="en-US" sz="3600" dirty="0"/>
          </a:p>
        </p:txBody>
      </p:sp>
      <p:sp>
        <p:nvSpPr>
          <p:cNvPr id="3" name="Solution circle"/>
          <p:cNvSpPr/>
          <p:nvPr/>
        </p:nvSpPr>
        <p:spPr>
          <a:xfrm>
            <a:off x="548640" y="32461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Solution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383280"/>
            <a:ext cx="274320" cy="274320"/>
          </a:xfrm>
          <a:prstGeom prst="rect">
            <a:avLst/>
          </a:prstGeom>
        </p:spPr>
      </p:pic>
      <p:sp>
        <p:nvSpPr>
          <p:cNvPr id="5" name="Solution bullets"/>
          <p:cNvSpPr txBox="1"/>
          <p:nvPr/>
        </p:nvSpPr>
        <p:spPr>
          <a:xfrm>
            <a:off x="1325880" y="1325880"/>
            <a:ext cx="47548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Soil test in, four decisions out: crop, fertiliser, water, sell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Two from-scratch ML models with per-input explanations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Full Tamil / English UI with read-aloud voice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Runs offline on one laptop; phones join over local Wi-Fi</a:t>
            </a:r>
            <a:endParaRPr lang="en-US" sz="2000" dirty="0"/>
          </a:p>
        </p:txBody>
      </p:sp>
      <p:sp>
        <p:nvSpPr>
          <p:cNvPr id="6" name="Solution screenshot frame"/>
          <p:cNvSpPr/>
          <p:nvPr/>
        </p:nvSpPr>
        <p:spPr>
          <a:xfrm>
            <a:off x="6391656" y="1545336"/>
            <a:ext cx="5276088" cy="3338703"/>
          </a:xfrm>
          <a:prstGeom prst="roundRect">
            <a:avLst>
              <a:gd name="adj" fmla="val 219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7" name="Solution screenshot" descr="KrishiMitra screensh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600200"/>
            <a:ext cx="5166360" cy="322897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Key features</a:t>
            </a:r>
            <a:endParaRPr lang="en-US" sz="3600" dirty="0"/>
          </a:p>
        </p:txBody>
      </p:sp>
      <p:sp>
        <p:nvSpPr>
          <p:cNvPr id="3" name="Feature 1 card"/>
          <p:cNvSpPr/>
          <p:nvPr/>
        </p:nvSpPr>
        <p:spPr>
          <a:xfrm>
            <a:off x="548640" y="1371600"/>
            <a:ext cx="351525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4" name="Feature 1 circle"/>
          <p:cNvSpPr/>
          <p:nvPr/>
        </p:nvSpPr>
        <p:spPr>
          <a:xfrm>
            <a:off x="822960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Feature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783080"/>
            <a:ext cx="274320" cy="274320"/>
          </a:xfrm>
          <a:prstGeom prst="rect">
            <a:avLst/>
          </a:prstGeom>
        </p:spPr>
      </p:pic>
      <p:sp>
        <p:nvSpPr>
          <p:cNvPr id="6" name="Feature 1 title"/>
          <p:cNvSpPr txBox="1"/>
          <p:nvPr/>
        </p:nvSpPr>
        <p:spPr>
          <a:xfrm>
            <a:off x="1554480" y="1645920"/>
            <a:ext cx="2280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Crop recommender</a:t>
            </a:r>
            <a:endParaRPr lang="en-US" sz="1800" dirty="0"/>
          </a:p>
        </p:txBody>
      </p:sp>
      <p:sp>
        <p:nvSpPr>
          <p:cNvPr id="7" name="Feature 1 text"/>
          <p:cNvSpPr txBox="1"/>
          <p:nvPr/>
        </p:nvSpPr>
        <p:spPr>
          <a:xfrm>
            <a:off x="822960" y="233172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Top-3 of 14 TN crops from Naive Bayes + Random Forest, with why-bars</a:t>
            </a:r>
            <a:endParaRPr lang="en-US" sz="1400" dirty="0"/>
          </a:p>
        </p:txBody>
      </p:sp>
      <p:sp>
        <p:nvSpPr>
          <p:cNvPr id="8" name="Feature 2 card"/>
          <p:cNvSpPr/>
          <p:nvPr/>
        </p:nvSpPr>
        <p:spPr>
          <a:xfrm>
            <a:off x="4338218" y="1371600"/>
            <a:ext cx="351525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9" name="Feature 2 circle"/>
          <p:cNvSpPr/>
          <p:nvPr/>
        </p:nvSpPr>
        <p:spPr>
          <a:xfrm>
            <a:off x="4612538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Feature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9698" y="1783080"/>
            <a:ext cx="274320" cy="274320"/>
          </a:xfrm>
          <a:prstGeom prst="rect">
            <a:avLst/>
          </a:prstGeom>
        </p:spPr>
      </p:pic>
      <p:sp>
        <p:nvSpPr>
          <p:cNvPr id="11" name="Feature 2 title"/>
          <p:cNvSpPr txBox="1"/>
          <p:nvPr/>
        </p:nvSpPr>
        <p:spPr>
          <a:xfrm>
            <a:off x="5344058" y="1645920"/>
            <a:ext cx="2280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Fertiliser advisor</a:t>
            </a:r>
            <a:endParaRPr lang="en-US" sz="1800" dirty="0"/>
          </a:p>
        </p:txBody>
      </p:sp>
      <p:sp>
        <p:nvSpPr>
          <p:cNvPr id="12" name="Feature 2 text"/>
          <p:cNvSpPr txBox="1"/>
          <p:nvPr/>
        </p:nvSpPr>
        <p:spPr>
          <a:xfrm>
            <a:off x="4612538" y="233172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NPK deficit to Urea / DAP / MOP kg per acre, bags, organic options</a:t>
            </a:r>
            <a:endParaRPr lang="en-US" sz="1400" dirty="0"/>
          </a:p>
        </p:txBody>
      </p:sp>
      <p:sp>
        <p:nvSpPr>
          <p:cNvPr id="13" name="Feature 3 card"/>
          <p:cNvSpPr/>
          <p:nvPr/>
        </p:nvSpPr>
        <p:spPr>
          <a:xfrm>
            <a:off x="8127797" y="1371600"/>
            <a:ext cx="351525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4" name="Feature 3 circle"/>
          <p:cNvSpPr/>
          <p:nvPr/>
        </p:nvSpPr>
        <p:spPr>
          <a:xfrm>
            <a:off x="8402117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Feature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9277" y="1783080"/>
            <a:ext cx="274320" cy="274320"/>
          </a:xfrm>
          <a:prstGeom prst="rect">
            <a:avLst/>
          </a:prstGeom>
        </p:spPr>
      </p:pic>
      <p:sp>
        <p:nvSpPr>
          <p:cNvPr id="16" name="Feature 3 title"/>
          <p:cNvSpPr txBox="1"/>
          <p:nvPr/>
        </p:nvSpPr>
        <p:spPr>
          <a:xfrm>
            <a:off x="9133637" y="1645920"/>
            <a:ext cx="2280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Irrigation planner</a:t>
            </a:r>
            <a:endParaRPr lang="en-US" sz="1800" dirty="0"/>
          </a:p>
        </p:txBody>
      </p:sp>
      <p:sp>
        <p:nvSpPr>
          <p:cNvPr id="17" name="Feature 3 text"/>
          <p:cNvSpPr txBox="1"/>
          <p:nvPr/>
        </p:nvSpPr>
        <p:spPr>
          <a:xfrm>
            <a:off x="8402117" y="233172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FAO-56 Ra + Hargreaves ET0 x Kc: 7-day plan in mm and litres/acre</a:t>
            </a:r>
            <a:endParaRPr lang="en-US" sz="1400" dirty="0"/>
          </a:p>
        </p:txBody>
      </p:sp>
      <p:sp>
        <p:nvSpPr>
          <p:cNvPr id="18" name="Feature 4 card"/>
          <p:cNvSpPr/>
          <p:nvPr/>
        </p:nvSpPr>
        <p:spPr>
          <a:xfrm>
            <a:off x="548640" y="3840480"/>
            <a:ext cx="351525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9" name="Feature 4 circle"/>
          <p:cNvSpPr/>
          <p:nvPr/>
        </p:nvSpPr>
        <p:spPr>
          <a:xfrm>
            <a:off x="822960" y="4114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Feature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251960"/>
            <a:ext cx="274320" cy="274320"/>
          </a:xfrm>
          <a:prstGeom prst="rect">
            <a:avLst/>
          </a:prstGeom>
        </p:spPr>
      </p:pic>
      <p:sp>
        <p:nvSpPr>
          <p:cNvPr id="21" name="Feature 4 title"/>
          <p:cNvSpPr txBox="1"/>
          <p:nvPr/>
        </p:nvSpPr>
        <p:spPr>
          <a:xfrm>
            <a:off x="1554480" y="4114800"/>
            <a:ext cx="2280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Market timing</a:t>
            </a:r>
            <a:endParaRPr lang="en-US" sz="1800" dirty="0"/>
          </a:p>
        </p:txBody>
      </p:sp>
      <p:sp>
        <p:nvSpPr>
          <p:cNvPr id="22" name="Feature 4 text"/>
          <p:cNvSpPr txBox="1"/>
          <p:nvPr/>
        </p:nvSpPr>
        <p:spPr>
          <a:xfrm>
            <a:off x="822960" y="480060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Seasonal index + trend: sell now or hold N weeks, with price band</a:t>
            </a:r>
            <a:endParaRPr lang="en-US" sz="1400" dirty="0"/>
          </a:p>
        </p:txBody>
      </p:sp>
      <p:sp>
        <p:nvSpPr>
          <p:cNvPr id="23" name="Feature 5 card"/>
          <p:cNvSpPr/>
          <p:nvPr/>
        </p:nvSpPr>
        <p:spPr>
          <a:xfrm>
            <a:off x="4338218" y="3840480"/>
            <a:ext cx="351525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4" name="Feature 5 circle"/>
          <p:cNvSpPr/>
          <p:nvPr/>
        </p:nvSpPr>
        <p:spPr>
          <a:xfrm>
            <a:off x="4612538" y="4114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Feature 5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9698" y="4251960"/>
            <a:ext cx="274320" cy="274320"/>
          </a:xfrm>
          <a:prstGeom prst="rect">
            <a:avLst/>
          </a:prstGeom>
        </p:spPr>
      </p:pic>
      <p:sp>
        <p:nvSpPr>
          <p:cNvPr id="26" name="Feature 5 title"/>
          <p:cNvSpPr txBox="1"/>
          <p:nvPr/>
        </p:nvSpPr>
        <p:spPr>
          <a:xfrm>
            <a:off x="5344058" y="4114800"/>
            <a:ext cx="2280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Crop calendar</a:t>
            </a:r>
            <a:endParaRPr lang="en-US" sz="1800" dirty="0"/>
          </a:p>
        </p:txBody>
      </p:sp>
      <p:sp>
        <p:nvSpPr>
          <p:cNvPr id="27" name="Feature 5 text"/>
          <p:cNvSpPr txBox="1"/>
          <p:nvPr/>
        </p:nvSpPr>
        <p:spPr>
          <a:xfrm>
            <a:off x="4612538" y="480060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Visual timeline from land prep to harvest with key operations</a:t>
            </a:r>
            <a:endParaRPr lang="en-US" sz="1400" dirty="0"/>
          </a:p>
        </p:txBody>
      </p:sp>
      <p:sp>
        <p:nvSpPr>
          <p:cNvPr id="28" name="Feature 6 card"/>
          <p:cNvSpPr/>
          <p:nvPr/>
        </p:nvSpPr>
        <p:spPr>
          <a:xfrm>
            <a:off x="8127797" y="3840480"/>
            <a:ext cx="351525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9" name="Feature 6 circle"/>
          <p:cNvSpPr/>
          <p:nvPr/>
        </p:nvSpPr>
        <p:spPr>
          <a:xfrm>
            <a:off x="8402117" y="4114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Feature 6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9277" y="4251960"/>
            <a:ext cx="274320" cy="274320"/>
          </a:xfrm>
          <a:prstGeom prst="rect">
            <a:avLst/>
          </a:prstGeom>
        </p:spPr>
      </p:pic>
      <p:sp>
        <p:nvSpPr>
          <p:cNvPr id="31" name="Feature 6 title"/>
          <p:cNvSpPr txBox="1"/>
          <p:nvPr/>
        </p:nvSpPr>
        <p:spPr>
          <a:xfrm>
            <a:off x="9133637" y="4114800"/>
            <a:ext cx="2280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Tamil + voice</a:t>
            </a:r>
            <a:endParaRPr lang="en-US" sz="1800" dirty="0"/>
          </a:p>
        </p:txBody>
      </p:sp>
      <p:sp>
        <p:nvSpPr>
          <p:cNvPr id="32" name="Feature 6 text"/>
          <p:cNvSpPr txBox="1"/>
          <p:nvPr/>
        </p:nvSpPr>
        <p:spPr>
          <a:xfrm>
            <a:off x="8402117" y="480060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Every label and advice in Tamil script; speechSynthesis read-aloud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System architecture</a:t>
            </a:r>
            <a:endParaRPr lang="en-US" sz="3600" dirty="0"/>
          </a:p>
        </p:txBody>
      </p:sp>
      <p:sp>
        <p:nvSpPr>
          <p:cNvPr id="3" name="Layer 1"/>
          <p:cNvSpPr/>
          <p:nvPr/>
        </p:nvSpPr>
        <p:spPr>
          <a:xfrm>
            <a:off x="548640" y="1325880"/>
            <a:ext cx="7498080" cy="632460"/>
          </a:xfrm>
          <a:prstGeom prst="roundRect">
            <a:avLst>
              <a:gd name="adj" fmla="val 14458"/>
            </a:avLst>
          </a:prstGeom>
          <a:solidFill>
            <a:schemeClr val="accent2"/>
          </a:solidFill>
          <a:ln/>
        </p:spPr>
      </p:sp>
      <p:sp>
        <p:nvSpPr>
          <p:cNvPr id="4" name="Layer 1 text"/>
          <p:cNvSpPr txBox="1"/>
          <p:nvPr/>
        </p:nvSpPr>
        <p:spPr>
          <a:xfrm>
            <a:off x="822960" y="1325880"/>
            <a:ext cx="70408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Browser UI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vanilla JS, SVG charts, EN/TA, speech</a:t>
            </a:r>
            <a:endParaRPr lang="en-US" sz="1500" dirty="0"/>
          </a:p>
        </p:txBody>
      </p:sp>
      <p:sp>
        <p:nvSpPr>
          <p:cNvPr id="5" name="Arrow 1"/>
          <p:cNvSpPr/>
          <p:nvPr/>
        </p:nvSpPr>
        <p:spPr>
          <a:xfrm>
            <a:off x="4206240" y="1976628"/>
            <a:ext cx="201168" cy="164592"/>
          </a:xfrm>
          <a:prstGeom prst="downArrow">
            <a:avLst/>
          </a:prstGeom>
          <a:solidFill>
            <a:schemeClr val="accent4"/>
          </a:solidFill>
          <a:ln/>
        </p:spPr>
      </p:sp>
      <p:sp>
        <p:nvSpPr>
          <p:cNvPr id="6" name="Layer 2"/>
          <p:cNvSpPr/>
          <p:nvPr/>
        </p:nvSpPr>
        <p:spPr>
          <a:xfrm>
            <a:off x="548640" y="2159508"/>
            <a:ext cx="7498080" cy="632460"/>
          </a:xfrm>
          <a:prstGeom prst="roundRect">
            <a:avLst>
              <a:gd name="adj" fmla="val 14458"/>
            </a:avLst>
          </a:prstGeom>
          <a:solidFill>
            <a:schemeClr val="bg2"/>
          </a:solidFill>
          <a:ln/>
        </p:spPr>
      </p:sp>
      <p:sp>
        <p:nvSpPr>
          <p:cNvPr id="7" name="Layer 2 text"/>
          <p:cNvSpPr txBox="1"/>
          <p:nvPr/>
        </p:nvSpPr>
        <p:spPr>
          <a:xfrm>
            <a:off x="822960" y="2159508"/>
            <a:ext cx="70408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app.py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stdlib ThreadingHTTPServer, JSON API, validation</a:t>
            </a:r>
            <a:endParaRPr lang="en-US" sz="1500" dirty="0"/>
          </a:p>
        </p:txBody>
      </p:sp>
      <p:sp>
        <p:nvSpPr>
          <p:cNvPr id="8" name="Arrow 2"/>
          <p:cNvSpPr/>
          <p:nvPr/>
        </p:nvSpPr>
        <p:spPr>
          <a:xfrm>
            <a:off x="4206240" y="2810256"/>
            <a:ext cx="201168" cy="164592"/>
          </a:xfrm>
          <a:prstGeom prst="downArrow">
            <a:avLst/>
          </a:prstGeom>
          <a:solidFill>
            <a:schemeClr val="accent4"/>
          </a:solidFill>
          <a:ln/>
        </p:spPr>
      </p:sp>
      <p:sp>
        <p:nvSpPr>
          <p:cNvPr id="9" name="Layer 3"/>
          <p:cNvSpPr/>
          <p:nvPr/>
        </p:nvSpPr>
        <p:spPr>
          <a:xfrm>
            <a:off x="548640" y="2993136"/>
            <a:ext cx="7498080" cy="632460"/>
          </a:xfrm>
          <a:prstGeom prst="roundRect">
            <a:avLst>
              <a:gd name="adj" fmla="val 14458"/>
            </a:avLst>
          </a:prstGeom>
          <a:solidFill>
            <a:schemeClr val="accent2"/>
          </a:solidFill>
          <a:ln/>
        </p:spPr>
      </p:sp>
      <p:sp>
        <p:nvSpPr>
          <p:cNvPr id="10" name="Layer 3 text"/>
          <p:cNvSpPr txBox="1"/>
          <p:nvPr/>
        </p:nvSpPr>
        <p:spPr>
          <a:xfrm>
            <a:off x="822960" y="2993136"/>
            <a:ext cx="70408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advisor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one call runs every module for the chosen crop</a:t>
            </a:r>
            <a:endParaRPr lang="en-US" sz="1500" dirty="0"/>
          </a:p>
        </p:txBody>
      </p:sp>
      <p:sp>
        <p:nvSpPr>
          <p:cNvPr id="11" name="Arrow 3"/>
          <p:cNvSpPr/>
          <p:nvPr/>
        </p:nvSpPr>
        <p:spPr>
          <a:xfrm>
            <a:off x="4206240" y="3643884"/>
            <a:ext cx="201168" cy="164592"/>
          </a:xfrm>
          <a:prstGeom prst="downArrow">
            <a:avLst/>
          </a:prstGeom>
          <a:solidFill>
            <a:schemeClr val="accent4"/>
          </a:solidFill>
          <a:ln/>
        </p:spPr>
      </p:sp>
      <p:sp>
        <p:nvSpPr>
          <p:cNvPr id="12" name="Layer 4"/>
          <p:cNvSpPr/>
          <p:nvPr/>
        </p:nvSpPr>
        <p:spPr>
          <a:xfrm>
            <a:off x="548640" y="3826764"/>
            <a:ext cx="7498080" cy="632460"/>
          </a:xfrm>
          <a:prstGeom prst="roundRect">
            <a:avLst>
              <a:gd name="adj" fmla="val 14458"/>
            </a:avLst>
          </a:prstGeom>
          <a:solidFill>
            <a:schemeClr val="bg2"/>
          </a:solidFill>
          <a:ln/>
        </p:spPr>
      </p:sp>
      <p:sp>
        <p:nvSpPr>
          <p:cNvPr id="13" name="Layer 4 text"/>
          <p:cNvSpPr txBox="1"/>
          <p:nvPr/>
        </p:nvSpPr>
        <p:spPr>
          <a:xfrm>
            <a:off x="822960" y="3826764"/>
            <a:ext cx="70408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recommender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GNB + RF trained on seeded synthetic data</a:t>
            </a:r>
            <a:endParaRPr lang="en-US" sz="1500" dirty="0"/>
          </a:p>
        </p:txBody>
      </p:sp>
      <p:sp>
        <p:nvSpPr>
          <p:cNvPr id="14" name="Arrow 4"/>
          <p:cNvSpPr/>
          <p:nvPr/>
        </p:nvSpPr>
        <p:spPr>
          <a:xfrm>
            <a:off x="4206240" y="4477512"/>
            <a:ext cx="201168" cy="164592"/>
          </a:xfrm>
          <a:prstGeom prst="downArrow">
            <a:avLst/>
          </a:prstGeom>
          <a:solidFill>
            <a:schemeClr val="accent4"/>
          </a:solidFill>
          <a:ln/>
        </p:spPr>
      </p:sp>
      <p:sp>
        <p:nvSpPr>
          <p:cNvPr id="15" name="Layer 5"/>
          <p:cNvSpPr/>
          <p:nvPr/>
        </p:nvSpPr>
        <p:spPr>
          <a:xfrm>
            <a:off x="548640" y="4660392"/>
            <a:ext cx="7498080" cy="632460"/>
          </a:xfrm>
          <a:prstGeom prst="roundRect">
            <a:avLst>
              <a:gd name="adj" fmla="val 14458"/>
            </a:avLst>
          </a:prstGeom>
          <a:solidFill>
            <a:schemeClr val="accent2"/>
          </a:solidFill>
          <a:ln/>
        </p:spPr>
      </p:sp>
      <p:sp>
        <p:nvSpPr>
          <p:cNvPr id="16" name="Layer 5 text"/>
          <p:cNvSpPr txBox="1"/>
          <p:nvPr/>
        </p:nvSpPr>
        <p:spPr>
          <a:xfrm>
            <a:off x="822960" y="4660392"/>
            <a:ext cx="70408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fertiliser / irrigation / market / calendar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pure Python</a:t>
            </a:r>
            <a:endParaRPr lang="en-US" sz="1500" dirty="0"/>
          </a:p>
        </p:txBody>
      </p:sp>
      <p:sp>
        <p:nvSpPr>
          <p:cNvPr id="17" name="Arrow 5"/>
          <p:cNvSpPr/>
          <p:nvPr/>
        </p:nvSpPr>
        <p:spPr>
          <a:xfrm>
            <a:off x="4206240" y="5311140"/>
            <a:ext cx="201168" cy="164592"/>
          </a:xfrm>
          <a:prstGeom prst="downArrow">
            <a:avLst/>
          </a:prstGeom>
          <a:solidFill>
            <a:schemeClr val="accent4"/>
          </a:solidFill>
          <a:ln/>
        </p:spPr>
      </p:sp>
      <p:sp>
        <p:nvSpPr>
          <p:cNvPr id="18" name="Layer 6"/>
          <p:cNvSpPr/>
          <p:nvPr/>
        </p:nvSpPr>
        <p:spPr>
          <a:xfrm>
            <a:off x="548640" y="5494020"/>
            <a:ext cx="7498080" cy="632460"/>
          </a:xfrm>
          <a:prstGeom prst="roundRect">
            <a:avLst>
              <a:gd name="adj" fmla="val 14458"/>
            </a:avLst>
          </a:prstGeom>
          <a:solidFill>
            <a:schemeClr val="bg2"/>
          </a:solidFill>
          <a:ln/>
        </p:spPr>
      </p:sp>
      <p:sp>
        <p:nvSpPr>
          <p:cNvPr id="19" name="Layer 6 text"/>
          <p:cNvSpPr txBox="1"/>
          <p:nvPr/>
        </p:nvSpPr>
        <p:spPr>
          <a:xfrm>
            <a:off x="822960" y="5494020"/>
            <a:ext cx="70408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config.py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every assumption, labelled approx.</a:t>
            </a:r>
            <a:endParaRPr lang="en-US" sz="1500" dirty="0"/>
          </a:p>
        </p:txBody>
      </p:sp>
      <p:sp>
        <p:nvSpPr>
          <p:cNvPr id="20" name="Tech card"/>
          <p:cNvSpPr/>
          <p:nvPr/>
        </p:nvSpPr>
        <p:spPr>
          <a:xfrm>
            <a:off x="8412480" y="1325880"/>
            <a:ext cx="3230575" cy="4800600"/>
          </a:xfrm>
          <a:prstGeom prst="roundRect">
            <a:avLst>
              <a:gd name="adj" fmla="val 3397"/>
            </a:avLst>
          </a:prstGeom>
          <a:solidFill>
            <a:schemeClr val="tx2"/>
          </a:solidFill>
          <a:ln/>
        </p:spPr>
      </p:sp>
      <p:sp>
        <p:nvSpPr>
          <p:cNvPr id="21" name="Tech title"/>
          <p:cNvSpPr txBox="1"/>
          <p:nvPr/>
        </p:nvSpPr>
        <p:spPr>
          <a:xfrm>
            <a:off x="8686800" y="1554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Tech stack</a:t>
            </a:r>
            <a:endParaRPr lang="en-US" sz="1800" dirty="0"/>
          </a:p>
        </p:txBody>
      </p:sp>
      <p:sp>
        <p:nvSpPr>
          <p:cNvPr id="22" name="Tech list"/>
          <p:cNvSpPr txBox="1"/>
          <p:nvPr/>
        </p:nvSpPr>
        <p:spPr>
          <a:xfrm>
            <a:off x="8686800" y="210312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Python 3 stdlib only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Vanilla HTML/CSS/JS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Inline SVG charts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Web Speech API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No CDN, no internet</a:t>
            </a:r>
            <a:endParaRPr lang="en-US" sz="1400" dirty="0"/>
          </a:p>
        </p:txBody>
      </p:sp>
      <p:sp>
        <p:nvSpPr>
          <p:cNvPr id="23" name="Offline note"/>
          <p:cNvSpPr txBox="1"/>
          <p:nvPr/>
        </p:nvSpPr>
        <p:spPr>
          <a:xfrm>
            <a:off x="8686800" y="51206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Runs fully offline · no installs · python app.py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Algorithms built from scratch</a:t>
            </a:r>
            <a:endParaRPr lang="en-US" sz="3600" dirty="0"/>
          </a:p>
        </p:txBody>
      </p:sp>
      <p:sp>
        <p:nvSpPr>
          <p:cNvPr id="3" name="Algorithm 1 card"/>
          <p:cNvSpPr/>
          <p:nvPr/>
        </p:nvSpPr>
        <p:spPr>
          <a:xfrm>
            <a:off x="548640" y="1371600"/>
            <a:ext cx="5410048" cy="143256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4" name="Algorithm 1 number"/>
          <p:cNvSpPr txBox="1"/>
          <p:nvPr/>
        </p:nvSpPr>
        <p:spPr>
          <a:xfrm>
            <a:off x="777240" y="1371600"/>
            <a:ext cx="731520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01</a:t>
            </a:r>
            <a:endParaRPr lang="en-US" sz="2800" dirty="0"/>
          </a:p>
        </p:txBody>
      </p:sp>
      <p:sp>
        <p:nvSpPr>
          <p:cNvPr id="5" name="Algorithm 1 text"/>
          <p:cNvSpPr txBox="1"/>
          <p:nvPr/>
        </p:nvSpPr>
        <p:spPr>
          <a:xfrm>
            <a:off x="1554480" y="1371600"/>
            <a:ext cx="4221328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Gaussian Naive Bayes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crop probabilities + log-odds per input</a:t>
            </a:r>
            <a:endParaRPr lang="en-US" sz="1700" dirty="0"/>
          </a:p>
        </p:txBody>
      </p:sp>
      <p:sp>
        <p:nvSpPr>
          <p:cNvPr id="6" name="Algorithm 2 card"/>
          <p:cNvSpPr/>
          <p:nvPr/>
        </p:nvSpPr>
        <p:spPr>
          <a:xfrm>
            <a:off x="6233008" y="1371600"/>
            <a:ext cx="5410048" cy="143256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7" name="Algorithm 2 number"/>
          <p:cNvSpPr txBox="1"/>
          <p:nvPr/>
        </p:nvSpPr>
        <p:spPr>
          <a:xfrm>
            <a:off x="6461608" y="1371600"/>
            <a:ext cx="731520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02</a:t>
            </a:r>
            <a:endParaRPr lang="en-US" sz="2800" dirty="0"/>
          </a:p>
        </p:txBody>
      </p:sp>
      <p:sp>
        <p:nvSpPr>
          <p:cNvPr id="8" name="Algorithm 2 text"/>
          <p:cNvSpPr txBox="1"/>
          <p:nvPr/>
        </p:nvSpPr>
        <p:spPr>
          <a:xfrm>
            <a:off x="7238848" y="1371600"/>
            <a:ext cx="4221328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CART + Random Forest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bootstrap, feature bagging, OOB, Saabas</a:t>
            </a:r>
            <a:endParaRPr lang="en-US" sz="1700" dirty="0"/>
          </a:p>
        </p:txBody>
      </p:sp>
      <p:sp>
        <p:nvSpPr>
          <p:cNvPr id="9" name="Algorithm 3 card"/>
          <p:cNvSpPr/>
          <p:nvPr/>
        </p:nvSpPr>
        <p:spPr>
          <a:xfrm>
            <a:off x="548640" y="3032760"/>
            <a:ext cx="5410048" cy="143256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10" name="Algorithm 3 number"/>
          <p:cNvSpPr txBox="1"/>
          <p:nvPr/>
        </p:nvSpPr>
        <p:spPr>
          <a:xfrm>
            <a:off x="777240" y="3032760"/>
            <a:ext cx="731520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03</a:t>
            </a:r>
            <a:endParaRPr lang="en-US" sz="2800" dirty="0"/>
          </a:p>
        </p:txBody>
      </p:sp>
      <p:sp>
        <p:nvSpPr>
          <p:cNvPr id="11" name="Algorithm 3 text"/>
          <p:cNvSpPr txBox="1"/>
          <p:nvPr/>
        </p:nvSpPr>
        <p:spPr>
          <a:xfrm>
            <a:off x="1554480" y="3032760"/>
            <a:ext cx="4221328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FAO-56 Ra + Hargreaves ET0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reference water demand</a:t>
            </a:r>
            <a:endParaRPr lang="en-US" sz="1700" dirty="0"/>
          </a:p>
        </p:txBody>
      </p:sp>
      <p:sp>
        <p:nvSpPr>
          <p:cNvPr id="12" name="Algorithm 4 card"/>
          <p:cNvSpPr/>
          <p:nvPr/>
        </p:nvSpPr>
        <p:spPr>
          <a:xfrm>
            <a:off x="6233008" y="3032760"/>
            <a:ext cx="5410048" cy="143256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13" name="Algorithm 4 number"/>
          <p:cNvSpPr txBox="1"/>
          <p:nvPr/>
        </p:nvSpPr>
        <p:spPr>
          <a:xfrm>
            <a:off x="6461608" y="3032760"/>
            <a:ext cx="731520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04</a:t>
            </a:r>
            <a:endParaRPr lang="en-US" sz="2800" dirty="0"/>
          </a:p>
        </p:txBody>
      </p:sp>
      <p:sp>
        <p:nvSpPr>
          <p:cNvPr id="14" name="Algorithm 4 text"/>
          <p:cNvSpPr txBox="1"/>
          <p:nvPr/>
        </p:nvSpPr>
        <p:spPr>
          <a:xfrm>
            <a:off x="7238848" y="3032760"/>
            <a:ext cx="4221328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Kc stage curve + soil bucket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7-day irrigation schedule</a:t>
            </a:r>
            <a:endParaRPr lang="en-US" sz="1700" dirty="0"/>
          </a:p>
        </p:txBody>
      </p:sp>
      <p:sp>
        <p:nvSpPr>
          <p:cNvPr id="15" name="Algorithm 5 card"/>
          <p:cNvSpPr/>
          <p:nvPr/>
        </p:nvSpPr>
        <p:spPr>
          <a:xfrm>
            <a:off x="548640" y="4693920"/>
            <a:ext cx="5410048" cy="143256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16" name="Algorithm 5 number"/>
          <p:cNvSpPr txBox="1"/>
          <p:nvPr/>
        </p:nvSpPr>
        <p:spPr>
          <a:xfrm>
            <a:off x="777240" y="4693920"/>
            <a:ext cx="731520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05</a:t>
            </a:r>
            <a:endParaRPr lang="en-US" sz="2800" dirty="0"/>
          </a:p>
        </p:txBody>
      </p:sp>
      <p:sp>
        <p:nvSpPr>
          <p:cNvPr id="17" name="Algorithm 5 text"/>
          <p:cNvSpPr txBox="1"/>
          <p:nvPr/>
        </p:nvSpPr>
        <p:spPr>
          <a:xfrm>
            <a:off x="1554480" y="4693920"/>
            <a:ext cx="4221328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Ratio-to-moving-average seasonal index + OLS trend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sell/hold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What makes it different</a:t>
            </a:r>
            <a:endParaRPr lang="en-US" sz="3600" dirty="0"/>
          </a:p>
        </p:txBody>
      </p:sp>
      <p:sp>
        <p:nvSpPr>
          <p:cNvPr id="3" name="Innovation 1 card"/>
          <p:cNvSpPr/>
          <p:nvPr/>
        </p:nvSpPr>
        <p:spPr>
          <a:xfrm>
            <a:off x="548640" y="1371600"/>
            <a:ext cx="5410048" cy="2148840"/>
          </a:xfrm>
          <a:prstGeom prst="roundRect">
            <a:avLst>
              <a:gd name="adj" fmla="val 5106"/>
            </a:avLst>
          </a:prstGeom>
          <a:solidFill>
            <a:schemeClr val="accent2"/>
          </a:solidFill>
          <a:ln/>
        </p:spPr>
      </p:sp>
      <p:sp>
        <p:nvSpPr>
          <p:cNvPr id="4" name="Innovation 1 circle"/>
          <p:cNvSpPr/>
          <p:nvPr/>
        </p:nvSpPr>
        <p:spPr>
          <a:xfrm>
            <a:off x="868680" y="21031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nnovation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130" y="2274570"/>
            <a:ext cx="342900" cy="342900"/>
          </a:xfrm>
          <a:prstGeom prst="rect">
            <a:avLst/>
          </a:prstGeom>
        </p:spPr>
      </p:pic>
      <p:sp>
        <p:nvSpPr>
          <p:cNvPr id="6" name="Innovation 1 text"/>
          <p:cNvSpPr txBox="1"/>
          <p:nvPr/>
        </p:nvSpPr>
        <p:spPr>
          <a:xfrm>
            <a:off x="1783080" y="1371600"/>
            <a:ext cx="390128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One plan: crop choice drives dose, Kc, prices and calendar</a:t>
            </a:r>
            <a:endParaRPr lang="en-US" sz="2000" dirty="0"/>
          </a:p>
        </p:txBody>
      </p:sp>
      <p:sp>
        <p:nvSpPr>
          <p:cNvPr id="7" name="Innovation 2 card"/>
          <p:cNvSpPr/>
          <p:nvPr/>
        </p:nvSpPr>
        <p:spPr>
          <a:xfrm>
            <a:off x="6233008" y="1371600"/>
            <a:ext cx="541004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8" name="Innovation 2 circle"/>
          <p:cNvSpPr/>
          <p:nvPr/>
        </p:nvSpPr>
        <p:spPr>
          <a:xfrm>
            <a:off x="6553048" y="21031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nnovation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4498" y="2274570"/>
            <a:ext cx="342900" cy="342900"/>
          </a:xfrm>
          <a:prstGeom prst="rect">
            <a:avLst/>
          </a:prstGeom>
        </p:spPr>
      </p:pic>
      <p:sp>
        <p:nvSpPr>
          <p:cNvPr id="10" name="Innovation 2 text"/>
          <p:cNvSpPr txBox="1"/>
          <p:nvPr/>
        </p:nvSpPr>
        <p:spPr>
          <a:xfrm>
            <a:off x="7467448" y="1371600"/>
            <a:ext cx="390128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Explainable ML written from scratch, two models side by side</a:t>
            </a:r>
            <a:endParaRPr lang="en-US" sz="2000" dirty="0"/>
          </a:p>
        </p:txBody>
      </p:sp>
      <p:sp>
        <p:nvSpPr>
          <p:cNvPr id="11" name="Innovation 3 card"/>
          <p:cNvSpPr/>
          <p:nvPr/>
        </p:nvSpPr>
        <p:spPr>
          <a:xfrm>
            <a:off x="548640" y="3794760"/>
            <a:ext cx="541004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12" name="Innovation 3 circle"/>
          <p:cNvSpPr/>
          <p:nvPr/>
        </p:nvSpPr>
        <p:spPr>
          <a:xfrm>
            <a:off x="868680" y="45262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nnovation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130" y="4697730"/>
            <a:ext cx="342900" cy="342900"/>
          </a:xfrm>
          <a:prstGeom prst="rect">
            <a:avLst/>
          </a:prstGeom>
        </p:spPr>
      </p:pic>
      <p:sp>
        <p:nvSpPr>
          <p:cNvPr id="14" name="Innovation 3 text"/>
          <p:cNvSpPr txBox="1"/>
          <p:nvPr/>
        </p:nvSpPr>
        <p:spPr>
          <a:xfrm>
            <a:off x="1783080" y="3794760"/>
            <a:ext cx="390128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Tamil-first advice text and voice, not just translated labels</a:t>
            </a:r>
            <a:endParaRPr lang="en-US" sz="2000" dirty="0"/>
          </a:p>
        </p:txBody>
      </p:sp>
      <p:sp>
        <p:nvSpPr>
          <p:cNvPr id="15" name="Innovation 4 card"/>
          <p:cNvSpPr/>
          <p:nvPr/>
        </p:nvSpPr>
        <p:spPr>
          <a:xfrm>
            <a:off x="6233008" y="3794760"/>
            <a:ext cx="5410048" cy="2148840"/>
          </a:xfrm>
          <a:prstGeom prst="roundRect">
            <a:avLst>
              <a:gd name="adj" fmla="val 5106"/>
            </a:avLst>
          </a:prstGeom>
          <a:solidFill>
            <a:schemeClr val="accent2"/>
          </a:solidFill>
          <a:ln/>
        </p:spPr>
      </p:sp>
      <p:sp>
        <p:nvSpPr>
          <p:cNvPr id="16" name="Innovation 4 circle"/>
          <p:cNvSpPr/>
          <p:nvPr/>
        </p:nvSpPr>
        <p:spPr>
          <a:xfrm>
            <a:off x="6553048" y="45262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nnovation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4498" y="4697730"/>
            <a:ext cx="342900" cy="342900"/>
          </a:xfrm>
          <a:prstGeom prst="rect">
            <a:avLst/>
          </a:prstGeom>
        </p:spPr>
      </p:pic>
      <p:sp>
        <p:nvSpPr>
          <p:cNvPr id="18" name="Innovation 4 text"/>
          <p:cNvSpPr txBox="1"/>
          <p:nvPr/>
        </p:nvSpPr>
        <p:spPr>
          <a:xfrm>
            <a:off x="7467448" y="3794760"/>
            <a:ext cx="390128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Fully offline on a ₹15k laptop, ~3 ms per request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Measured results</a:t>
            </a:r>
            <a:endParaRPr lang="en-US" sz="3600" dirty="0"/>
          </a:p>
        </p:txBody>
      </p:sp>
      <p:sp>
        <p:nvSpPr>
          <p:cNvPr id="3" name="Result 1 card"/>
          <p:cNvSpPr/>
          <p:nvPr/>
        </p:nvSpPr>
        <p:spPr>
          <a:xfrm>
            <a:off x="548640" y="1463040"/>
            <a:ext cx="2567864" cy="237744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4" name="Result 1 value"/>
          <p:cNvSpPr txBox="1"/>
          <p:nvPr/>
        </p:nvSpPr>
        <p:spPr>
          <a:xfrm>
            <a:off x="777240" y="1645920"/>
            <a:ext cx="2110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6"/>
                </a:solidFill>
              </a:rPr>
              <a:t>94.3%</a:t>
            </a:r>
            <a:endParaRPr lang="en-US" sz="4000" dirty="0"/>
          </a:p>
        </p:txBody>
      </p:sp>
      <p:sp>
        <p:nvSpPr>
          <p:cNvPr id="5" name="Result 1 label"/>
          <p:cNvSpPr txBox="1"/>
          <p:nvPr/>
        </p:nvSpPr>
        <p:spPr>
          <a:xfrm>
            <a:off x="777240" y="274320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hold-out accuracy, GNB+RF blend (synthetic, 14 crops)</a:t>
            </a:r>
            <a:endParaRPr lang="en-US" sz="1400" dirty="0"/>
          </a:p>
        </p:txBody>
      </p:sp>
      <p:sp>
        <p:nvSpPr>
          <p:cNvPr id="6" name="Result 2 card"/>
          <p:cNvSpPr/>
          <p:nvPr/>
        </p:nvSpPr>
        <p:spPr>
          <a:xfrm>
            <a:off x="3390824" y="1463040"/>
            <a:ext cx="2567864" cy="237744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7" name="Result 2 value"/>
          <p:cNvSpPr txBox="1"/>
          <p:nvPr/>
        </p:nvSpPr>
        <p:spPr>
          <a:xfrm>
            <a:off x="3619424" y="1645920"/>
            <a:ext cx="2110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6"/>
                </a:solidFill>
              </a:rPr>
              <a:t>93.6%</a:t>
            </a:r>
            <a:endParaRPr lang="en-US" sz="4000" dirty="0"/>
          </a:p>
        </p:txBody>
      </p:sp>
      <p:sp>
        <p:nvSpPr>
          <p:cNvPr id="8" name="Result 2 label"/>
          <p:cNvSpPr txBox="1"/>
          <p:nvPr/>
        </p:nvSpPr>
        <p:spPr>
          <a:xfrm>
            <a:off x="3619424" y="274320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GNB and RF each, on the same hold-out</a:t>
            </a:r>
            <a:endParaRPr lang="en-US" sz="1400" dirty="0"/>
          </a:p>
        </p:txBody>
      </p:sp>
      <p:sp>
        <p:nvSpPr>
          <p:cNvPr id="9" name="Result 3 card"/>
          <p:cNvSpPr/>
          <p:nvPr/>
        </p:nvSpPr>
        <p:spPr>
          <a:xfrm>
            <a:off x="6233008" y="1463040"/>
            <a:ext cx="2567864" cy="237744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0" name="Result 3 value"/>
          <p:cNvSpPr txBox="1"/>
          <p:nvPr/>
        </p:nvSpPr>
        <p:spPr>
          <a:xfrm>
            <a:off x="6461608" y="1645920"/>
            <a:ext cx="2110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6"/>
                </a:solidFill>
              </a:rPr>
              <a:t>2.9 ms</a:t>
            </a:r>
            <a:endParaRPr lang="en-US" sz="4000" dirty="0"/>
          </a:p>
        </p:txBody>
      </p:sp>
      <p:sp>
        <p:nvSpPr>
          <p:cNvPr id="11" name="Result 3 label"/>
          <p:cNvSpPr txBox="1"/>
          <p:nvPr/>
        </p:nvSpPr>
        <p:spPr>
          <a:xfrm>
            <a:off x="6461608" y="274320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median HTTP latency, full advisory</a:t>
            </a:r>
            <a:endParaRPr lang="en-US" sz="1400" dirty="0"/>
          </a:p>
        </p:txBody>
      </p:sp>
      <p:sp>
        <p:nvSpPr>
          <p:cNvPr id="12" name="Result 4 card"/>
          <p:cNvSpPr/>
          <p:nvPr/>
        </p:nvSpPr>
        <p:spPr>
          <a:xfrm>
            <a:off x="9075191" y="1463040"/>
            <a:ext cx="2567864" cy="237744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3" name="Result 4 value"/>
          <p:cNvSpPr txBox="1"/>
          <p:nvPr/>
        </p:nvSpPr>
        <p:spPr>
          <a:xfrm>
            <a:off x="9303791" y="1645920"/>
            <a:ext cx="2110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6"/>
                </a:solidFill>
              </a:rPr>
              <a:t>32.2</a:t>
            </a:r>
            <a:endParaRPr lang="en-US" sz="4000" dirty="0"/>
          </a:p>
        </p:txBody>
      </p:sp>
      <p:sp>
        <p:nvSpPr>
          <p:cNvPr id="14" name="Result 4 label"/>
          <p:cNvSpPr txBox="1"/>
          <p:nvPr/>
        </p:nvSpPr>
        <p:spPr>
          <a:xfrm>
            <a:off x="9303791" y="274320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Ra MJ/m²/day: matches FAO-56 Example 8</a:t>
            </a:r>
            <a:endParaRPr lang="en-US" sz="1400" dirty="0"/>
          </a:p>
        </p:txBody>
      </p:sp>
      <p:sp>
        <p:nvSpPr>
          <p:cNvPr id="15" name="Results caveat"/>
          <p:cNvSpPr txBox="1"/>
          <p:nvPr/>
        </p:nvSpPr>
        <p:spPr>
          <a:xfrm>
            <a:off x="548640" y="41605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Measured on held-out data generated by the project (see REPORT.md for method). Real-world performance needs field validation.</a:t>
            </a:r>
            <a:endParaRPr lang="en-US" sz="1200" dirty="0"/>
          </a:p>
        </p:txBody>
      </p:sp>
      <p:sp>
        <p:nvSpPr>
          <p:cNvPr id="16" name="Impact strip"/>
          <p:cNvSpPr/>
          <p:nvPr/>
        </p:nvSpPr>
        <p:spPr>
          <a:xfrm>
            <a:off x="548640" y="4754880"/>
            <a:ext cx="11094415" cy="13716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/>
        </p:spPr>
      </p:sp>
      <p:sp>
        <p:nvSpPr>
          <p:cNvPr id="17" name="Impact circle"/>
          <p:cNvSpPr/>
          <p:nvPr/>
        </p:nvSpPr>
        <p:spPr>
          <a:xfrm>
            <a:off x="822960" y="5120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mpact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5280660"/>
            <a:ext cx="320040" cy="320040"/>
          </a:xfrm>
          <a:prstGeom prst="rect">
            <a:avLst/>
          </a:prstGeom>
        </p:spPr>
      </p:pic>
      <p:sp>
        <p:nvSpPr>
          <p:cNvPr id="19" name="Impact text"/>
          <p:cNvSpPr txBox="1"/>
          <p:nvPr/>
        </p:nvSpPr>
        <p:spPr>
          <a:xfrm>
            <a:off x="1737360" y="4754880"/>
            <a:ext cx="963137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Impact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Right-sized fertiliser cuts input cost and nitrate pollution  ·  ET-based irrigation saves water and pumping power  ·  Tamil voice advice reaches low-literacy and older farmers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Live demo in 3 minutes</a:t>
            </a:r>
            <a:endParaRPr lang="en-US" sz="3600" dirty="0"/>
          </a:p>
        </p:txBody>
      </p:sp>
      <p:sp>
        <p:nvSpPr>
          <p:cNvPr id="3" name="Step 1 dot"/>
          <p:cNvSpPr/>
          <p:nvPr/>
        </p:nvSpPr>
        <p:spPr>
          <a:xfrm>
            <a:off x="548640" y="143560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Step 1 number"/>
          <p:cNvSpPr txBox="1"/>
          <p:nvPr/>
        </p:nvSpPr>
        <p:spPr>
          <a:xfrm>
            <a:off x="548640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Step 1 text"/>
          <p:cNvSpPr txBox="1"/>
          <p:nvPr/>
        </p:nvSpPr>
        <p:spPr>
          <a:xfrm>
            <a:off x="1234440" y="1371600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Open on phone + projector, Wi-Fi off</a:t>
            </a:r>
            <a:endParaRPr lang="en-US" sz="1600" dirty="0"/>
          </a:p>
        </p:txBody>
      </p:sp>
      <p:sp>
        <p:nvSpPr>
          <p:cNvPr id="6" name="Step 2 dot"/>
          <p:cNvSpPr/>
          <p:nvPr/>
        </p:nvSpPr>
        <p:spPr>
          <a:xfrm>
            <a:off x="548640" y="213055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Step 2 number"/>
          <p:cNvSpPr txBox="1"/>
          <p:nvPr/>
        </p:nvSpPr>
        <p:spPr>
          <a:xfrm>
            <a:off x="548640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Step 2 text"/>
          <p:cNvSpPr txBox="1"/>
          <p:nvPr/>
        </p:nvSpPr>
        <p:spPr>
          <a:xfrm>
            <a:off x="1234440" y="2066544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Tiruchengode farm: groundnut 99%, read the why-bars</a:t>
            </a:r>
            <a:endParaRPr lang="en-US" sz="1600" dirty="0"/>
          </a:p>
        </p:txBody>
      </p:sp>
      <p:sp>
        <p:nvSpPr>
          <p:cNvPr id="9" name="Step 3 dot"/>
          <p:cNvSpPr/>
          <p:nvPr/>
        </p:nvSpPr>
        <p:spPr>
          <a:xfrm>
            <a:off x="548640" y="282549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Step 3 number"/>
          <p:cNvSpPr txBox="1"/>
          <p:nvPr/>
        </p:nvSpPr>
        <p:spPr>
          <a:xfrm>
            <a:off x="548640" y="2825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Step 3 text"/>
          <p:cNvSpPr txBox="1"/>
          <p:nvPr/>
        </p:nvSpPr>
        <p:spPr>
          <a:xfrm>
            <a:off x="1234440" y="2761488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Toggle Tamil and tap Read aloud</a:t>
            </a:r>
            <a:endParaRPr lang="en-US" sz="1600" dirty="0"/>
          </a:p>
        </p:txBody>
      </p:sp>
      <p:sp>
        <p:nvSpPr>
          <p:cNvPr id="12" name="Step 4 dot"/>
          <p:cNvSpPr/>
          <p:nvPr/>
        </p:nvSpPr>
        <p:spPr>
          <a:xfrm>
            <a:off x="548640" y="35204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Step 4 number"/>
          <p:cNvSpPr txBox="1"/>
          <p:nvPr/>
        </p:nvSpPr>
        <p:spPr>
          <a:xfrm>
            <a:off x="54864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Step 4 text"/>
          <p:cNvSpPr txBox="1"/>
          <p:nvPr/>
        </p:nvSpPr>
        <p:spPr>
          <a:xfrm>
            <a:off x="1234440" y="3456432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Fertiliser: 0 urea, 15 kg DAP, 29 kg MOP per acre</a:t>
            </a:r>
            <a:endParaRPr lang="en-US" sz="1600" dirty="0"/>
          </a:p>
        </p:txBody>
      </p:sp>
      <p:sp>
        <p:nvSpPr>
          <p:cNvPr id="15" name="Step 5 dot"/>
          <p:cNvSpPr/>
          <p:nvPr/>
        </p:nvSpPr>
        <p:spPr>
          <a:xfrm>
            <a:off x="548640" y="421538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Step 5 number"/>
          <p:cNvSpPr txBox="1"/>
          <p:nvPr/>
        </p:nvSpPr>
        <p:spPr>
          <a:xfrm>
            <a:off x="548640" y="4215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Step 5 text"/>
          <p:cNvSpPr txBox="1"/>
          <p:nvPr/>
        </p:nvSpPr>
        <p:spPr>
          <a:xfrm>
            <a:off x="1234440" y="4151376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Delta paddy: irrigate once, 3.5 lakh L/acre</a:t>
            </a:r>
            <a:endParaRPr lang="en-US" sz="1600" dirty="0"/>
          </a:p>
        </p:txBody>
      </p:sp>
      <p:sp>
        <p:nvSpPr>
          <p:cNvPr id="18" name="Step 6 dot"/>
          <p:cNvSpPr/>
          <p:nvPr/>
        </p:nvSpPr>
        <p:spPr>
          <a:xfrm>
            <a:off x="548640" y="491032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Step 6 number"/>
          <p:cNvSpPr txBox="1"/>
          <p:nvPr/>
        </p:nvSpPr>
        <p:spPr>
          <a:xfrm>
            <a:off x="548640" y="4910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0" name="Step 6 text"/>
          <p:cNvSpPr txBox="1"/>
          <p:nvPr/>
        </p:nvSpPr>
        <p:spPr>
          <a:xfrm>
            <a:off x="1234440" y="4846320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Market: sell now vs Erode turmeric hold</a:t>
            </a:r>
            <a:endParaRPr lang="en-US" sz="1600" dirty="0"/>
          </a:p>
        </p:txBody>
      </p:sp>
      <p:sp>
        <p:nvSpPr>
          <p:cNvPr id="21" name="Step 7 dot"/>
          <p:cNvSpPr/>
          <p:nvPr/>
        </p:nvSpPr>
        <p:spPr>
          <a:xfrm>
            <a:off x="548640" y="560527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Step 7 number"/>
          <p:cNvSpPr txBox="1"/>
          <p:nvPr/>
        </p:nvSpPr>
        <p:spPr>
          <a:xfrm>
            <a:off x="548640" y="5605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23" name="Step 7 text"/>
          <p:cNvSpPr txBox="1"/>
          <p:nvPr/>
        </p:nvSpPr>
        <p:spPr>
          <a:xfrm>
            <a:off x="1234440" y="5541264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Switch crop: every card updates</a:t>
            </a:r>
            <a:endParaRPr lang="en-US" sz="1600" dirty="0"/>
          </a:p>
        </p:txBody>
      </p:sp>
      <p:sp>
        <p:nvSpPr>
          <p:cNvPr id="24" name="Demo screenshot frame"/>
          <p:cNvSpPr/>
          <p:nvPr/>
        </p:nvSpPr>
        <p:spPr>
          <a:xfrm>
            <a:off x="6528816" y="1545336"/>
            <a:ext cx="5138928" cy="3252978"/>
          </a:xfrm>
          <a:prstGeom prst="roundRect">
            <a:avLst>
              <a:gd name="adj" fmla="val 2249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5" name="Demo screenshot" descr="KrishiMitra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600200"/>
            <a:ext cx="5029200" cy="3143250"/>
          </a:xfrm>
          <a:prstGeom prst="rect">
            <a:avLst/>
          </a:prstGeom>
        </p:spPr>
      </p:pic>
      <p:sp>
        <p:nvSpPr>
          <p:cNvPr id="26" name="Run command"/>
          <p:cNvSpPr txBox="1"/>
          <p:nvPr/>
        </p:nvSpPr>
        <p:spPr>
          <a:xfrm>
            <a:off x="6583680" y="50292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app.py  →  http://localhost:8005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Feasibility, business model &amp; roadmap</a:t>
            </a:r>
            <a:endParaRPr lang="en-US" sz="3600" dirty="0"/>
          </a:p>
        </p:txBody>
      </p:sp>
      <p:sp>
        <p:nvSpPr>
          <p:cNvPr id="3" name="Business model card"/>
          <p:cNvSpPr/>
          <p:nvPr/>
        </p:nvSpPr>
        <p:spPr>
          <a:xfrm>
            <a:off x="548640" y="1371600"/>
            <a:ext cx="5410048" cy="429768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/>
        </p:spPr>
      </p:sp>
      <p:sp>
        <p:nvSpPr>
          <p:cNvPr id="4" name="Business model circle"/>
          <p:cNvSpPr/>
          <p:nvPr/>
        </p:nvSpPr>
        <p:spPr>
          <a:xfrm>
            <a:off x="868680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Business model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783080"/>
            <a:ext cx="274320" cy="274320"/>
          </a:xfrm>
          <a:prstGeom prst="rect">
            <a:avLst/>
          </a:prstGeom>
        </p:spPr>
      </p:pic>
      <p:sp>
        <p:nvSpPr>
          <p:cNvPr id="6" name="Business model title"/>
          <p:cNvSpPr txBox="1"/>
          <p:nvPr/>
        </p:nvSpPr>
        <p:spPr>
          <a:xfrm>
            <a:off x="1600200" y="1645920"/>
            <a:ext cx="403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Business model</a:t>
            </a:r>
            <a:endParaRPr lang="en-US" sz="2000" dirty="0"/>
          </a:p>
        </p:txBody>
      </p:sp>
      <p:sp>
        <p:nvSpPr>
          <p:cNvPr id="7" name="Business model list"/>
          <p:cNvSpPr txBox="1"/>
          <p:nvPr/>
        </p:nvSpPr>
        <p:spPr>
          <a:xfrm>
            <a:off x="914400" y="2468880"/>
            <a:ext cx="467852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B2G: explain-your-Soil-Health-Card layer for KVKs / state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B2B: white-label advisories for FPOs and input dealers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Freemium: free app, paid SMS/IVR voice advisories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Consented, anonymised data for agronomic research</a:t>
            </a:r>
            <a:endParaRPr lang="en-US" sz="1600" dirty="0"/>
          </a:p>
        </p:txBody>
      </p:sp>
      <p:sp>
        <p:nvSpPr>
          <p:cNvPr id="8" name="Future scope card"/>
          <p:cNvSpPr/>
          <p:nvPr/>
        </p:nvSpPr>
        <p:spPr>
          <a:xfrm>
            <a:off x="6233008" y="1371600"/>
            <a:ext cx="5410048" cy="4297680"/>
          </a:xfrm>
          <a:prstGeom prst="roundRect">
            <a:avLst>
              <a:gd name="adj" fmla="val 2553"/>
            </a:avLst>
          </a:prstGeom>
          <a:solidFill>
            <a:schemeClr val="accent2"/>
          </a:solidFill>
          <a:ln/>
        </p:spPr>
      </p:sp>
      <p:sp>
        <p:nvSpPr>
          <p:cNvPr id="9" name="Future scope circle"/>
          <p:cNvSpPr/>
          <p:nvPr/>
        </p:nvSpPr>
        <p:spPr>
          <a:xfrm>
            <a:off x="6553048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Future scope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0208" y="1783080"/>
            <a:ext cx="274320" cy="274320"/>
          </a:xfrm>
          <a:prstGeom prst="rect">
            <a:avLst/>
          </a:prstGeom>
        </p:spPr>
      </p:pic>
      <p:sp>
        <p:nvSpPr>
          <p:cNvPr id="11" name="Future scope title"/>
          <p:cNvSpPr txBox="1"/>
          <p:nvPr/>
        </p:nvSpPr>
        <p:spPr>
          <a:xfrm>
            <a:off x="7284568" y="1645920"/>
            <a:ext cx="403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Future scope</a:t>
            </a:r>
            <a:endParaRPr lang="en-US" sz="2000" dirty="0"/>
          </a:p>
        </p:txBody>
      </p:sp>
      <p:sp>
        <p:nvSpPr>
          <p:cNvPr id="12" name="Future scope list"/>
          <p:cNvSpPr txBox="1"/>
          <p:nvPr/>
        </p:nvSpPr>
        <p:spPr>
          <a:xfrm>
            <a:off x="6598768" y="2468880"/>
            <a:ext cx="467852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Train on real Soil Health Card + yield data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Live IMD weather and Agmarknet prices, cached offline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More Indian languages and voice input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Pest and disease alerts from weather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Android PWA and SMS/IVR for feature phones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anks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Thank you</a:t>
            </a:r>
            <a:endParaRPr lang="en-US" sz="6000" dirty="0"/>
          </a:p>
        </p:txBody>
      </p:sp>
      <p:sp>
        <p:nvSpPr>
          <p:cNvPr id="3" name="Thanks tagline"/>
          <p:cNvSpPr txBox="1"/>
          <p:nvPr/>
        </p:nvSpPr>
        <p:spPr>
          <a:xfrm>
            <a:off x="548640" y="26517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KrishiMitra · A smart farming advisor in the farmer's own language</a:t>
            </a:r>
            <a:endParaRPr lang="en-US" sz="2000" dirty="0"/>
          </a:p>
        </p:txBody>
      </p:sp>
      <p:sp>
        <p:nvSpPr>
          <p:cNvPr id="4" name="Links"/>
          <p:cNvSpPr txBox="1"/>
          <p:nvPr/>
        </p:nvSpPr>
        <p:spPr>
          <a:xfrm>
            <a:off x="548640" y="39319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6"/>
                </a:solidFill>
              </a:rPr>
              <a:t>Code 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https://github.com/jayeskumar/a/tree/claude/confident-fermi-dpeh2g/projects/05-krishimitra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6"/>
                </a:solidFill>
              </a:rPr>
              <a:t>Run 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projects/05-krishimitra &amp;&amp; python app.py</a:t>
            </a:r>
            <a:endParaRPr lang="en-US" sz="1500" dirty="0"/>
          </a:p>
        </p:txBody>
      </p:sp>
      <p:sp>
        <p:nvSpPr>
          <p:cNvPr id="5" name="Questions"/>
          <p:cNvSpPr txBox="1"/>
          <p:nvPr/>
        </p:nvSpPr>
        <p:spPr>
          <a:xfrm>
            <a:off x="548640" y="53035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6"/>
                </a:solidFill>
              </a:rPr>
              <a:t>Questions?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rishiMitra QUANTIX">
  <a:themeElements>
    <a:clrScheme name="KrishiMitra QUANTIX">
      <a:dk1>
        <a:srgbClr val="141B34"/>
      </a:dk1>
      <a:lt1>
        <a:srgbClr val="FFFFFF"/>
      </a:lt1>
      <a:dk2>
        <a:srgbClr val="0B1026"/>
      </a:dk2>
      <a:lt2>
        <a:srgbClr val="F3F4F8"/>
      </a:lt2>
      <a:accent1>
        <a:srgbClr val="D97706"/>
      </a:accent1>
      <a:accent2>
        <a:srgbClr val="FAEFE1"/>
      </a:accent2>
      <a:accent3>
        <a:srgbClr val="8D4D04"/>
      </a:accent3>
      <a:accent4>
        <a:srgbClr val="5B6478"/>
      </a:accent4>
      <a:accent5>
        <a:srgbClr val="38271F"/>
      </a:accent5>
      <a:accent6>
        <a:srgbClr val="EAB476"/>
      </a:accent6>
      <a:hlink>
        <a:srgbClr val="AE5F05"/>
      </a:hlink>
      <a:folHlink>
        <a:srgbClr val="5B6478"/>
      </a:folHlink>
    </a:clrScheme>
    <a:fontScheme name="KrishiMitra QUANTIX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KrishiMitra – A smart farming advisor in the farmer's own language</dc:title>
  <dc:subject>QUANTIX 2K26 · Smart Agriculture &amp; Rural Development (AgriTech)</dc:subject>
  <dc:creator>Your Team Name</dc:creator>
  <cp:lastModifiedBy>Your Team Name</cp:lastModifiedBy>
  <cp:revision>1</cp:revision>
  <dcterms:created xsi:type="dcterms:W3CDTF">2026-10-20T06:29:47Z</dcterms:created>
  <dcterms:modified xsi:type="dcterms:W3CDTF">2026-10-20T06:29:47Z</dcterms:modified>
</cp:coreProperties>
</file>